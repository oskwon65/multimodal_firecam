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5"/>
  </p:notesMasterIdLst>
  <p:handoutMasterIdLst>
    <p:handoutMasterId r:id="rId36"/>
  </p:handoutMasterIdLst>
  <p:sldIdLst>
    <p:sldId id="495" r:id="rId2"/>
    <p:sldId id="477" r:id="rId3"/>
    <p:sldId id="466" r:id="rId4"/>
    <p:sldId id="468" r:id="rId5"/>
    <p:sldId id="481" r:id="rId6"/>
    <p:sldId id="482" r:id="rId7"/>
    <p:sldId id="472" r:id="rId8"/>
    <p:sldId id="500" r:id="rId9"/>
    <p:sldId id="501" r:id="rId10"/>
    <p:sldId id="497" r:id="rId11"/>
    <p:sldId id="496" r:id="rId12"/>
    <p:sldId id="502" r:id="rId13"/>
    <p:sldId id="483" r:id="rId14"/>
    <p:sldId id="493" r:id="rId15"/>
    <p:sldId id="503" r:id="rId16"/>
    <p:sldId id="484" r:id="rId17"/>
    <p:sldId id="488" r:id="rId18"/>
    <p:sldId id="486" r:id="rId19"/>
    <p:sldId id="504" r:id="rId20"/>
    <p:sldId id="457" r:id="rId21"/>
    <p:sldId id="478" r:id="rId22"/>
    <p:sldId id="476" r:id="rId23"/>
    <p:sldId id="499" r:id="rId24"/>
    <p:sldId id="459" r:id="rId25"/>
    <p:sldId id="492" r:id="rId26"/>
    <p:sldId id="498" r:id="rId27"/>
    <p:sldId id="505" r:id="rId28"/>
    <p:sldId id="489" r:id="rId29"/>
    <p:sldId id="487" r:id="rId30"/>
    <p:sldId id="490" r:id="rId31"/>
    <p:sldId id="491" r:id="rId32"/>
    <p:sldId id="494" r:id="rId33"/>
    <p:sldId id="462" r:id="rId34"/>
  </p:sldIdLst>
  <p:sldSz cx="9144000" cy="6858000" type="screen4x3"/>
  <p:notesSz cx="10020300" cy="68881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ngchu" initials="s" lastIdx="1" clrIdx="0">
    <p:extLst>
      <p:ext uri="{19B8F6BF-5375-455C-9EA6-DF929625EA0E}">
        <p15:presenceInfo xmlns:p15="http://schemas.microsoft.com/office/powerpoint/2012/main" userId="61963c449a6ff10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DC3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49" autoAdjust="0"/>
    <p:restoredTop sz="96383" autoAdjust="0"/>
  </p:normalViewPr>
  <p:slideViewPr>
    <p:cSldViewPr snapToGrid="0">
      <p:cViewPr varScale="1">
        <p:scale>
          <a:sx n="109" d="100"/>
          <a:sy n="109" d="100"/>
        </p:scale>
        <p:origin x="1638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0239D6B9-3464-4378-CE59-FD0EE005A11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42130" cy="346003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53D6EFE-8FE7-29AB-96BC-16BEABC63C5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76431" y="0"/>
            <a:ext cx="4342130" cy="346003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A23F5E4B-9D64-4BB5-B5B6-D56BEDCA4F40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E559718-7EA9-43AB-48D2-9D4B89A2170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42161"/>
            <a:ext cx="4342130" cy="346002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A3DF797-1292-9048-92C0-9FBD562228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76431" y="6542161"/>
            <a:ext cx="4342130" cy="346002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989F00DF-325A-4972-89FD-05683B90B4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678435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42130" cy="345604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75851" y="1"/>
            <a:ext cx="4342130" cy="345604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D6B0E6C0-69AF-4D4B-9B44-64F8C4F3C347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459163" y="860425"/>
            <a:ext cx="3101975" cy="23256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002030" y="3314928"/>
            <a:ext cx="8016240" cy="2712215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42560"/>
            <a:ext cx="4342130" cy="345603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75851" y="6542560"/>
            <a:ext cx="4342130" cy="345603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0D2CBDF1-9B33-4E46-9445-F4CA95120B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254371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45966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3191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A97695C0-0D14-4D12-9E71-03E1A009AC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874" b="7613"/>
          <a:stretch/>
        </p:blipFill>
        <p:spPr>
          <a:xfrm flipH="1">
            <a:off x="-1" y="3231790"/>
            <a:ext cx="3764623" cy="362620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7C3F448-25FC-4BC8-8BF9-F1D48D9BB1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08" r="51760" b="4008"/>
          <a:stretch/>
        </p:blipFill>
        <p:spPr>
          <a:xfrm>
            <a:off x="3764622" y="-1"/>
            <a:ext cx="5379375" cy="6858000"/>
          </a:xfrm>
          <a:prstGeom prst="rect">
            <a:avLst/>
          </a:prstGeom>
        </p:spPr>
      </p:pic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5FC00D2A-52B5-4D82-804B-802739F72F2C}"/>
              </a:ext>
            </a:extLst>
          </p:cNvPr>
          <p:cNvSpPr/>
          <p:nvPr userDrawn="1"/>
        </p:nvSpPr>
        <p:spPr>
          <a:xfrm>
            <a:off x="-2" y="-1"/>
            <a:ext cx="9144000" cy="6858000"/>
          </a:xfrm>
          <a:custGeom>
            <a:avLst/>
            <a:gdLst>
              <a:gd name="connsiteX0" fmla="*/ 3520145 w 9144000"/>
              <a:gd name="connsiteY0" fmla="*/ 6550340 h 6858000"/>
              <a:gd name="connsiteX1" fmla="*/ 4538065 w 9144000"/>
              <a:gd name="connsiteY1" fmla="*/ 6857999 h 6858000"/>
              <a:gd name="connsiteX2" fmla="*/ 7503887 w 9144000"/>
              <a:gd name="connsiteY2" fmla="*/ 6857999 h 6858000"/>
              <a:gd name="connsiteX3" fmla="*/ 7503887 w 9144000"/>
              <a:gd name="connsiteY3" fmla="*/ 6858000 h 6858000"/>
              <a:gd name="connsiteX4" fmla="*/ 1 w 9144000"/>
              <a:gd name="connsiteY4" fmla="*/ 6858000 h 6858000"/>
              <a:gd name="connsiteX5" fmla="*/ 1 w 9144000"/>
              <a:gd name="connsiteY5" fmla="*/ 6857999 h 6858000"/>
              <a:gd name="connsiteX6" fmla="*/ 2965821 w 9144000"/>
              <a:gd name="connsiteY6" fmla="*/ 6857999 h 6858000"/>
              <a:gd name="connsiteX7" fmla="*/ 0 w 9144000"/>
              <a:gd name="connsiteY7" fmla="*/ 5486400 h 6858000"/>
              <a:gd name="connsiteX8" fmla="*/ 1 w 9144000"/>
              <a:gd name="connsiteY8" fmla="*/ 5486401 h 6858000"/>
              <a:gd name="connsiteX9" fmla="*/ 1 w 9144000"/>
              <a:gd name="connsiteY9" fmla="*/ 6857999 h 6858000"/>
              <a:gd name="connsiteX10" fmla="*/ 0 w 9144000"/>
              <a:gd name="connsiteY10" fmla="*/ 6857999 h 6858000"/>
              <a:gd name="connsiteX11" fmla="*/ 9144000 w 9144000"/>
              <a:gd name="connsiteY11" fmla="*/ 3429000 h 6858000"/>
              <a:gd name="connsiteX12" fmla="*/ 9144000 w 9144000"/>
              <a:gd name="connsiteY12" fmla="*/ 6857999 h 6858000"/>
              <a:gd name="connsiteX13" fmla="*/ 7503887 w 9144000"/>
              <a:gd name="connsiteY13" fmla="*/ 6857999 h 6858000"/>
              <a:gd name="connsiteX14" fmla="*/ 7503887 w 9144000"/>
              <a:gd name="connsiteY14" fmla="*/ 4339292 h 6858000"/>
              <a:gd name="connsiteX15" fmla="*/ 1 w 9144000"/>
              <a:gd name="connsiteY15" fmla="*/ 0 h 6858000"/>
              <a:gd name="connsiteX16" fmla="*/ 7503887 w 9144000"/>
              <a:gd name="connsiteY16" fmla="*/ 0 h 6858000"/>
              <a:gd name="connsiteX17" fmla="*/ 7503887 w 9144000"/>
              <a:gd name="connsiteY17" fmla="*/ 4339292 h 6858000"/>
              <a:gd name="connsiteX18" fmla="*/ 3520145 w 9144000"/>
              <a:gd name="connsiteY18" fmla="*/ 6550340 h 6858000"/>
              <a:gd name="connsiteX19" fmla="*/ 1 w 9144000"/>
              <a:gd name="connsiteY19" fmla="*/ 548640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144000" h="6858000">
                <a:moveTo>
                  <a:pt x="3520145" y="6550340"/>
                </a:moveTo>
                <a:lnTo>
                  <a:pt x="4538065" y="6857999"/>
                </a:lnTo>
                <a:lnTo>
                  <a:pt x="7503887" y="6857999"/>
                </a:lnTo>
                <a:lnTo>
                  <a:pt x="7503887" y="6858000"/>
                </a:lnTo>
                <a:lnTo>
                  <a:pt x="1" y="6858000"/>
                </a:lnTo>
                <a:lnTo>
                  <a:pt x="1" y="6857999"/>
                </a:lnTo>
                <a:lnTo>
                  <a:pt x="2965821" y="6857999"/>
                </a:lnTo>
                <a:close/>
                <a:moveTo>
                  <a:pt x="0" y="5486400"/>
                </a:moveTo>
                <a:lnTo>
                  <a:pt x="1" y="5486401"/>
                </a:lnTo>
                <a:lnTo>
                  <a:pt x="1" y="6857999"/>
                </a:lnTo>
                <a:lnTo>
                  <a:pt x="0" y="6857999"/>
                </a:lnTo>
                <a:close/>
                <a:moveTo>
                  <a:pt x="9144000" y="3429000"/>
                </a:moveTo>
                <a:lnTo>
                  <a:pt x="9144000" y="6857999"/>
                </a:lnTo>
                <a:lnTo>
                  <a:pt x="7503887" y="6857999"/>
                </a:lnTo>
                <a:lnTo>
                  <a:pt x="7503887" y="4339292"/>
                </a:lnTo>
                <a:close/>
                <a:moveTo>
                  <a:pt x="1" y="0"/>
                </a:moveTo>
                <a:lnTo>
                  <a:pt x="7503887" y="0"/>
                </a:lnTo>
                <a:lnTo>
                  <a:pt x="7503887" y="4339292"/>
                </a:lnTo>
                <a:lnTo>
                  <a:pt x="3520145" y="6550340"/>
                </a:lnTo>
                <a:lnTo>
                  <a:pt x="1" y="548640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6E3B1BDC-14BC-4311-9F5D-8048F9D6513B}"/>
              </a:ext>
            </a:extLst>
          </p:cNvPr>
          <p:cNvSpPr/>
          <p:nvPr userDrawn="1"/>
        </p:nvSpPr>
        <p:spPr>
          <a:xfrm>
            <a:off x="7500938" y="0"/>
            <a:ext cx="1643059" cy="4338072"/>
          </a:xfrm>
          <a:custGeom>
            <a:avLst/>
            <a:gdLst>
              <a:gd name="connsiteX0" fmla="*/ 0 w 1643059"/>
              <a:gd name="connsiteY0" fmla="*/ 0 h 4338072"/>
              <a:gd name="connsiteX1" fmla="*/ 1643059 w 1643059"/>
              <a:gd name="connsiteY1" fmla="*/ 0 h 4338072"/>
              <a:gd name="connsiteX2" fmla="*/ 1643059 w 1643059"/>
              <a:gd name="connsiteY2" fmla="*/ 3429002 h 4338072"/>
              <a:gd name="connsiteX3" fmla="*/ 0 w 1643059"/>
              <a:gd name="connsiteY3" fmla="*/ 4338072 h 4338072"/>
              <a:gd name="connsiteX4" fmla="*/ 0 w 1643059"/>
              <a:gd name="connsiteY4" fmla="*/ 0 h 4338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3059" h="4338072">
                <a:moveTo>
                  <a:pt x="0" y="0"/>
                </a:moveTo>
                <a:lnTo>
                  <a:pt x="1643059" y="0"/>
                </a:lnTo>
                <a:lnTo>
                  <a:pt x="1643059" y="3429002"/>
                </a:lnTo>
                <a:lnTo>
                  <a:pt x="0" y="433807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4873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3FDC9BD9-9688-4C02-A33F-9A6877245B48}"/>
              </a:ext>
            </a:extLst>
          </p:cNvPr>
          <p:cNvGrpSpPr/>
          <p:nvPr userDrawn="1"/>
        </p:nvGrpSpPr>
        <p:grpSpPr>
          <a:xfrm>
            <a:off x="8197459" y="894424"/>
            <a:ext cx="951415" cy="5963576"/>
            <a:chOff x="8598884" y="-431800"/>
            <a:chExt cx="951415" cy="7886701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4C5C47B-1B1F-4F40-9CAD-319762A959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642" r="11708"/>
            <a:stretch/>
          </p:blipFill>
          <p:spPr>
            <a:xfrm>
              <a:off x="8598884" y="-431799"/>
              <a:ext cx="951415" cy="7886700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2BB98CA-A1CE-41A6-BABE-AD005196D9FC}"/>
                </a:ext>
              </a:extLst>
            </p:cNvPr>
            <p:cNvSpPr/>
            <p:nvPr/>
          </p:nvSpPr>
          <p:spPr>
            <a:xfrm>
              <a:off x="9181597" y="-431800"/>
              <a:ext cx="57150" cy="78867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236185C-CA48-4F4C-B4F3-7BA58EE31F38}"/>
                </a:ext>
              </a:extLst>
            </p:cNvPr>
            <p:cNvSpPr/>
            <p:nvPr/>
          </p:nvSpPr>
          <p:spPr>
            <a:xfrm>
              <a:off x="8927195" y="-431800"/>
              <a:ext cx="57150" cy="78867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7967B44-B5D6-49F2-A250-6707EEAF03D8}"/>
                </a:ext>
              </a:extLst>
            </p:cNvPr>
            <p:cNvSpPr/>
            <p:nvPr/>
          </p:nvSpPr>
          <p:spPr>
            <a:xfrm>
              <a:off x="8789183" y="-431800"/>
              <a:ext cx="57150" cy="78867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AE65B67-794A-4E21-8402-2AAE3886FC7B}"/>
                </a:ext>
              </a:extLst>
            </p:cNvPr>
            <p:cNvSpPr/>
            <p:nvPr/>
          </p:nvSpPr>
          <p:spPr>
            <a:xfrm>
              <a:off x="8679746" y="-431800"/>
              <a:ext cx="57150" cy="78867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7E7FB86-CE35-43A5-AB8B-5A7170FABCD0}"/>
                </a:ext>
              </a:extLst>
            </p:cNvPr>
            <p:cNvSpPr/>
            <p:nvPr/>
          </p:nvSpPr>
          <p:spPr>
            <a:xfrm>
              <a:off x="8598884" y="-431800"/>
              <a:ext cx="48936" cy="78867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4BE50B3-3015-4B3E-B663-814E69C675AA}"/>
              </a:ext>
            </a:extLst>
          </p:cNvPr>
          <p:cNvSpPr/>
          <p:nvPr userDrawn="1"/>
        </p:nvSpPr>
        <p:spPr>
          <a:xfrm>
            <a:off x="8241520" y="896003"/>
            <a:ext cx="921530" cy="5961998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5F244E23-95AF-41D7-B366-149BEB9C0781}"/>
              </a:ext>
            </a:extLst>
          </p:cNvPr>
          <p:cNvGrpSpPr/>
          <p:nvPr userDrawn="1"/>
        </p:nvGrpSpPr>
        <p:grpSpPr>
          <a:xfrm>
            <a:off x="6530575" y="143995"/>
            <a:ext cx="2490717" cy="693444"/>
            <a:chOff x="1406369" y="2219537"/>
            <a:chExt cx="2490717" cy="693444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C46FED76-3A4E-4A74-ADCC-26B2F65A6704}"/>
                </a:ext>
              </a:extLst>
            </p:cNvPr>
            <p:cNvSpPr/>
            <p:nvPr/>
          </p:nvSpPr>
          <p:spPr>
            <a:xfrm>
              <a:off x="1454567" y="2219537"/>
              <a:ext cx="2442519" cy="592614"/>
            </a:xfrm>
            <a:prstGeom prst="rect">
              <a:avLst/>
            </a:prstGeom>
            <a:solidFill>
              <a:schemeClr val="bg1">
                <a:lumMod val="50000"/>
                <a:alpha val="4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자유형 17">
              <a:extLst>
                <a:ext uri="{FF2B5EF4-FFF2-40B4-BE49-F238E27FC236}">
                  <a16:creationId xmlns:a16="http://schemas.microsoft.com/office/drawing/2014/main" id="{09B0D4EC-569E-44B7-90DB-E9300618368D}"/>
                </a:ext>
              </a:extLst>
            </p:cNvPr>
            <p:cNvSpPr/>
            <p:nvPr/>
          </p:nvSpPr>
          <p:spPr>
            <a:xfrm rot="16200000">
              <a:off x="2633232" y="2501929"/>
              <a:ext cx="437831" cy="45719"/>
            </a:xfrm>
            <a:custGeom>
              <a:avLst/>
              <a:gdLst>
                <a:gd name="connsiteX0" fmla="*/ 0 w 2866768"/>
                <a:gd name="connsiteY0" fmla="*/ 0 h 189470"/>
                <a:gd name="connsiteX1" fmla="*/ 0 w 2866768"/>
                <a:gd name="connsiteY1" fmla="*/ 189470 h 189470"/>
                <a:gd name="connsiteX2" fmla="*/ 2866768 w 2866768"/>
                <a:gd name="connsiteY2" fmla="*/ 189470 h 189470"/>
                <a:gd name="connsiteX3" fmla="*/ 2866768 w 2866768"/>
                <a:gd name="connsiteY3" fmla="*/ 16475 h 189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6768" h="189470">
                  <a:moveTo>
                    <a:pt x="0" y="0"/>
                  </a:moveTo>
                  <a:lnTo>
                    <a:pt x="0" y="189470"/>
                  </a:lnTo>
                  <a:lnTo>
                    <a:pt x="2866768" y="189470"/>
                  </a:lnTo>
                  <a:lnTo>
                    <a:pt x="2866768" y="16475"/>
                  </a:lnTo>
                </a:path>
              </a:pathLst>
            </a:cu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E2E2720-5C93-4699-B07A-E5076ACBBA11}"/>
                </a:ext>
              </a:extLst>
            </p:cNvPr>
            <p:cNvSpPr txBox="1"/>
            <p:nvPr/>
          </p:nvSpPr>
          <p:spPr>
            <a:xfrm>
              <a:off x="1500430" y="2259404"/>
              <a:ext cx="2339635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50" b="1" spc="-1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</a:rPr>
                <a:t>산업공단 초고속 화재</a:t>
              </a:r>
              <a:br>
                <a:rPr lang="ko-KR" altLang="en-US" sz="1050" b="1" spc="-1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</a:rPr>
              </a:br>
              <a:r>
                <a:rPr lang="ko-KR" altLang="en-US" sz="1050" b="1" spc="-1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</a:rPr>
                <a:t>예측</a:t>
              </a:r>
              <a:r>
                <a:rPr lang="en-US" altLang="ko-KR" sz="1050" b="1" spc="-1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</a:rPr>
                <a:t>·</a:t>
              </a:r>
              <a:r>
                <a:rPr lang="ko-KR" altLang="en-US" sz="1050" b="1" spc="-1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</a:rPr>
                <a:t>제어</a:t>
              </a:r>
              <a:r>
                <a:rPr lang="en-US" altLang="ko-KR" sz="1050" b="1" spc="-1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</a:rPr>
                <a:t>·</a:t>
              </a:r>
              <a:r>
                <a:rPr lang="ko-KR" altLang="en-US" sz="1050" b="1" spc="-1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</a:rPr>
                <a:t>대응기술 개발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E166E8A2-B314-469F-BFD3-BA67709FBECD}"/>
                </a:ext>
              </a:extLst>
            </p:cNvPr>
            <p:cNvSpPr/>
            <p:nvPr/>
          </p:nvSpPr>
          <p:spPr>
            <a:xfrm>
              <a:off x="1406369" y="2219537"/>
              <a:ext cx="117827" cy="59261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589775F-6D57-462B-B200-2EF1ABA0534A}"/>
                </a:ext>
              </a:extLst>
            </p:cNvPr>
            <p:cNvSpPr txBox="1"/>
            <p:nvPr/>
          </p:nvSpPr>
          <p:spPr>
            <a:xfrm>
              <a:off x="1503649" y="2574427"/>
              <a:ext cx="13564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spc="-1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</a:rPr>
                <a:t>2024</a:t>
              </a:r>
              <a:r>
                <a:rPr lang="ko-KR" altLang="en-US" sz="800" spc="-1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</a:rPr>
                <a:t>년 제</a:t>
              </a:r>
              <a:r>
                <a:rPr lang="en-US" altLang="ko-KR" sz="800" spc="-1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r>
                <a:rPr lang="ko-KR" altLang="en-US" sz="800" spc="-1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</a:rPr>
                <a:t>차 공정회의 및 워크숍</a:t>
              </a:r>
            </a:p>
            <a:p>
              <a:endParaRPr lang="en-US" altLang="ko-KR" sz="8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pic>
          <p:nvPicPr>
            <p:cNvPr id="19" name="Picture 18" descr="https://www.kict.re.kr/main/img/common/logo.png">
              <a:extLst>
                <a:ext uri="{FF2B5EF4-FFF2-40B4-BE49-F238E27FC236}">
                  <a16:creationId xmlns:a16="http://schemas.microsoft.com/office/drawing/2014/main" id="{3805F64A-AE63-4CF3-AC09-9E90D12918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5760" y="2536138"/>
              <a:ext cx="824306" cy="1923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335472" y="6560598"/>
            <a:ext cx="810910" cy="231672"/>
          </a:xfrm>
          <a:solidFill>
            <a:schemeClr val="accent1">
              <a:lumMod val="60000"/>
              <a:lumOff val="40000"/>
              <a:alpha val="80000"/>
            </a:schemeClr>
          </a:solidFill>
        </p:spPr>
        <p:txBody>
          <a:bodyPr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F2C57867-4DD3-42C3-B33F-35CD9A0E77A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963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E39904AA-B516-4364-BE24-7E80C93A26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88" t="5195" r="4780" b="1549"/>
          <a:stretch/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DD8F0001-C39E-4D86-9A0B-241FF2E0F58D}"/>
              </a:ext>
            </a:extLst>
          </p:cNvPr>
          <p:cNvSpPr/>
          <p:nvPr userDrawn="1"/>
        </p:nvSpPr>
        <p:spPr>
          <a:xfrm>
            <a:off x="-2" y="0"/>
            <a:ext cx="9144002" cy="685800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E999072-92A2-4B7C-8356-B08A23E8E4A4}"/>
              </a:ext>
            </a:extLst>
          </p:cNvPr>
          <p:cNvSpPr/>
          <p:nvPr userDrawn="1"/>
        </p:nvSpPr>
        <p:spPr>
          <a:xfrm>
            <a:off x="1647824" y="0"/>
            <a:ext cx="584835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84DE0F2-411C-4DC1-A92C-D5F75BAC1AF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241457" y="101508"/>
            <a:ext cx="2130737" cy="61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868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D72A9D89-1DEE-497E-97FE-C047EE2AB0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88" t="5195" r="4780" b="1549"/>
          <a:stretch/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FE4A9655-9FBB-4A76-929B-FB1E3BAAC87E}"/>
              </a:ext>
            </a:extLst>
          </p:cNvPr>
          <p:cNvSpPr/>
          <p:nvPr userDrawn="1"/>
        </p:nvSpPr>
        <p:spPr>
          <a:xfrm rot="1625828">
            <a:off x="261675" y="283521"/>
            <a:ext cx="8620648" cy="6290957"/>
          </a:xfrm>
          <a:custGeom>
            <a:avLst/>
            <a:gdLst>
              <a:gd name="connsiteX0" fmla="*/ 0 w 8620648"/>
              <a:gd name="connsiteY0" fmla="*/ 1499121 h 6290957"/>
              <a:gd name="connsiteX1" fmla="*/ 2929901 w 8620648"/>
              <a:gd name="connsiteY1" fmla="*/ 0 h 6290957"/>
              <a:gd name="connsiteX2" fmla="*/ 7836619 w 8620648"/>
              <a:gd name="connsiteY2" fmla="*/ 0 h 6290957"/>
              <a:gd name="connsiteX3" fmla="*/ 8620648 w 8620648"/>
              <a:gd name="connsiteY3" fmla="*/ 1532315 h 6290957"/>
              <a:gd name="connsiteX4" fmla="*/ 8620648 w 8620648"/>
              <a:gd name="connsiteY4" fmla="*/ 4791836 h 6290957"/>
              <a:gd name="connsiteX5" fmla="*/ 5690747 w 8620648"/>
              <a:gd name="connsiteY5" fmla="*/ 6290957 h 6290957"/>
              <a:gd name="connsiteX6" fmla="*/ 784029 w 8620648"/>
              <a:gd name="connsiteY6" fmla="*/ 6290957 h 6290957"/>
              <a:gd name="connsiteX7" fmla="*/ 0 w 8620648"/>
              <a:gd name="connsiteY7" fmla="*/ 4758641 h 6290957"/>
              <a:gd name="connsiteX8" fmla="*/ 0 w 8620648"/>
              <a:gd name="connsiteY8" fmla="*/ 1499121 h 6290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620648" h="6290957">
                <a:moveTo>
                  <a:pt x="0" y="1499121"/>
                </a:moveTo>
                <a:lnTo>
                  <a:pt x="2929901" y="0"/>
                </a:lnTo>
                <a:lnTo>
                  <a:pt x="7836619" y="0"/>
                </a:lnTo>
                <a:lnTo>
                  <a:pt x="8620648" y="1532315"/>
                </a:lnTo>
                <a:lnTo>
                  <a:pt x="8620648" y="4791836"/>
                </a:lnTo>
                <a:lnTo>
                  <a:pt x="5690747" y="6290957"/>
                </a:lnTo>
                <a:lnTo>
                  <a:pt x="784029" y="6290957"/>
                </a:lnTo>
                <a:lnTo>
                  <a:pt x="0" y="4758641"/>
                </a:lnTo>
                <a:lnTo>
                  <a:pt x="0" y="1499121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4111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57867-4DD3-42C3-B33F-35CD9A0E77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3187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911D184F-1C02-4E61-B791-EFAC1B8A66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3999" cy="6858000"/>
          </a:xfrm>
          <a:prstGeom prst="rect">
            <a:avLst/>
          </a:prstGeom>
        </p:spPr>
      </p:pic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87B9F998-DCCB-452C-809F-1A03A59F0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1402" y="6482994"/>
            <a:ext cx="1247882" cy="255677"/>
          </a:xfrm>
        </p:spPr>
        <p:txBody>
          <a:bodyPr/>
          <a:lstStyle>
            <a:lvl1pPr algn="l"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ko-KR" dirty="0"/>
              <a:t>2023</a:t>
            </a:r>
            <a:r>
              <a:rPr lang="ko-KR" altLang="en-US" dirty="0"/>
              <a:t>년 주요사업 착수단계평가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47DD8A4C-9FBA-4219-8786-0E30EAC5D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93694" y="6482993"/>
            <a:ext cx="668904" cy="255677"/>
          </a:xfrm>
        </p:spPr>
        <p:txBody>
          <a:bodyPr/>
          <a:lstStyle>
            <a:lvl1pPr>
              <a:defRPr sz="67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ko-KR"/>
              <a:t>Page </a:t>
            </a:r>
            <a:fld id="{F03C90E3-98FA-4A46-95E3-0DCDD3916F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5247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C57867-4DD3-42C3-B33F-35CD9A0E77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2408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  <p:sldLayoutId id="2147483672" r:id="rId3"/>
    <p:sldLayoutId id="2147483663" r:id="rId4"/>
    <p:sldLayoutId id="2147483662" r:id="rId5"/>
    <p:sldLayoutId id="2147483673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7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://sangchoo.com/kict_samsung" TargetMode="Externa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DA9E6CA-8E6F-4969-9AF2-E1F031194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Page </a:t>
            </a:r>
            <a:fld id="{F03C90E3-98FA-4A46-95E3-0DCDD3916F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FF4293-FDBD-41B5-9C16-B9E3563683A0}"/>
              </a:ext>
            </a:extLst>
          </p:cNvPr>
          <p:cNvSpPr txBox="1"/>
          <p:nvPr/>
        </p:nvSpPr>
        <p:spPr>
          <a:xfrm>
            <a:off x="2443838" y="3670928"/>
            <a:ext cx="40671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MMCam</a:t>
            </a:r>
            <a:r>
              <a:rPr lang="ko-KR" altLang="en-US" sz="28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화재 감지 시스템</a:t>
            </a:r>
            <a:endParaRPr lang="en-US" altLang="ko-KR" sz="2800" b="1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8764A0-6D05-44B3-B2F4-196E54823F00}"/>
              </a:ext>
            </a:extLst>
          </p:cNvPr>
          <p:cNvSpPr txBox="1"/>
          <p:nvPr/>
        </p:nvSpPr>
        <p:spPr>
          <a:xfrm>
            <a:off x="791616" y="6200013"/>
            <a:ext cx="24016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b="1">
                <a:solidFill>
                  <a:schemeClr val="accent6">
                    <a:lumMod val="7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MMCam</a:t>
            </a:r>
            <a:r>
              <a:rPr lang="ko-KR" altLang="en-US" sz="1600" b="1">
                <a:solidFill>
                  <a:schemeClr val="accent6">
                    <a:lumMod val="7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화재 감지 시스템</a:t>
            </a:r>
            <a:endParaRPr lang="en-US" altLang="ko-KR" sz="1600" b="1">
              <a:solidFill>
                <a:schemeClr val="accent6">
                  <a:lumMod val="75000"/>
                </a:schemeClr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3ACFCAF-AE7D-44B3-B18C-CD4E6ADD68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290" y="2092371"/>
            <a:ext cx="2085418" cy="15785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264697-67D0-4D54-B103-566100731247}"/>
              </a:ext>
            </a:extLst>
          </p:cNvPr>
          <p:cNvSpPr txBox="1"/>
          <p:nvPr/>
        </p:nvSpPr>
        <p:spPr>
          <a:xfrm>
            <a:off x="3784386" y="4335306"/>
            <a:ext cx="12298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b="1">
                <a:solidFill>
                  <a:schemeClr val="accent6">
                    <a:lumMod val="7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2026.06.01</a:t>
            </a:r>
          </a:p>
        </p:txBody>
      </p:sp>
    </p:spTree>
    <p:extLst>
      <p:ext uri="{BB962C8B-B14F-4D97-AF65-F5344CB8AC3E}">
        <p14:creationId xmlns:p14="http://schemas.microsoft.com/office/powerpoint/2010/main" val="2919882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DA9E6CA-8E6F-4969-9AF2-E1F031194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Page </a:t>
            </a:r>
            <a:fld id="{F03C90E3-98FA-4A46-95E3-0DCDD3916FEC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7F09A1-2E19-4AC0-AAF4-3808C37F441A}"/>
              </a:ext>
            </a:extLst>
          </p:cNvPr>
          <p:cNvSpPr txBox="1"/>
          <p:nvPr/>
        </p:nvSpPr>
        <p:spPr>
          <a:xfrm>
            <a:off x="1069058" y="2098147"/>
            <a:ext cx="741055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MMCam</a:t>
            </a: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감지 카메라는 고열의 생산장비를 포함하는 공장에서 장비의 정상가동</a:t>
            </a:r>
            <a:r>
              <a:rPr lang="en-US" altLang="ko-KR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화재발생</a:t>
            </a:r>
            <a:r>
              <a:rPr lang="en-US" altLang="ko-KR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작업자의 안전 등을 실시간 감시하는 장치</a:t>
            </a:r>
            <a:endParaRPr lang="en-US" altLang="ko-KR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endParaRPr lang="en-US" altLang="ko-KR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주요 기능</a:t>
            </a:r>
            <a:endParaRPr lang="en-US" altLang="ko-KR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생산 설비 정상 가동 여부 실시간 감지</a:t>
            </a:r>
            <a:endParaRPr lang="en-US" altLang="ko-KR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화재 발생 징후 예측 및 감지 </a:t>
            </a:r>
            <a:r>
              <a:rPr lang="en-US" altLang="ko-KR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이상 고열</a:t>
            </a:r>
            <a:r>
              <a:rPr lang="en-US" altLang="ko-KR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연기</a:t>
            </a:r>
            <a:r>
              <a:rPr lang="ko-KR" altLang="en-US" b="1">
                <a:latin typeface="KoPubWorld바탕체_Pro Bold" panose="00000800000000000000" pitchFamily="50" charset="-127"/>
                <a:ea typeface="KoPubWorld바탕체_Pro Bold" panose="00000800000000000000" pitchFamily="50" charset="-127"/>
                <a:cs typeface="KoPubWorld바탕체_Pro Bold" panose="00000800000000000000" pitchFamily="50" charset="-127"/>
              </a:rPr>
              <a:t>〮</a:t>
            </a: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화염</a:t>
            </a:r>
            <a:r>
              <a:rPr lang="en-US" altLang="ko-KR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등 </a:t>
            </a:r>
            <a:endParaRPr lang="en-US" altLang="ko-KR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작업장 내 작업자 넘어짐 등  안전 사고 발생 및 출입 감지</a:t>
            </a:r>
            <a:endParaRPr lang="en-US" altLang="ko-KR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8764A0-6D05-44B3-B2F4-196E54823F00}"/>
              </a:ext>
            </a:extLst>
          </p:cNvPr>
          <p:cNvSpPr txBox="1"/>
          <p:nvPr/>
        </p:nvSpPr>
        <p:spPr>
          <a:xfrm>
            <a:off x="935086" y="6200013"/>
            <a:ext cx="21146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b="1">
                <a:solidFill>
                  <a:schemeClr val="accent6">
                    <a:lumMod val="7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MMC</a:t>
            </a:r>
            <a:r>
              <a:rPr lang="ko-KR" altLang="en-US" sz="1600" b="1">
                <a:solidFill>
                  <a:schemeClr val="accent6">
                    <a:lumMod val="7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화재 감지 시스템</a:t>
            </a:r>
            <a:endParaRPr lang="en-US" altLang="ko-KR" sz="1600" b="1">
              <a:solidFill>
                <a:schemeClr val="accent6">
                  <a:lumMod val="75000"/>
                </a:schemeClr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3ABD8A-8942-4A55-AB7A-4FE4B36FEABA}"/>
              </a:ext>
            </a:extLst>
          </p:cNvPr>
          <p:cNvSpPr txBox="1"/>
          <p:nvPr/>
        </p:nvSpPr>
        <p:spPr>
          <a:xfrm>
            <a:off x="3914427" y="657987"/>
            <a:ext cx="15456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제품 개요</a:t>
            </a:r>
            <a:endParaRPr lang="en-US" altLang="ko-KR" sz="2800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2319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DA9E6CA-8E6F-4969-9AF2-E1F031194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Page </a:t>
            </a:r>
            <a:fld id="{F03C90E3-98FA-4A46-95E3-0DCDD3916FEC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B533CC-91E9-4564-B9BB-D29190A9BF83}"/>
              </a:ext>
            </a:extLst>
          </p:cNvPr>
          <p:cNvSpPr txBox="1"/>
          <p:nvPr/>
        </p:nvSpPr>
        <p:spPr>
          <a:xfrm>
            <a:off x="722848" y="1623874"/>
            <a:ext cx="81884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멀티 모달 감지 </a:t>
            </a:r>
            <a:r>
              <a:rPr lang="en-US" altLang="ko-KR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</a:t>
            </a: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열화상 </a:t>
            </a:r>
            <a:r>
              <a:rPr lang="en-US" altLang="ko-KR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+ RGB + </a:t>
            </a: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분진</a:t>
            </a:r>
            <a:r>
              <a:rPr lang="ko-KR" altLang="en-US" b="1">
                <a:latin typeface="KoPubWorld바탕체_Pro Bold" panose="00000800000000000000" pitchFamily="50" charset="-127"/>
                <a:ea typeface="KoPubWorld바탕체_Pro Bold" panose="00000800000000000000" pitchFamily="50" charset="-127"/>
                <a:cs typeface="KoPubWorld바탕체_Pro Bold" panose="00000800000000000000" pitchFamily="50" charset="-127"/>
              </a:rPr>
              <a:t>〮</a:t>
            </a: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가스</a:t>
            </a:r>
            <a:r>
              <a:rPr lang="ko-KR" altLang="en-US" b="1">
                <a:latin typeface="KoPubWorld바탕체_Pro Bold" panose="00000800000000000000" pitchFamily="50" charset="-127"/>
                <a:ea typeface="KoPubWorld바탕체_Pro Bold" panose="00000800000000000000" pitchFamily="50" charset="-127"/>
                <a:cs typeface="KoPubWorld바탕체_Pro Bold" panose="00000800000000000000" pitchFamily="50" charset="-127"/>
              </a:rPr>
              <a:t>〮</a:t>
            </a: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온습</a:t>
            </a:r>
            <a:r>
              <a:rPr lang="en-US" altLang="ko-KR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</a:t>
            </a: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열화상 </a:t>
            </a:r>
            <a:r>
              <a:rPr lang="en-US" altLang="ko-KR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생산설비 정상 가동 감시 </a:t>
            </a:r>
            <a:endParaRPr lang="en-US" altLang="ko-KR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en-US" altLang="ko-KR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RGB : </a:t>
            </a: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작업자 안전 사고 감시</a:t>
            </a:r>
            <a:r>
              <a:rPr lang="en-US" altLang="ko-KR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화재</a:t>
            </a:r>
            <a:r>
              <a:rPr lang="en-US" altLang="ko-KR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</a:t>
            </a: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연기</a:t>
            </a:r>
            <a:r>
              <a:rPr lang="en-US" altLang="ko-KR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 </a:t>
            </a: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감지</a:t>
            </a:r>
            <a:endParaRPr lang="en-US" altLang="ko-KR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분진</a:t>
            </a:r>
            <a:r>
              <a:rPr lang="en-US" altLang="ko-KR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</a:t>
            </a: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가스</a:t>
            </a:r>
            <a:r>
              <a:rPr lang="en-US" altLang="ko-KR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</a:t>
            </a: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온습 </a:t>
            </a:r>
            <a:r>
              <a:rPr lang="en-US" altLang="ko-KR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화재 위험도 측정</a:t>
            </a:r>
            <a:endParaRPr lang="en-US" altLang="ko-KR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800100" lvl="1" indent="-342900">
              <a:buFont typeface="+mj-ea"/>
              <a:buAutoNum type="circleNumDbPlain"/>
            </a:pPr>
            <a:endParaRPr lang="en-US" altLang="ko-KR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lvl="1"/>
            <a:endParaRPr lang="en-US" altLang="ko-KR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AI </a:t>
            </a: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딥러닝 분석 방식</a:t>
            </a:r>
            <a:endParaRPr lang="en-US" altLang="ko-KR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생산 설비 정상 작동 감시  </a:t>
            </a:r>
            <a:r>
              <a:rPr lang="en-US" altLang="ko-KR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AutoEncoder </a:t>
            </a: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기반 정량화 기술 사용</a:t>
            </a:r>
            <a:endParaRPr lang="en-US" altLang="ko-KR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작업자 안전 사고 감시 </a:t>
            </a:r>
            <a:r>
              <a:rPr lang="en-US" altLang="ko-KR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넘어짐 등 검출 </a:t>
            </a:r>
            <a:r>
              <a:rPr lang="en-US" altLang="ko-KR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openpifpaf </a:t>
            </a: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기반 </a:t>
            </a:r>
            <a:r>
              <a:rPr lang="en-US" altLang="ko-KR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2D </a:t>
            </a: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포즈 및 관절 분석</a:t>
            </a:r>
            <a:endParaRPr lang="en-US" altLang="ko-KR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화재 및 연기 검출 </a:t>
            </a:r>
            <a:r>
              <a:rPr lang="en-US" altLang="ko-KR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YOLO </a:t>
            </a: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기반 객체 검출  </a:t>
            </a:r>
            <a:endParaRPr lang="en-US" altLang="ko-KR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네트워크 통신 기술 </a:t>
            </a:r>
            <a:r>
              <a:rPr lang="en-US" altLang="ko-KR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단말기 구성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27776A-C3D8-4DD6-A776-3282D1D6355B}"/>
              </a:ext>
            </a:extLst>
          </p:cNvPr>
          <p:cNvSpPr txBox="1"/>
          <p:nvPr/>
        </p:nvSpPr>
        <p:spPr>
          <a:xfrm>
            <a:off x="3548141" y="657987"/>
            <a:ext cx="22781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주요 적용 기술</a:t>
            </a:r>
            <a:endParaRPr lang="en-US" altLang="ko-KR" sz="2800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1A269C-B952-428F-8482-8400DDCB675B}"/>
              </a:ext>
            </a:extLst>
          </p:cNvPr>
          <p:cNvSpPr txBox="1"/>
          <p:nvPr/>
        </p:nvSpPr>
        <p:spPr>
          <a:xfrm>
            <a:off x="935086" y="6200013"/>
            <a:ext cx="21146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b="1">
                <a:solidFill>
                  <a:schemeClr val="accent6">
                    <a:lumMod val="7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MMC</a:t>
            </a:r>
            <a:r>
              <a:rPr lang="ko-KR" altLang="en-US" sz="1600" b="1">
                <a:solidFill>
                  <a:schemeClr val="accent6">
                    <a:lumMod val="7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화재 감지 시스템</a:t>
            </a:r>
            <a:endParaRPr lang="en-US" altLang="ko-KR" sz="1600" b="1">
              <a:solidFill>
                <a:schemeClr val="accent6">
                  <a:lumMod val="75000"/>
                </a:schemeClr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2380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DA9E6CA-8E6F-4969-9AF2-E1F031194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Page </a:t>
            </a:r>
            <a:fld id="{F03C90E3-98FA-4A46-95E3-0DCDD3916FEC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B533CC-91E9-4564-B9BB-D29190A9BF83}"/>
              </a:ext>
            </a:extLst>
          </p:cNvPr>
          <p:cNvSpPr txBox="1"/>
          <p:nvPr/>
        </p:nvSpPr>
        <p:spPr>
          <a:xfrm>
            <a:off x="896642" y="1513098"/>
            <a:ext cx="70837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altLang="ko-KR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열화상 센서 ⇒ </a:t>
            </a:r>
            <a:r>
              <a:rPr lang="en-US" altLang="ko-KR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2D </a:t>
            </a: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열 분포 이미지 생성 </a:t>
            </a:r>
            <a:r>
              <a:rPr lang="en-US" altLang="ko-KR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(120❌160)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AutoEncoder </a:t>
            </a: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모델</a:t>
            </a:r>
            <a:r>
              <a:rPr lang="en-US" altLang="ko-KR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</a:t>
            </a: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자기지도학습</a:t>
            </a:r>
            <a:r>
              <a:rPr lang="en-US" altLang="ko-KR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</a:t>
            </a: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압축복원방식</a:t>
            </a:r>
            <a:r>
              <a:rPr lang="en-US" altLang="ko-KR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</a:t>
            </a: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endParaRPr lang="en-US" altLang="ko-KR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생산설비 열 분포 이미지를 </a:t>
            </a:r>
            <a:r>
              <a:rPr lang="en-US" altLang="ko-KR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(8❌8) </a:t>
            </a: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영역으로 구분함</a:t>
            </a:r>
            <a:endParaRPr lang="en-US" altLang="ko-KR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27776A-C3D8-4DD6-A776-3282D1D6355B}"/>
              </a:ext>
            </a:extLst>
          </p:cNvPr>
          <p:cNvSpPr txBox="1"/>
          <p:nvPr/>
        </p:nvSpPr>
        <p:spPr>
          <a:xfrm>
            <a:off x="2601566" y="812283"/>
            <a:ext cx="41713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① </a:t>
            </a:r>
            <a:r>
              <a:rPr lang="ko-KR" altLang="en-US" sz="28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생산 설비 정상 작동 감시</a:t>
            </a:r>
            <a:endParaRPr lang="en-US" altLang="ko-KR" sz="2800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C7A408A-58D6-4303-8D6C-A71C4E7E9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419" y="2891022"/>
            <a:ext cx="3384410" cy="268450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2120839-C4A4-4F64-ABA9-2B2655C5B07A}"/>
              </a:ext>
            </a:extLst>
          </p:cNvPr>
          <p:cNvSpPr txBox="1"/>
          <p:nvPr/>
        </p:nvSpPr>
        <p:spPr>
          <a:xfrm>
            <a:off x="4979985" y="2958978"/>
            <a:ext cx="3442944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설비 가동 상태에 따라 변하는 </a:t>
            </a:r>
            <a:r>
              <a:rPr lang="en-US" altLang="ko-KR" sz="16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(8❌8) </a:t>
            </a:r>
            <a:r>
              <a:rPr lang="ko-KR" altLang="en-US" sz="16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격자값  상관 관계 분석</a:t>
            </a:r>
            <a:endParaRPr lang="en-US" altLang="ko-KR" sz="1600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2C8E9D15-6EDC-4A4E-B1EC-59875C409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123" y="3543753"/>
            <a:ext cx="3377555" cy="27259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DDFC82D-A232-408F-BA2E-A2DF527DC3A5}"/>
              </a:ext>
            </a:extLst>
          </p:cNvPr>
          <p:cNvSpPr txBox="1"/>
          <p:nvPr/>
        </p:nvSpPr>
        <p:spPr>
          <a:xfrm>
            <a:off x="935086" y="6200013"/>
            <a:ext cx="21146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b="1">
                <a:solidFill>
                  <a:schemeClr val="accent6">
                    <a:lumMod val="7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MMC</a:t>
            </a:r>
            <a:r>
              <a:rPr lang="ko-KR" altLang="en-US" sz="1600" b="1">
                <a:solidFill>
                  <a:schemeClr val="accent6">
                    <a:lumMod val="7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화재 감지 시스템</a:t>
            </a:r>
            <a:endParaRPr lang="en-US" altLang="ko-KR" sz="1600" b="1">
              <a:solidFill>
                <a:schemeClr val="accent6">
                  <a:lumMod val="75000"/>
                </a:schemeClr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608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DA9E6CA-8E6F-4969-9AF2-E1F031194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Page </a:t>
            </a:r>
            <a:fld id="{F03C90E3-98FA-4A46-95E3-0DCDD3916FEC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27776A-C3D8-4DD6-A776-3282D1D6355B}"/>
              </a:ext>
            </a:extLst>
          </p:cNvPr>
          <p:cNvSpPr txBox="1"/>
          <p:nvPr/>
        </p:nvSpPr>
        <p:spPr>
          <a:xfrm>
            <a:off x="2758660" y="812283"/>
            <a:ext cx="3857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② </a:t>
            </a:r>
            <a:r>
              <a:rPr lang="ko-KR" altLang="en-US" sz="28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작업자 안전 사고 감시 </a:t>
            </a:r>
            <a:endParaRPr lang="en-US" altLang="ko-KR" sz="2800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82D3AAD-DBC3-451B-8DA8-C0173B71F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771" y="3267657"/>
            <a:ext cx="1585577" cy="204170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D0B3E9F-6E14-4F22-9071-4680C080E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073" y="3267657"/>
            <a:ext cx="1585577" cy="2041702"/>
          </a:xfrm>
          <a:prstGeom prst="rect">
            <a:avLst/>
          </a:prstGeom>
        </p:spPr>
      </p:pic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5D0F13B0-D622-42E7-962D-1B0D4E3D0B41}"/>
              </a:ext>
            </a:extLst>
          </p:cNvPr>
          <p:cNvSpPr/>
          <p:nvPr/>
        </p:nvSpPr>
        <p:spPr>
          <a:xfrm>
            <a:off x="4955469" y="3980891"/>
            <a:ext cx="296333" cy="474133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0C5FB0A-9936-4D09-8090-B713ACBFED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2923" y="3258332"/>
            <a:ext cx="2084093" cy="205102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B62B19A-B188-4C03-B0E8-7E83242DC1E9}"/>
              </a:ext>
            </a:extLst>
          </p:cNvPr>
          <p:cNvSpPr txBox="1"/>
          <p:nvPr/>
        </p:nvSpPr>
        <p:spPr>
          <a:xfrm>
            <a:off x="6266816" y="5345822"/>
            <a:ext cx="6559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넘어짐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39F281-23C0-44A5-95B6-A27760C31B1F}"/>
              </a:ext>
            </a:extLst>
          </p:cNvPr>
          <p:cNvSpPr txBox="1"/>
          <p:nvPr/>
        </p:nvSpPr>
        <p:spPr>
          <a:xfrm>
            <a:off x="1730600" y="535992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입력영상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B187DD-5BAE-4A06-A298-A7F4999587AC}"/>
              </a:ext>
            </a:extLst>
          </p:cNvPr>
          <p:cNvSpPr txBox="1"/>
          <p:nvPr/>
        </p:nvSpPr>
        <p:spPr>
          <a:xfrm>
            <a:off x="3535037" y="5372592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분석영상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1B7569-A9CB-4FAB-8CA5-B693290D1FCD}"/>
              </a:ext>
            </a:extLst>
          </p:cNvPr>
          <p:cNvSpPr txBox="1"/>
          <p:nvPr/>
        </p:nvSpPr>
        <p:spPr>
          <a:xfrm>
            <a:off x="1145381" y="1285208"/>
            <a:ext cx="708370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altLang="ko-KR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CCTV </a:t>
            </a: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이미지 딥러닝 분석</a:t>
            </a:r>
            <a:endParaRPr lang="en-US" altLang="ko-KR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작업자 출입 및 안전 사고 발생 여부 감시</a:t>
            </a:r>
            <a:endParaRPr lang="en-US" altLang="ko-KR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출입 인원</a:t>
            </a:r>
            <a:r>
              <a:rPr lang="en-US" altLang="ko-KR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넘어진 상태 지속 여부 등 검출</a:t>
            </a:r>
            <a:endParaRPr lang="en-US" altLang="ko-KR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인체 </a:t>
            </a:r>
            <a:r>
              <a:rPr lang="en-US" altLang="ko-KR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2D </a:t>
            </a: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포즈 및 관절 위치 감지 기술 사용함</a:t>
            </a:r>
            <a:endParaRPr lang="en-US" altLang="ko-KR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얼굴 등 신체 등 초상권 보호함 </a:t>
            </a:r>
            <a:endParaRPr lang="en-US" altLang="ko-KR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FE0512-02A6-4049-A0B5-BCDE957E4925}"/>
              </a:ext>
            </a:extLst>
          </p:cNvPr>
          <p:cNvSpPr txBox="1"/>
          <p:nvPr/>
        </p:nvSpPr>
        <p:spPr>
          <a:xfrm>
            <a:off x="935086" y="6200013"/>
            <a:ext cx="21146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b="1">
                <a:solidFill>
                  <a:schemeClr val="accent6">
                    <a:lumMod val="7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MMC</a:t>
            </a:r>
            <a:r>
              <a:rPr lang="ko-KR" altLang="en-US" sz="1600" b="1">
                <a:solidFill>
                  <a:schemeClr val="accent6">
                    <a:lumMod val="7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화재 감지 시스템</a:t>
            </a:r>
            <a:endParaRPr lang="en-US" altLang="ko-KR" sz="1600" b="1">
              <a:solidFill>
                <a:schemeClr val="accent6">
                  <a:lumMod val="75000"/>
                </a:schemeClr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9477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DA9E6CA-8E6F-4969-9AF2-E1F031194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Page </a:t>
            </a:r>
            <a:fld id="{F03C90E3-98FA-4A46-95E3-0DCDD3916FEC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27776A-C3D8-4DD6-A776-3282D1D6355B}"/>
              </a:ext>
            </a:extLst>
          </p:cNvPr>
          <p:cNvSpPr txBox="1"/>
          <p:nvPr/>
        </p:nvSpPr>
        <p:spPr>
          <a:xfrm>
            <a:off x="3072848" y="812283"/>
            <a:ext cx="32287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③ </a:t>
            </a:r>
            <a:r>
              <a:rPr lang="ko-KR" altLang="en-US" sz="28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화재 및 연기 검출 </a:t>
            </a:r>
            <a:endParaRPr lang="en-US" altLang="ko-KR" sz="2800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AA6E00-B4B2-4079-BDA8-EB4111F4B32D}"/>
              </a:ext>
            </a:extLst>
          </p:cNvPr>
          <p:cNvSpPr txBox="1"/>
          <p:nvPr/>
        </p:nvSpPr>
        <p:spPr>
          <a:xfrm>
            <a:off x="1145381" y="1285208"/>
            <a:ext cx="70837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altLang="ko-KR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CCTV </a:t>
            </a: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이미지 딥러닝 분석</a:t>
            </a:r>
            <a:endParaRPr lang="en-US" altLang="ko-KR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화재 및 연기 검출 </a:t>
            </a:r>
            <a:r>
              <a:rPr lang="en-US" altLang="ko-KR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CNN </a:t>
            </a: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기반 객체 검출</a:t>
            </a:r>
            <a:endParaRPr lang="en-US" altLang="ko-KR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화재 검출과 작업자 유무</a:t>
            </a:r>
            <a:r>
              <a:rPr lang="en-US" altLang="ko-KR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작업자 상태</a:t>
            </a:r>
            <a:r>
              <a:rPr lang="en-US" altLang="ko-KR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</a:t>
            </a: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넘어짐</a:t>
            </a:r>
            <a:r>
              <a:rPr lang="en-US" altLang="ko-KR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이동 불능 상태 등 파악</a:t>
            </a:r>
            <a:r>
              <a:rPr lang="en-US" altLang="ko-KR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</a:t>
            </a:r>
            <a:r>
              <a:rPr lang="ko-KR" altLang="en-US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 </a:t>
            </a:r>
            <a:endParaRPr lang="en-US" altLang="ko-KR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7EBD0E14-1376-48C7-9678-D268C6911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381" y="2886605"/>
            <a:ext cx="4191039" cy="2686187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495CC1B1-2CFE-4DE2-82F4-E2581825F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6533" y="3904349"/>
            <a:ext cx="2457814" cy="1668443"/>
          </a:xfrm>
          <a:prstGeom prst="rect">
            <a:avLst/>
          </a:prstGeom>
        </p:spPr>
      </p:pic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C39F5E89-C559-45E3-BEDD-5D6F0B52B511}"/>
              </a:ext>
            </a:extLst>
          </p:cNvPr>
          <p:cNvSpPr/>
          <p:nvPr/>
        </p:nvSpPr>
        <p:spPr>
          <a:xfrm>
            <a:off x="5373310" y="4563533"/>
            <a:ext cx="296333" cy="474133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8F67F0-0C79-4F9C-8968-A438D8130A19}"/>
              </a:ext>
            </a:extLst>
          </p:cNvPr>
          <p:cNvSpPr txBox="1"/>
          <p:nvPr/>
        </p:nvSpPr>
        <p:spPr>
          <a:xfrm>
            <a:off x="6460066" y="5632131"/>
            <a:ext cx="11785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요구조자 발생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072922-895F-443C-8B25-8BBA8EBFCED8}"/>
              </a:ext>
            </a:extLst>
          </p:cNvPr>
          <p:cNvSpPr txBox="1"/>
          <p:nvPr/>
        </p:nvSpPr>
        <p:spPr>
          <a:xfrm>
            <a:off x="935086" y="6200013"/>
            <a:ext cx="21146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b="1">
                <a:solidFill>
                  <a:schemeClr val="accent6">
                    <a:lumMod val="7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MMC</a:t>
            </a:r>
            <a:r>
              <a:rPr lang="ko-KR" altLang="en-US" sz="1600" b="1">
                <a:solidFill>
                  <a:schemeClr val="accent6">
                    <a:lumMod val="7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화재 감지 시스템</a:t>
            </a:r>
            <a:endParaRPr lang="en-US" altLang="ko-KR" sz="1600" b="1">
              <a:solidFill>
                <a:schemeClr val="accent6">
                  <a:lumMod val="75000"/>
                </a:schemeClr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5153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89C6B6C-5CDB-4FBB-8A09-20AE27D98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Page </a:t>
            </a:r>
            <a:fld id="{F03C90E3-98FA-4A46-95E3-0DCDD3916FEC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8AEAD1-9889-4226-B3CC-5EA7FB03173D}"/>
              </a:ext>
            </a:extLst>
          </p:cNvPr>
          <p:cNvSpPr txBox="1"/>
          <p:nvPr/>
        </p:nvSpPr>
        <p:spPr>
          <a:xfrm>
            <a:off x="2693184" y="2767167"/>
            <a:ext cx="375763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Technical Report </a:t>
            </a:r>
          </a:p>
          <a:p>
            <a:pPr algn="ctr"/>
            <a:r>
              <a:rPr lang="en-US" altLang="ko-KR" sz="28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28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소프트웨어</a:t>
            </a:r>
            <a:r>
              <a:rPr lang="en-US" altLang="ko-KR" sz="28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</a:t>
            </a:r>
            <a:endParaRPr lang="ko-KR" altLang="en-US" sz="2800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CD55C43-BD2E-4006-9A57-FBB0AEFE7F4C}"/>
              </a:ext>
            </a:extLst>
          </p:cNvPr>
          <p:cNvSpPr/>
          <p:nvPr/>
        </p:nvSpPr>
        <p:spPr>
          <a:xfrm>
            <a:off x="6925733" y="897466"/>
            <a:ext cx="1481667" cy="255677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Confidential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641578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E4C7F390-4766-4E5C-A950-C29ADA6B185D}"/>
              </a:ext>
            </a:extLst>
          </p:cNvPr>
          <p:cNvSpPr/>
          <p:nvPr/>
        </p:nvSpPr>
        <p:spPr>
          <a:xfrm>
            <a:off x="1092200" y="1209909"/>
            <a:ext cx="6769277" cy="393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30000"/>
              </a:lnSpc>
            </a:pPr>
            <a:r>
              <a:rPr lang="en-US" altLang="ko-KR" sz="1600">
                <a:solidFill>
                  <a:srgbClr val="0070C0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MMCam</a:t>
            </a:r>
            <a:r>
              <a:rPr lang="ko-KR" altLang="en-US" sz="1600">
                <a:solidFill>
                  <a:srgbClr val="0070C0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 전체 구성도</a:t>
            </a:r>
            <a:endParaRPr lang="en-US" altLang="ko-KR" sz="1600">
              <a:solidFill>
                <a:srgbClr val="0070C0"/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</p:txBody>
      </p:sp>
      <p:sp>
        <p:nvSpPr>
          <p:cNvPr id="55" name="Rectangle 1">
            <a:extLst>
              <a:ext uri="{FF2B5EF4-FFF2-40B4-BE49-F238E27FC236}">
                <a16:creationId xmlns:a16="http://schemas.microsoft.com/office/drawing/2014/main" id="{C5B6F68D-A964-4766-A27E-971758DCE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3900" y="3454933"/>
            <a:ext cx="1671060" cy="276999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NAS : Data 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저장</a:t>
            </a:r>
          </a:p>
        </p:txBody>
      </p:sp>
      <p:pic>
        <p:nvPicPr>
          <p:cNvPr id="56" name="그림 55">
            <a:extLst>
              <a:ext uri="{FF2B5EF4-FFF2-40B4-BE49-F238E27FC236}">
                <a16:creationId xmlns:a16="http://schemas.microsoft.com/office/drawing/2014/main" id="{FEE42DC5-0B91-49E9-9495-F518462D19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7200" y="1815186"/>
            <a:ext cx="1507792" cy="1141323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1F9BF1E2-4FB8-45EC-A6C5-9B438BCE14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951" y="3025391"/>
            <a:ext cx="1507792" cy="1141323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E8173013-E725-43EF-A51C-05F6BE954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951" y="4403800"/>
            <a:ext cx="1507792" cy="1141323"/>
          </a:xfrm>
          <a:prstGeom prst="rect">
            <a:avLst/>
          </a:prstGeom>
        </p:spPr>
      </p:pic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F6D21A6E-613D-43E0-B44A-E4199308D0D4}"/>
              </a:ext>
            </a:extLst>
          </p:cNvPr>
          <p:cNvCxnSpPr>
            <a:stCxn id="56" idx="3"/>
            <a:endCxn id="55" idx="1"/>
          </p:cNvCxnSpPr>
          <p:nvPr/>
        </p:nvCxnSpPr>
        <p:spPr>
          <a:xfrm>
            <a:off x="3294992" y="2385848"/>
            <a:ext cx="1468908" cy="120758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46359894-D167-41A7-B542-5E9E226C8E9E}"/>
              </a:ext>
            </a:extLst>
          </p:cNvPr>
          <p:cNvCxnSpPr>
            <a:cxnSpLocks/>
            <a:stCxn id="58" idx="3"/>
          </p:cNvCxnSpPr>
          <p:nvPr/>
        </p:nvCxnSpPr>
        <p:spPr>
          <a:xfrm flipV="1">
            <a:off x="3423743" y="3591070"/>
            <a:ext cx="619541" cy="138339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7CC0134-D0E0-41C8-B7E9-9F48C79F6167}"/>
              </a:ext>
            </a:extLst>
          </p:cNvPr>
          <p:cNvCxnSpPr>
            <a:cxnSpLocks/>
            <a:endCxn id="85" idx="0"/>
          </p:cNvCxnSpPr>
          <p:nvPr/>
        </p:nvCxnSpPr>
        <p:spPr>
          <a:xfrm>
            <a:off x="5601090" y="3746336"/>
            <a:ext cx="0" cy="44988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04E3A057-AD52-45E3-9D37-B0E05A12B48B}"/>
              </a:ext>
            </a:extLst>
          </p:cNvPr>
          <p:cNvSpPr/>
          <p:nvPr/>
        </p:nvSpPr>
        <p:spPr>
          <a:xfrm>
            <a:off x="5254655" y="4743629"/>
            <a:ext cx="8022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분석서버</a:t>
            </a:r>
            <a:endParaRPr lang="en-US" altLang="ko-KR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windows</a:t>
            </a:r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C7DDE72-BE2B-4790-9E1B-406D4111C429}"/>
              </a:ext>
            </a:extLst>
          </p:cNvPr>
          <p:cNvSpPr/>
          <p:nvPr/>
        </p:nvSpPr>
        <p:spPr>
          <a:xfrm>
            <a:off x="5004505" y="3177934"/>
            <a:ext cx="123989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sangchoo.com</a:t>
            </a:r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834ADFB2-9074-4AA0-BBC7-F9060CAA57B4}"/>
              </a:ext>
            </a:extLst>
          </p:cNvPr>
          <p:cNvSpPr/>
          <p:nvPr/>
        </p:nvSpPr>
        <p:spPr>
          <a:xfrm>
            <a:off x="1915951" y="2679510"/>
            <a:ext cx="95090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MMCam#0</a:t>
            </a:r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67CB653A-8677-42DF-979F-B706318F2D1B}"/>
              </a:ext>
            </a:extLst>
          </p:cNvPr>
          <p:cNvSpPr/>
          <p:nvPr/>
        </p:nvSpPr>
        <p:spPr>
          <a:xfrm>
            <a:off x="1915951" y="3919218"/>
            <a:ext cx="95090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MMCam#1</a:t>
            </a:r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64027810-6875-4EC9-91E8-A82CB122581E}"/>
              </a:ext>
            </a:extLst>
          </p:cNvPr>
          <p:cNvSpPr/>
          <p:nvPr/>
        </p:nvSpPr>
        <p:spPr>
          <a:xfrm>
            <a:off x="1915951" y="5360012"/>
            <a:ext cx="95090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MMCam#2</a:t>
            </a:r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0C3A30CC-E30A-4B30-A653-E9DA89239FBB}"/>
              </a:ext>
            </a:extLst>
          </p:cNvPr>
          <p:cNvCxnSpPr/>
          <p:nvPr/>
        </p:nvCxnSpPr>
        <p:spPr>
          <a:xfrm>
            <a:off x="5601090" y="2694669"/>
            <a:ext cx="0" cy="43120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E621D645-D389-47BE-8BA9-14F354A1CA0C}"/>
              </a:ext>
            </a:extLst>
          </p:cNvPr>
          <p:cNvCxnSpPr>
            <a:stCxn id="57" idx="3"/>
          </p:cNvCxnSpPr>
          <p:nvPr/>
        </p:nvCxnSpPr>
        <p:spPr>
          <a:xfrm flipV="1">
            <a:off x="3423743" y="3593432"/>
            <a:ext cx="605703" cy="26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5" name="그림 84">
            <a:extLst>
              <a:ext uri="{FF2B5EF4-FFF2-40B4-BE49-F238E27FC236}">
                <a16:creationId xmlns:a16="http://schemas.microsoft.com/office/drawing/2014/main" id="{52C65B3E-06D7-4905-AA4E-D06C940C4D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6169" y="4196217"/>
            <a:ext cx="1269841" cy="608987"/>
          </a:xfrm>
          <a:prstGeom prst="rect">
            <a:avLst/>
          </a:prstGeom>
        </p:spPr>
      </p:pic>
      <p:pic>
        <p:nvPicPr>
          <p:cNvPr id="87" name="그림 86">
            <a:extLst>
              <a:ext uri="{FF2B5EF4-FFF2-40B4-BE49-F238E27FC236}">
                <a16:creationId xmlns:a16="http://schemas.microsoft.com/office/drawing/2014/main" id="{2DCE3864-E9EA-4BDD-87F9-61D62190A10E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2040" y="1753248"/>
            <a:ext cx="864822" cy="864822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62" name="직사각형 61">
            <a:extLst>
              <a:ext uri="{FF2B5EF4-FFF2-40B4-BE49-F238E27FC236}">
                <a16:creationId xmlns:a16="http://schemas.microsoft.com/office/drawing/2014/main" id="{7FEF5E62-5634-4A9D-B1F4-9ECA1483005B}"/>
              </a:ext>
            </a:extLst>
          </p:cNvPr>
          <p:cNvSpPr/>
          <p:nvPr/>
        </p:nvSpPr>
        <p:spPr>
          <a:xfrm>
            <a:off x="5948045" y="2068148"/>
            <a:ext cx="6472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user’s</a:t>
            </a:r>
          </a:p>
          <a:p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mobile</a:t>
            </a:r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2164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D68C3025-4C43-43D4-BF9E-4F0482F7BC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1533" y="4940465"/>
            <a:ext cx="912636" cy="912636"/>
          </a:xfrm>
          <a:prstGeom prst="rect">
            <a:avLst/>
          </a:prstGeom>
        </p:spPr>
      </p:pic>
      <p:sp>
        <p:nvSpPr>
          <p:cNvPr id="46" name="화살표: 아래쪽 45">
            <a:extLst>
              <a:ext uri="{FF2B5EF4-FFF2-40B4-BE49-F238E27FC236}">
                <a16:creationId xmlns:a16="http://schemas.microsoft.com/office/drawing/2014/main" id="{F2631E11-B393-4134-8CC0-0C1DC12D2864}"/>
              </a:ext>
            </a:extLst>
          </p:cNvPr>
          <p:cNvSpPr/>
          <p:nvPr/>
        </p:nvSpPr>
        <p:spPr>
          <a:xfrm flipV="1">
            <a:off x="6890670" y="3887954"/>
            <a:ext cx="159742" cy="593464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F99045F-0CE9-4433-8F23-E2CA27DBA838}"/>
              </a:ext>
            </a:extLst>
          </p:cNvPr>
          <p:cNvSpPr/>
          <p:nvPr/>
        </p:nvSpPr>
        <p:spPr>
          <a:xfrm>
            <a:off x="6346468" y="4246561"/>
            <a:ext cx="1493550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altLang="ko-KR" sz="1200" b="1">
                <a:latin typeface="+mj-ea"/>
                <a:cs typeface="KoPubWorld돋움체_Pro Bold" panose="00000800000000000000" pitchFamily="50" charset="-127"/>
              </a:rPr>
              <a:t>region_max.inf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altLang="ko-KR" sz="1200" b="1">
                <a:latin typeface="+mj-ea"/>
                <a:cs typeface="KoPubWorld돋움체_Pro Bold" panose="00000800000000000000" pitchFamily="50" charset="-127"/>
              </a:rPr>
              <a:t>status.inf</a:t>
            </a:r>
          </a:p>
        </p:txBody>
      </p:sp>
      <p:sp>
        <p:nvSpPr>
          <p:cNvPr id="6" name="화살표: 아래쪽 5">
            <a:extLst>
              <a:ext uri="{FF2B5EF4-FFF2-40B4-BE49-F238E27FC236}">
                <a16:creationId xmlns:a16="http://schemas.microsoft.com/office/drawing/2014/main" id="{C0D18150-6ADE-40BD-99FE-6323636E4C53}"/>
              </a:ext>
            </a:extLst>
          </p:cNvPr>
          <p:cNvSpPr/>
          <p:nvPr/>
        </p:nvSpPr>
        <p:spPr>
          <a:xfrm>
            <a:off x="4718265" y="2166571"/>
            <a:ext cx="149310" cy="3095675"/>
          </a:xfrm>
          <a:prstGeom prst="downArrow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4C7F390-4766-4E5C-A950-C29ADA6B185D}"/>
              </a:ext>
            </a:extLst>
          </p:cNvPr>
          <p:cNvSpPr/>
          <p:nvPr/>
        </p:nvSpPr>
        <p:spPr>
          <a:xfrm>
            <a:off x="1092200" y="1209909"/>
            <a:ext cx="6769277" cy="393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30000"/>
              </a:lnSpc>
            </a:pPr>
            <a:r>
              <a:rPr lang="ko-KR" altLang="en-US" sz="1600">
                <a:solidFill>
                  <a:srgbClr val="0070C0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중계 </a:t>
            </a:r>
            <a:r>
              <a:rPr lang="en-US" altLang="ko-KR" sz="1600">
                <a:solidFill>
                  <a:srgbClr val="0070C0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NAS </a:t>
            </a:r>
            <a:r>
              <a:rPr lang="ko-KR" altLang="en-US" sz="1600">
                <a:solidFill>
                  <a:srgbClr val="0070C0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폴더 구조</a:t>
            </a:r>
            <a:endParaRPr lang="en-US" altLang="ko-KR" sz="1600">
              <a:solidFill>
                <a:srgbClr val="0070C0"/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FEE10079-15A4-4D2E-8E40-E9BAAC41D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0174" y="2695209"/>
            <a:ext cx="768159" cy="276999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시작 폴더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182D074E-F0B3-485C-820A-CFC49BC89DC7}"/>
              </a:ext>
            </a:extLst>
          </p:cNvPr>
          <p:cNvCxnSpPr>
            <a:cxnSpLocks/>
          </p:cNvCxnSpPr>
          <p:nvPr/>
        </p:nvCxnSpPr>
        <p:spPr>
          <a:xfrm>
            <a:off x="2740562" y="2570601"/>
            <a:ext cx="3159" cy="1333184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DACEFB9F-E564-43DE-9B0A-C9975979317B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2008333" y="2833709"/>
            <a:ext cx="7140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1">
            <a:extLst>
              <a:ext uri="{FF2B5EF4-FFF2-40B4-BE49-F238E27FC236}">
                <a16:creationId xmlns:a16="http://schemas.microsoft.com/office/drawing/2014/main" id="{D3831FD0-56CC-4CCC-A4C4-BEFB51F89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9152" y="2828911"/>
            <a:ext cx="1034545" cy="2769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kict1</a:t>
            </a:r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204937EE-68D4-4ACC-84C6-33FF8AAAF96E}"/>
              </a:ext>
            </a:extLst>
          </p:cNvPr>
          <p:cNvCxnSpPr>
            <a:cxnSpLocks/>
          </p:cNvCxnSpPr>
          <p:nvPr/>
        </p:nvCxnSpPr>
        <p:spPr>
          <a:xfrm>
            <a:off x="2743721" y="2978967"/>
            <a:ext cx="2704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8735BCA6-C18D-436C-B4FC-A81ADF072640}"/>
              </a:ext>
            </a:extLst>
          </p:cNvPr>
          <p:cNvCxnSpPr>
            <a:cxnSpLocks/>
          </p:cNvCxnSpPr>
          <p:nvPr/>
        </p:nvCxnSpPr>
        <p:spPr>
          <a:xfrm>
            <a:off x="2740562" y="3903785"/>
            <a:ext cx="19483" cy="1024266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2AA1600-A23E-4FEF-8368-6F12D34ED943}"/>
              </a:ext>
            </a:extLst>
          </p:cNvPr>
          <p:cNvSpPr/>
          <p:nvPr/>
        </p:nvSpPr>
        <p:spPr>
          <a:xfrm>
            <a:off x="958242" y="3010879"/>
            <a:ext cx="151195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>
                <a:latin typeface="+mj-ea"/>
                <a:cs typeface="KoPubWorld돋움체_Pro Bold" panose="00000800000000000000" pitchFamily="50" charset="-127"/>
              </a:rPr>
              <a:t>ex) /web/kict_samsung</a:t>
            </a:r>
          </a:p>
        </p:txBody>
      </p:sp>
      <p:sp>
        <p:nvSpPr>
          <p:cNvPr id="36" name="Rectangle 1">
            <a:extLst>
              <a:ext uri="{FF2B5EF4-FFF2-40B4-BE49-F238E27FC236}">
                <a16:creationId xmlns:a16="http://schemas.microsoft.com/office/drawing/2014/main" id="{8D0814B7-D1BF-4B33-B6E0-56B2141D7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1844" y="2488441"/>
            <a:ext cx="56624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users</a:t>
            </a:r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7" name="Rectangle 1">
            <a:extLst>
              <a:ext uri="{FF2B5EF4-FFF2-40B4-BE49-F238E27FC236}">
                <a16:creationId xmlns:a16="http://schemas.microsoft.com/office/drawing/2014/main" id="{CA0D73EF-5BC3-486E-96B3-55F8A8C13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9152" y="3673456"/>
            <a:ext cx="1034551" cy="2769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cj_busan_1</a:t>
            </a:r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EB84014A-6388-4F57-89A9-69E344B03D41}"/>
              </a:ext>
            </a:extLst>
          </p:cNvPr>
          <p:cNvCxnSpPr>
            <a:cxnSpLocks/>
          </p:cNvCxnSpPr>
          <p:nvPr/>
        </p:nvCxnSpPr>
        <p:spPr>
          <a:xfrm>
            <a:off x="2748784" y="3813260"/>
            <a:ext cx="2704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FE7EC0E-2E46-423D-9E67-ED9DA600C014}"/>
              </a:ext>
            </a:extLst>
          </p:cNvPr>
          <p:cNvSpPr/>
          <p:nvPr/>
        </p:nvSpPr>
        <p:spPr>
          <a:xfrm>
            <a:off x="4162215" y="2218331"/>
            <a:ext cx="1781343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altLang="ko-KR" sz="1200" b="1">
                <a:latin typeface="+mj-ea"/>
                <a:cs typeface="KoPubWorld돋움체_Pro Bold" panose="00000800000000000000" pitchFamily="50" charset="-127"/>
              </a:rPr>
              <a:t>ir_img.csv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altLang="ko-KR" sz="1200" b="1">
                <a:latin typeface="+mj-ea"/>
                <a:cs typeface="KoPubWorld돋움체_Pro Bold" panose="00000800000000000000" pitchFamily="50" charset="-127"/>
              </a:rPr>
              <a:t>rgb_img.jpg</a:t>
            </a:r>
          </a:p>
        </p:txBody>
      </p:sp>
      <p:sp>
        <p:nvSpPr>
          <p:cNvPr id="43" name="Rectangle 1">
            <a:extLst>
              <a:ext uri="{FF2B5EF4-FFF2-40B4-BE49-F238E27FC236}">
                <a16:creationId xmlns:a16="http://schemas.microsoft.com/office/drawing/2014/main" id="{9E09DDEB-4C81-49E4-BF70-159B04843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6286" y="5803778"/>
            <a:ext cx="1003129" cy="27699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분석 서버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1C47355-AF28-42DC-913C-74092BA24F55}"/>
              </a:ext>
            </a:extLst>
          </p:cNvPr>
          <p:cNvSpPr/>
          <p:nvPr/>
        </p:nvSpPr>
        <p:spPr>
          <a:xfrm>
            <a:off x="4162217" y="3019026"/>
            <a:ext cx="178134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altLang="ko-KR" sz="1200" b="1">
                <a:latin typeface="+mj-ea"/>
                <a:cs typeface="KoPubWorld돋움체_Pro Bold" panose="00000800000000000000" pitchFamily="50" charset="-127"/>
              </a:rPr>
              <a:t>grid_mask.ini</a:t>
            </a: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31B5A620-F7C3-42C6-934D-DCAC2C44085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1177" y="3222102"/>
            <a:ext cx="593464" cy="59346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662B8CC1-0B03-4EC7-9B78-ECFB2D4262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704" y="1934777"/>
            <a:ext cx="1181233" cy="894134"/>
          </a:xfrm>
          <a:prstGeom prst="rect">
            <a:avLst/>
          </a:prstGeom>
        </p:spPr>
      </p:pic>
      <p:sp>
        <p:nvSpPr>
          <p:cNvPr id="66" name="직사각형 65">
            <a:extLst>
              <a:ext uri="{FF2B5EF4-FFF2-40B4-BE49-F238E27FC236}">
                <a16:creationId xmlns:a16="http://schemas.microsoft.com/office/drawing/2014/main" id="{609CB917-B35B-404D-AC39-4A9B426BDD5C}"/>
              </a:ext>
            </a:extLst>
          </p:cNvPr>
          <p:cNvSpPr/>
          <p:nvPr/>
        </p:nvSpPr>
        <p:spPr>
          <a:xfrm>
            <a:off x="4162214" y="2712142"/>
            <a:ext cx="1781343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altLang="ko-KR" sz="1200" b="1">
                <a:latin typeface="+mj-ea"/>
                <a:cs typeface="KoPubWorld돋움체_Pro Bold" panose="00000800000000000000" pitchFamily="50" charset="-127"/>
              </a:rPr>
              <a:t>slave_0_sensor.inf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7B7958C-4743-406A-A378-5306074B543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Photocopy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22250" y="2648893"/>
            <a:ext cx="468657" cy="530937"/>
          </a:xfrm>
          <a:prstGeom prst="rect">
            <a:avLst/>
          </a:prstGeom>
        </p:spPr>
      </p:pic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28DEB476-32C0-403F-8859-10BBC1D248D7}"/>
              </a:ext>
            </a:extLst>
          </p:cNvPr>
          <p:cNvCxnSpPr/>
          <p:nvPr/>
        </p:nvCxnSpPr>
        <p:spPr>
          <a:xfrm>
            <a:off x="6052821" y="2382933"/>
            <a:ext cx="603313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7CC46839-22F0-448B-8B57-3F9662352439}"/>
              </a:ext>
            </a:extLst>
          </p:cNvPr>
          <p:cNvCxnSpPr/>
          <p:nvPr/>
        </p:nvCxnSpPr>
        <p:spPr>
          <a:xfrm>
            <a:off x="6052938" y="2838400"/>
            <a:ext cx="603313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527C2113-E73F-409D-A6F7-F5B980BBC78F}"/>
              </a:ext>
            </a:extLst>
          </p:cNvPr>
          <p:cNvCxnSpPr/>
          <p:nvPr/>
        </p:nvCxnSpPr>
        <p:spPr>
          <a:xfrm>
            <a:off x="6052821" y="3177949"/>
            <a:ext cx="603313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B42CE50B-A37F-4642-B215-6DF30874E54D}"/>
              </a:ext>
            </a:extLst>
          </p:cNvPr>
          <p:cNvSpPr/>
          <p:nvPr/>
        </p:nvSpPr>
        <p:spPr>
          <a:xfrm>
            <a:off x="7413521" y="2238141"/>
            <a:ext cx="70083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>
                <a:latin typeface="+mj-ea"/>
                <a:cs typeface="KoPubWorld돋움체_Pro Bold" panose="00000800000000000000" pitchFamily="50" charset="-127"/>
              </a:rPr>
              <a:t>MMCam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E29867DB-FB83-4C4E-8F6C-86BFE3CED05C}"/>
              </a:ext>
            </a:extLst>
          </p:cNvPr>
          <p:cNvSpPr/>
          <p:nvPr/>
        </p:nvSpPr>
        <p:spPr>
          <a:xfrm>
            <a:off x="7413520" y="2732746"/>
            <a:ext cx="95571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>
                <a:latin typeface="+mj-ea"/>
                <a:cs typeface="KoPubWorld돋움체_Pro Bold" panose="00000800000000000000" pitchFamily="50" charset="-127"/>
              </a:rPr>
              <a:t>Slave Sensor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B9491F27-88B5-43E3-9B04-EC17D35A5BDE}"/>
              </a:ext>
            </a:extLst>
          </p:cNvPr>
          <p:cNvSpPr/>
          <p:nvPr/>
        </p:nvSpPr>
        <p:spPr>
          <a:xfrm>
            <a:off x="7413521" y="3296025"/>
            <a:ext cx="91082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>
                <a:latin typeface="+mj-ea"/>
                <a:cs typeface="KoPubWorld돋움체_Pro Bold" panose="00000800000000000000" pitchFamily="50" charset="-127"/>
              </a:rPr>
              <a:t>Mobile </a:t>
            </a:r>
            <a:r>
              <a:rPr lang="ko-KR" altLang="en-US" sz="1000" b="1">
                <a:latin typeface="+mj-ea"/>
                <a:cs typeface="KoPubWorld돋움체_Pro Bold" panose="00000800000000000000" pitchFamily="50" charset="-127"/>
              </a:rPr>
              <a:t>관제</a:t>
            </a:r>
            <a:endParaRPr lang="en-US" altLang="ko-KR" sz="1000" b="1">
              <a:latin typeface="+mj-ea"/>
              <a:cs typeface="KoPubWorld돋움체_Pro Bold" panose="00000800000000000000" pitchFamily="50" charset="-127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34C7E88F-F71E-4B7E-BC34-8C3C8324B066}"/>
              </a:ext>
            </a:extLst>
          </p:cNvPr>
          <p:cNvSpPr/>
          <p:nvPr/>
        </p:nvSpPr>
        <p:spPr>
          <a:xfrm>
            <a:off x="1059447" y="2262824"/>
            <a:ext cx="14157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sangchoo.com</a:t>
            </a:r>
            <a:endParaRPr lang="ko-KR" altLang="en-US" sz="1400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30258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E4C7F390-4766-4E5C-A950-C29ADA6B185D}"/>
              </a:ext>
            </a:extLst>
          </p:cNvPr>
          <p:cNvSpPr/>
          <p:nvPr/>
        </p:nvSpPr>
        <p:spPr>
          <a:xfrm>
            <a:off x="1092200" y="1209909"/>
            <a:ext cx="6769277" cy="393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30000"/>
              </a:lnSpc>
            </a:pPr>
            <a:r>
              <a:rPr lang="en-US" altLang="ko-KR" sz="1600">
                <a:solidFill>
                  <a:srgbClr val="0070C0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MMCam</a:t>
            </a:r>
            <a:r>
              <a:rPr lang="ko-KR" altLang="en-US" sz="1600">
                <a:solidFill>
                  <a:srgbClr val="0070C0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 분석 서버 </a:t>
            </a:r>
            <a:r>
              <a:rPr lang="en-US" altLang="ko-KR" sz="1600">
                <a:solidFill>
                  <a:srgbClr val="0070C0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: </a:t>
            </a:r>
            <a:r>
              <a:rPr lang="ko-KR" altLang="en-US" sz="1600">
                <a:solidFill>
                  <a:srgbClr val="0070C0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폴더 구조</a:t>
            </a:r>
            <a:endParaRPr lang="en-US" altLang="ko-KR" sz="1600">
              <a:solidFill>
                <a:srgbClr val="0070C0"/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DC8A6A57-3864-4207-B9BA-25568548F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1716" y="1980004"/>
            <a:ext cx="1031051" cy="276999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multi_modal</a:t>
            </a:r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125DCB7A-68DC-47AB-B444-DF6BD59C48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7147" y="1992390"/>
            <a:ext cx="388376" cy="2769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log</a:t>
            </a:r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39807422-6ACA-41BC-BF69-10EE2ECF2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646" y="3893673"/>
            <a:ext cx="1324465" cy="2769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predict_machine</a:t>
            </a:r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1142F233-31D5-4079-BC59-9416D30DFD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853" y="4405662"/>
            <a:ext cx="1109919" cy="2769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fall_detection</a:t>
            </a:r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54C323EC-7966-42F1-8F66-A351C2DBFABF}"/>
              </a:ext>
            </a:extLst>
          </p:cNvPr>
          <p:cNvCxnSpPr>
            <a:cxnSpLocks/>
          </p:cNvCxnSpPr>
          <p:nvPr/>
        </p:nvCxnSpPr>
        <p:spPr>
          <a:xfrm>
            <a:off x="2922673" y="1987876"/>
            <a:ext cx="0" cy="3167752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A3001F1-984A-40C8-9304-60F0A3FC0DDF}"/>
              </a:ext>
            </a:extLst>
          </p:cNvPr>
          <p:cNvCxnSpPr>
            <a:cxnSpLocks/>
            <a:stCxn id="50" idx="3"/>
            <a:endCxn id="15" idx="1"/>
          </p:cNvCxnSpPr>
          <p:nvPr/>
        </p:nvCxnSpPr>
        <p:spPr>
          <a:xfrm flipV="1">
            <a:off x="4822151" y="2130890"/>
            <a:ext cx="534996" cy="40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8510110F-35A0-4AA0-B79F-8E9D0D5F2DC5}"/>
              </a:ext>
            </a:extLst>
          </p:cNvPr>
          <p:cNvCxnSpPr>
            <a:cxnSpLocks/>
          </p:cNvCxnSpPr>
          <p:nvPr/>
        </p:nvCxnSpPr>
        <p:spPr>
          <a:xfrm>
            <a:off x="2927295" y="4032172"/>
            <a:ext cx="2704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D71EF27F-C180-450E-A820-A2E6894352A6}"/>
              </a:ext>
            </a:extLst>
          </p:cNvPr>
          <p:cNvCxnSpPr>
            <a:cxnSpLocks/>
          </p:cNvCxnSpPr>
          <p:nvPr/>
        </p:nvCxnSpPr>
        <p:spPr>
          <a:xfrm>
            <a:off x="2905415" y="4544162"/>
            <a:ext cx="2704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E4C81A9-2437-4F86-B2BF-F9F71BDD59D2}"/>
              </a:ext>
            </a:extLst>
          </p:cNvPr>
          <p:cNvSpPr/>
          <p:nvPr/>
        </p:nvSpPr>
        <p:spPr>
          <a:xfrm>
            <a:off x="1306193" y="2618484"/>
            <a:ext cx="1552476" cy="16004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>
                <a:ea typeface="KoPub돋움체 Medium" panose="00000600000000000000" pitchFamily="2" charset="-127"/>
                <a:cs typeface="KoPubWorld돋움체_Pro Bold" panose="00000800000000000000" pitchFamily="50" charset="-127"/>
              </a:rPr>
              <a:t>server_to_db.py</a:t>
            </a:r>
          </a:p>
          <a:p>
            <a:r>
              <a:rPr lang="en-US" altLang="ko-KR" sz="1400" b="1">
                <a:cs typeface="KoPubWorld돋움체_Pro Bold" panose="00000800000000000000" pitchFamily="50" charset="-127"/>
              </a:rPr>
              <a:t>put_data_2_db.py</a:t>
            </a:r>
          </a:p>
          <a:p>
            <a:r>
              <a:rPr lang="en-US" altLang="ko-KR" sz="1400" b="1">
                <a:cs typeface="KoPubWorld돋움체_Pro Bold" panose="00000800000000000000" pitchFamily="50" charset="-127"/>
              </a:rPr>
              <a:t>cv_utils.py</a:t>
            </a:r>
          </a:p>
          <a:p>
            <a:r>
              <a:rPr lang="en-US" altLang="ko-KR" sz="1400" b="1">
                <a:cs typeface="KoPubWorld돋움체_Pro Bold" panose="00000800000000000000" pitchFamily="50" charset="-127"/>
              </a:rPr>
              <a:t>db_utils.py</a:t>
            </a:r>
          </a:p>
          <a:p>
            <a:endParaRPr lang="en-US" altLang="ko-KR" sz="1400" b="1"/>
          </a:p>
          <a:p>
            <a:r>
              <a:rPr lang="en-US" altLang="ko-KR" sz="1400" b="1"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create_db</a:t>
            </a:r>
            <a:r>
              <a:rPr lang="en-US" altLang="ko-KR" sz="1400" b="1">
                <a:ea typeface="KoPub돋움체 Medium" panose="00000600000000000000" pitchFamily="2" charset="-127"/>
                <a:cs typeface="KoPubWorld돋움체_Pro Bold" panose="00000800000000000000" pitchFamily="50" charset="-127"/>
              </a:rPr>
              <a:t>.py</a:t>
            </a:r>
            <a:endParaRPr lang="en-US" altLang="ko-KR" sz="1400" b="1"/>
          </a:p>
          <a:p>
            <a:r>
              <a:rPr lang="en-US" altLang="ko-KR" sz="1400" b="1"/>
              <a:t>show_db.py</a:t>
            </a:r>
            <a:endParaRPr lang="ko-KR" altLang="en-US" sz="1400" b="1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A325CF7-3916-45C7-BDA5-FCFFD9DF49C9}"/>
              </a:ext>
            </a:extLst>
          </p:cNvPr>
          <p:cNvSpPr/>
          <p:nvPr/>
        </p:nvSpPr>
        <p:spPr>
          <a:xfrm>
            <a:off x="4631119" y="3900143"/>
            <a:ext cx="15961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cs typeface="KoPubWorld돋움체_Pro Bold" panose="00000800000000000000" pitchFamily="50" charset="-127"/>
              </a:rPr>
              <a:t>predict_machine.py</a:t>
            </a:r>
            <a:endParaRPr lang="ko-KR" altLang="en-US" sz="1200" b="1">
              <a:solidFill>
                <a:schemeClr val="tx1">
                  <a:lumMod val="75000"/>
                  <a:lumOff val="25000"/>
                </a:schemeClr>
              </a:solidFill>
              <a:latin typeface="+mj-ea"/>
            </a:endParaRP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4FA16978-8206-4132-9F88-2397DC6D33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6398" y="1980218"/>
            <a:ext cx="1247008" cy="2769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200"/>
              <a:t>event_img_input</a:t>
            </a: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EE26F5B0-9CB4-490E-AE05-BCB824225E80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5739850" y="2118717"/>
            <a:ext cx="67654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1">
            <a:extLst>
              <a:ext uri="{FF2B5EF4-FFF2-40B4-BE49-F238E27FC236}">
                <a16:creationId xmlns:a16="http://schemas.microsoft.com/office/drawing/2014/main" id="{819C8509-072C-4D1F-B519-B8333FF22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4229" y="2294956"/>
            <a:ext cx="1275414" cy="2769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200"/>
              <a:t>event_img_</a:t>
            </a:r>
            <a:r>
              <a:rPr lang="en-US" altLang="ko-KR" sz="1200"/>
              <a:t>result</a:t>
            </a:r>
            <a:endParaRPr lang="ko-KR" altLang="en-US" sz="1200"/>
          </a:p>
        </p:txBody>
      </p:sp>
      <p:sp>
        <p:nvSpPr>
          <p:cNvPr id="27" name="Rectangle 1">
            <a:extLst>
              <a:ext uri="{FF2B5EF4-FFF2-40B4-BE49-F238E27FC236}">
                <a16:creationId xmlns:a16="http://schemas.microsoft.com/office/drawing/2014/main" id="{5D3FCCF6-35C5-45A1-8AD5-6658B429A5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7147" y="2792996"/>
            <a:ext cx="849913" cy="2769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base_img</a:t>
            </a:r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8EDA91D6-A7A0-4DD3-910D-79F26943ECB0}"/>
              </a:ext>
            </a:extLst>
          </p:cNvPr>
          <p:cNvCxnSpPr>
            <a:cxnSpLocks/>
          </p:cNvCxnSpPr>
          <p:nvPr/>
        </p:nvCxnSpPr>
        <p:spPr>
          <a:xfrm>
            <a:off x="5086708" y="2931496"/>
            <a:ext cx="2704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그림 28">
            <a:extLst>
              <a:ext uri="{FF2B5EF4-FFF2-40B4-BE49-F238E27FC236}">
                <a16:creationId xmlns:a16="http://schemas.microsoft.com/office/drawing/2014/main" id="{42758851-469B-451A-BD58-A84942F93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221" y="2652613"/>
            <a:ext cx="2177383" cy="65091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122F13DD-1E1F-4BF1-BF25-8C51AA0172C7}"/>
              </a:ext>
            </a:extLst>
          </p:cNvPr>
          <p:cNvSpPr txBox="1"/>
          <p:nvPr/>
        </p:nvSpPr>
        <p:spPr>
          <a:xfrm>
            <a:off x="3111579" y="4815462"/>
            <a:ext cx="36970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C:\...\anaconda3\envs\otg\Lib\site-packages\openpifpaf</a:t>
            </a:r>
            <a:endParaRPr lang="ko-KR" altLang="en-US" sz="1200"/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9BA7606A-427D-4926-A244-A0A06332999F}"/>
              </a:ext>
            </a:extLst>
          </p:cNvPr>
          <p:cNvCxnSpPr>
            <a:cxnSpLocks/>
          </p:cNvCxnSpPr>
          <p:nvPr/>
        </p:nvCxnSpPr>
        <p:spPr>
          <a:xfrm>
            <a:off x="2914729" y="4611888"/>
            <a:ext cx="0" cy="1117561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B6C7A27-DE46-4DEF-A7D1-E7695C38672D}"/>
              </a:ext>
            </a:extLst>
          </p:cNvPr>
          <p:cNvSpPr/>
          <p:nvPr/>
        </p:nvSpPr>
        <p:spPr>
          <a:xfrm>
            <a:off x="4403625" y="4384174"/>
            <a:ext cx="178792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fall_detection</a:t>
            </a:r>
            <a:r>
              <a:rPr lang="en-US" altLang="ko-KR" sz="1200" b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cs typeface="KoPubWorld돋움체_Pro Bold" panose="00000800000000000000" pitchFamily="50" charset="-127"/>
              </a:rPr>
              <a:t>.py</a:t>
            </a:r>
            <a:endParaRPr lang="ko-KR" altLang="en-US" sz="1200" b="1">
              <a:solidFill>
                <a:schemeClr val="tx1">
                  <a:lumMod val="65000"/>
                  <a:lumOff val="35000"/>
                </a:schemeClr>
              </a:solidFill>
              <a:latin typeface="+mj-ea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E2FA8CC1-40E8-43F9-BD58-4181BBEE8908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5912106" y="2431675"/>
            <a:ext cx="492123" cy="17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5F496601-929B-4EF7-8A03-CD736E73159A}"/>
              </a:ext>
            </a:extLst>
          </p:cNvPr>
          <p:cNvCxnSpPr>
            <a:cxnSpLocks/>
          </p:cNvCxnSpPr>
          <p:nvPr/>
        </p:nvCxnSpPr>
        <p:spPr>
          <a:xfrm>
            <a:off x="5912106" y="2121854"/>
            <a:ext cx="0" cy="309821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1">
            <a:extLst>
              <a:ext uri="{FF2B5EF4-FFF2-40B4-BE49-F238E27FC236}">
                <a16:creationId xmlns:a16="http://schemas.microsoft.com/office/drawing/2014/main" id="{36E8F66A-5A80-4BC3-B217-BA7E348C2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6813" y="3391389"/>
            <a:ext cx="975075" cy="2769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debug_logs</a:t>
            </a:r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8B58F394-48D1-49FF-9A9A-A26B8157B8D5}"/>
              </a:ext>
            </a:extLst>
          </p:cNvPr>
          <p:cNvCxnSpPr>
            <a:cxnSpLocks/>
          </p:cNvCxnSpPr>
          <p:nvPr/>
        </p:nvCxnSpPr>
        <p:spPr>
          <a:xfrm>
            <a:off x="2928999" y="3532728"/>
            <a:ext cx="2704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F6912930-C8AC-49E4-8980-3FB39DDE1A49}"/>
              </a:ext>
            </a:extLst>
          </p:cNvPr>
          <p:cNvCxnSpPr>
            <a:cxnSpLocks/>
          </p:cNvCxnSpPr>
          <p:nvPr/>
        </p:nvCxnSpPr>
        <p:spPr>
          <a:xfrm>
            <a:off x="2897927" y="2137932"/>
            <a:ext cx="2704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타원 4">
            <a:extLst>
              <a:ext uri="{FF2B5EF4-FFF2-40B4-BE49-F238E27FC236}">
                <a16:creationId xmlns:a16="http://schemas.microsoft.com/office/drawing/2014/main" id="{A764D9F2-F1D8-45BF-84BC-A6E64840E149}"/>
              </a:ext>
            </a:extLst>
          </p:cNvPr>
          <p:cNvSpPr/>
          <p:nvPr/>
        </p:nvSpPr>
        <p:spPr>
          <a:xfrm>
            <a:off x="1216654" y="2731965"/>
            <a:ext cx="107931" cy="132499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485A6A71-D354-48B9-9758-A8C2515DB13E}"/>
              </a:ext>
            </a:extLst>
          </p:cNvPr>
          <p:cNvSpPr/>
          <p:nvPr/>
        </p:nvSpPr>
        <p:spPr>
          <a:xfrm>
            <a:off x="4556494" y="3997405"/>
            <a:ext cx="107931" cy="132499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1BF7E4F2-1FDE-43E8-946E-F34B4DBDB3A6}"/>
              </a:ext>
            </a:extLst>
          </p:cNvPr>
          <p:cNvSpPr/>
          <p:nvPr/>
        </p:nvSpPr>
        <p:spPr>
          <a:xfrm>
            <a:off x="4357684" y="4458441"/>
            <a:ext cx="107931" cy="132499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Rectangle 1">
            <a:extLst>
              <a:ext uri="{FF2B5EF4-FFF2-40B4-BE49-F238E27FC236}">
                <a16:creationId xmlns:a16="http://schemas.microsoft.com/office/drawing/2014/main" id="{5754DB84-8518-4A03-A9FC-BA1EAA792D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5820" y="1996409"/>
            <a:ext cx="646331" cy="2769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1200"/>
              <a:t>user #0</a:t>
            </a:r>
            <a:endParaRPr lang="ko-KR" altLang="en-US" sz="1200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62E80912-5832-4B18-A5C6-087578FC2A05}"/>
              </a:ext>
            </a:extLst>
          </p:cNvPr>
          <p:cNvCxnSpPr>
            <a:cxnSpLocks/>
            <a:endCxn id="50" idx="1"/>
          </p:cNvCxnSpPr>
          <p:nvPr/>
        </p:nvCxnSpPr>
        <p:spPr>
          <a:xfrm>
            <a:off x="3499272" y="2134908"/>
            <a:ext cx="67654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1">
            <a:extLst>
              <a:ext uri="{FF2B5EF4-FFF2-40B4-BE49-F238E27FC236}">
                <a16:creationId xmlns:a16="http://schemas.microsoft.com/office/drawing/2014/main" id="{E15B40F1-DEC2-4585-B5D5-F719B5247E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5945" y="2960241"/>
            <a:ext cx="646331" cy="2769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1200"/>
              <a:t>user #1</a:t>
            </a:r>
            <a:endParaRPr lang="ko-KR" altLang="en-US" sz="1200"/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BA46D500-2D49-4B5D-838C-C6B589513D80}"/>
              </a:ext>
            </a:extLst>
          </p:cNvPr>
          <p:cNvCxnSpPr>
            <a:cxnSpLocks/>
            <a:endCxn id="52" idx="1"/>
          </p:cNvCxnSpPr>
          <p:nvPr/>
        </p:nvCxnSpPr>
        <p:spPr>
          <a:xfrm>
            <a:off x="3948798" y="3098741"/>
            <a:ext cx="2371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E7B65ECE-4189-4060-A772-140C273EAE19}"/>
              </a:ext>
            </a:extLst>
          </p:cNvPr>
          <p:cNvCxnSpPr>
            <a:cxnSpLocks/>
          </p:cNvCxnSpPr>
          <p:nvPr/>
        </p:nvCxnSpPr>
        <p:spPr>
          <a:xfrm>
            <a:off x="3926504" y="2138045"/>
            <a:ext cx="0" cy="960696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C61FFD3F-22D7-4720-93B0-B53BD07DF68C}"/>
              </a:ext>
            </a:extLst>
          </p:cNvPr>
          <p:cNvCxnSpPr>
            <a:cxnSpLocks/>
          </p:cNvCxnSpPr>
          <p:nvPr/>
        </p:nvCxnSpPr>
        <p:spPr>
          <a:xfrm>
            <a:off x="5086708" y="2137932"/>
            <a:ext cx="0" cy="793564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1">
            <a:extLst>
              <a:ext uri="{FF2B5EF4-FFF2-40B4-BE49-F238E27FC236}">
                <a16:creationId xmlns:a16="http://schemas.microsoft.com/office/drawing/2014/main" id="{26A0D152-EFB1-443B-89EF-4DCDA2381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3359" y="1987876"/>
            <a:ext cx="566245" cy="27699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users</a:t>
            </a:r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52944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FA066E1-204B-42C0-BA6C-F470BEB5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Page </a:t>
            </a:r>
            <a:fld id="{F03C90E3-98FA-4A46-95E3-0DCDD3916FEC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40" name="슬라이드 번호 개체 틀 9">
            <a:extLst>
              <a:ext uri="{FF2B5EF4-FFF2-40B4-BE49-F238E27FC236}">
                <a16:creationId xmlns:a16="http://schemas.microsoft.com/office/drawing/2014/main" id="{4E762CBC-F01B-4495-8D2E-234576288CF3}"/>
              </a:ext>
            </a:extLst>
          </p:cNvPr>
          <p:cNvSpPr txBox="1">
            <a:spLocks/>
          </p:cNvSpPr>
          <p:nvPr/>
        </p:nvSpPr>
        <p:spPr>
          <a:xfrm>
            <a:off x="8335472" y="6560598"/>
            <a:ext cx="810910" cy="2316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675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PAGE</a:t>
            </a:r>
            <a:fld id="{F2C57867-4DD3-42C3-B33F-35CD9A0E77A0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8928876E-53BA-4C3A-8CE3-3AC87A4BC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8131" y="2598494"/>
            <a:ext cx="1031051" cy="276999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multi_modal</a:t>
            </a:r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F32CD4EF-3322-4025-A146-E355C4389E1A}"/>
              </a:ext>
            </a:extLst>
          </p:cNvPr>
          <p:cNvCxnSpPr>
            <a:cxnSpLocks/>
          </p:cNvCxnSpPr>
          <p:nvPr/>
        </p:nvCxnSpPr>
        <p:spPr>
          <a:xfrm>
            <a:off x="3170296" y="2736993"/>
            <a:ext cx="0" cy="455193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AC6EC78B-6A27-4E35-ADC0-097BB6123974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2719182" y="2736994"/>
            <a:ext cx="4511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1">
            <a:extLst>
              <a:ext uri="{FF2B5EF4-FFF2-40B4-BE49-F238E27FC236}">
                <a16:creationId xmlns:a16="http://schemas.microsoft.com/office/drawing/2014/main" id="{2CE1BA19-4A19-4531-B4AE-09291DC03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7110" y="2732196"/>
            <a:ext cx="566245" cy="2769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users</a:t>
            </a:r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0EA284DE-095C-4DD0-A308-71BA6FBB4877}"/>
              </a:ext>
            </a:extLst>
          </p:cNvPr>
          <p:cNvCxnSpPr>
            <a:cxnSpLocks/>
          </p:cNvCxnSpPr>
          <p:nvPr/>
        </p:nvCxnSpPr>
        <p:spPr>
          <a:xfrm>
            <a:off x="3191678" y="2882252"/>
            <a:ext cx="2704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1">
            <a:extLst>
              <a:ext uri="{FF2B5EF4-FFF2-40B4-BE49-F238E27FC236}">
                <a16:creationId xmlns:a16="http://schemas.microsoft.com/office/drawing/2014/main" id="{F3743584-AC79-418F-A2AA-55FDAD0C5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547" y="2740729"/>
            <a:ext cx="646331" cy="2769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1200"/>
              <a:t>user #1</a:t>
            </a:r>
            <a:endParaRPr lang="ko-KR" altLang="en-US" sz="1200"/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613DA1FC-B991-4CFA-97F6-05AFFCF258DD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4047999" y="2879228"/>
            <a:ext cx="67654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1">
            <a:extLst>
              <a:ext uri="{FF2B5EF4-FFF2-40B4-BE49-F238E27FC236}">
                <a16:creationId xmlns:a16="http://schemas.microsoft.com/office/drawing/2014/main" id="{C9E1E30A-C767-400B-B43D-E43163A164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2378" y="3055467"/>
            <a:ext cx="646331" cy="2769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1200"/>
              <a:t>user #2</a:t>
            </a:r>
            <a:endParaRPr lang="ko-KR" altLang="en-US" sz="1200"/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AC9B0E3D-4080-4ED3-8E13-7B18D34BD7C9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4220255" y="3192186"/>
            <a:ext cx="492123" cy="17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FD13E577-BBF2-49A5-A323-05FDDB584ADB}"/>
              </a:ext>
            </a:extLst>
          </p:cNvPr>
          <p:cNvCxnSpPr>
            <a:cxnSpLocks/>
          </p:cNvCxnSpPr>
          <p:nvPr/>
        </p:nvCxnSpPr>
        <p:spPr>
          <a:xfrm>
            <a:off x="4220255" y="2882365"/>
            <a:ext cx="0" cy="309821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A360D471-4602-4BC3-9448-D8B78235316F}"/>
              </a:ext>
            </a:extLst>
          </p:cNvPr>
          <p:cNvCxnSpPr>
            <a:cxnSpLocks/>
          </p:cNvCxnSpPr>
          <p:nvPr/>
        </p:nvCxnSpPr>
        <p:spPr>
          <a:xfrm>
            <a:off x="3170296" y="2773685"/>
            <a:ext cx="0" cy="1117561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1">
            <a:extLst>
              <a:ext uri="{FF2B5EF4-FFF2-40B4-BE49-F238E27FC236}">
                <a16:creationId xmlns:a16="http://schemas.microsoft.com/office/drawing/2014/main" id="{F3F0C3CC-ED8A-4146-A2F1-9532901F1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2378" y="3650940"/>
            <a:ext cx="606513" cy="276999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1200"/>
              <a:t>abcdef</a:t>
            </a:r>
            <a:endParaRPr lang="ko-KR" altLang="en-US" sz="1200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78366E7D-5C98-454E-B7C7-BAC54B23D54E}"/>
              </a:ext>
            </a:extLst>
          </p:cNvPr>
          <p:cNvCxnSpPr>
            <a:cxnSpLocks/>
            <a:endCxn id="43" idx="1"/>
          </p:cNvCxnSpPr>
          <p:nvPr/>
        </p:nvCxnSpPr>
        <p:spPr>
          <a:xfrm>
            <a:off x="4220255" y="3787659"/>
            <a:ext cx="492123" cy="17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075E2299-2B5E-4F08-A0B7-9CEAC8B0A670}"/>
              </a:ext>
            </a:extLst>
          </p:cNvPr>
          <p:cNvCxnSpPr>
            <a:cxnSpLocks/>
          </p:cNvCxnSpPr>
          <p:nvPr/>
        </p:nvCxnSpPr>
        <p:spPr>
          <a:xfrm>
            <a:off x="4220255" y="2882252"/>
            <a:ext cx="0" cy="967505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750B371-4A42-43CA-B398-3C75ADEB2F86}"/>
              </a:ext>
            </a:extLst>
          </p:cNvPr>
          <p:cNvSpPr/>
          <p:nvPr/>
        </p:nvSpPr>
        <p:spPr>
          <a:xfrm>
            <a:off x="1738415" y="4203752"/>
            <a:ext cx="2528064" cy="11695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ko-KR" altLang="en-US" sz="14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새 작업 폴더 생성 </a:t>
            </a:r>
            <a:r>
              <a:rPr lang="en-US" altLang="ko-KR" sz="14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“abcdef”</a:t>
            </a:r>
          </a:p>
          <a:p>
            <a:pPr marL="342900" indent="-342900">
              <a:buFont typeface="+mj-ea"/>
              <a:buAutoNum type="circleNumDbPlain"/>
            </a:pPr>
            <a:r>
              <a:rPr lang="ko-KR" altLang="en-US" sz="14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폴더에 파일 복사함</a:t>
            </a:r>
            <a:endParaRPr lang="en-US" altLang="ko-KR" sz="14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en-US" altLang="ko-KR" sz="14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    - autoencoder_final.pth</a:t>
            </a:r>
          </a:p>
          <a:p>
            <a:r>
              <a:rPr lang="en-US" altLang="ko-KR" sz="14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    - scaler.pkl</a:t>
            </a:r>
          </a:p>
          <a:p>
            <a:r>
              <a:rPr lang="en-US" altLang="ko-KR" sz="14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    - env.ini 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0F9BEB4-A2C9-4B11-8608-BB1071DA56B8}"/>
              </a:ext>
            </a:extLst>
          </p:cNvPr>
          <p:cNvSpPr/>
          <p:nvPr/>
        </p:nvSpPr>
        <p:spPr>
          <a:xfrm>
            <a:off x="1092200" y="2107507"/>
            <a:ext cx="5072113" cy="3885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단계 </a:t>
            </a:r>
            <a:r>
              <a:rPr lang="en-US" altLang="ko-KR" sz="14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1) </a:t>
            </a:r>
            <a:r>
              <a:rPr lang="ko-KR" altLang="en-US" sz="14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서버에 새 작업 폴더 생성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3E62321-F72E-4C09-8A78-4C7602F002A0}"/>
              </a:ext>
            </a:extLst>
          </p:cNvPr>
          <p:cNvSpPr/>
          <p:nvPr/>
        </p:nvSpPr>
        <p:spPr>
          <a:xfrm>
            <a:off x="1092200" y="1209909"/>
            <a:ext cx="6769277" cy="393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30000"/>
              </a:lnSpc>
            </a:pPr>
            <a:r>
              <a:rPr lang="en-US" altLang="ko-KR" sz="1600">
                <a:solidFill>
                  <a:srgbClr val="0070C0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MMCam</a:t>
            </a:r>
            <a:r>
              <a:rPr lang="ko-KR" altLang="en-US" sz="1600">
                <a:solidFill>
                  <a:srgbClr val="0070C0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 분석 서버 </a:t>
            </a:r>
            <a:r>
              <a:rPr lang="en-US" altLang="ko-KR" sz="1600">
                <a:solidFill>
                  <a:srgbClr val="0070C0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: </a:t>
            </a:r>
            <a:r>
              <a:rPr lang="ko-KR" altLang="en-US" sz="1600">
                <a:solidFill>
                  <a:srgbClr val="0070C0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새 사용자 등록 절차</a:t>
            </a:r>
            <a:endParaRPr lang="en-US" altLang="ko-KR" sz="1600">
              <a:solidFill>
                <a:srgbClr val="0070C0"/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5F0E870-31BE-4678-9E8B-37CD7A8B1889}"/>
              </a:ext>
            </a:extLst>
          </p:cNvPr>
          <p:cNvSpPr/>
          <p:nvPr/>
        </p:nvSpPr>
        <p:spPr>
          <a:xfrm>
            <a:off x="5439989" y="4828122"/>
            <a:ext cx="2795957" cy="120032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※ 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실행 후 생성〮저장될 파일 리스트</a:t>
            </a:r>
            <a:endParaRPr lang="en-US" altLang="ko-KR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- grid_mask.ini</a:t>
            </a:r>
          </a:p>
          <a:p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- slave_0_sensor.inf</a:t>
            </a:r>
          </a:p>
          <a:p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- ir_img.csv</a:t>
            </a:r>
          </a:p>
          <a:p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- rgb_img.jpg</a:t>
            </a:r>
          </a:p>
          <a:p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- mach_area_mask.ini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B0B2C71-1378-42FA-8A36-6293173E2311}"/>
              </a:ext>
            </a:extLst>
          </p:cNvPr>
          <p:cNvSpPr/>
          <p:nvPr/>
        </p:nvSpPr>
        <p:spPr>
          <a:xfrm>
            <a:off x="5439990" y="4132630"/>
            <a:ext cx="2795958" cy="64633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※ autoencoder_final.pth 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는</a:t>
            </a:r>
            <a:endParaRPr lang="en-US" altLang="ko-KR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적용 작업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사용자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마다 다름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데이터 수집과</a:t>
            </a:r>
            <a:endParaRPr lang="en-US" altLang="ko-KR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학습 후에 작용별로 각각 생성함</a:t>
            </a:r>
            <a:endParaRPr lang="en-US" altLang="ko-KR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34656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FA066E1-204B-42C0-BA6C-F470BEB5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Page </a:t>
            </a:r>
            <a:fld id="{F03C90E3-98FA-4A46-95E3-0DCDD3916FEC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40" name="슬라이드 번호 개체 틀 9">
            <a:extLst>
              <a:ext uri="{FF2B5EF4-FFF2-40B4-BE49-F238E27FC236}">
                <a16:creationId xmlns:a16="http://schemas.microsoft.com/office/drawing/2014/main" id="{4E762CBC-F01B-4495-8D2E-234576288CF3}"/>
              </a:ext>
            </a:extLst>
          </p:cNvPr>
          <p:cNvSpPr txBox="1">
            <a:spLocks/>
          </p:cNvSpPr>
          <p:nvPr/>
        </p:nvSpPr>
        <p:spPr>
          <a:xfrm>
            <a:off x="8335472" y="6560598"/>
            <a:ext cx="810910" cy="2316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675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PAGE</a:t>
            </a:r>
            <a:fld id="{F2C57867-4DD3-42C3-B33F-35CD9A0E77A0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6B0935B-E778-474E-B2EA-3CE18DE92290}"/>
              </a:ext>
            </a:extLst>
          </p:cNvPr>
          <p:cNvSpPr/>
          <p:nvPr/>
        </p:nvSpPr>
        <p:spPr>
          <a:xfrm>
            <a:off x="1092199" y="3723009"/>
            <a:ext cx="21419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필요시 </a:t>
            </a:r>
            <a:r>
              <a:rPr lang="en-US" altLang="ko-KR" sz="14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env.ini </a:t>
            </a:r>
            <a:r>
              <a:rPr lang="ko-KR" altLang="en-US" sz="14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파일 수정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1131B88-28D2-4890-B20C-3E889A61043E}"/>
              </a:ext>
            </a:extLst>
          </p:cNvPr>
          <p:cNvSpPr/>
          <p:nvPr/>
        </p:nvSpPr>
        <p:spPr>
          <a:xfrm>
            <a:off x="1477116" y="4044814"/>
            <a:ext cx="4572000" cy="166199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>
            <a:spAutoFit/>
          </a:bodyPr>
          <a:lstStyle/>
          <a:p>
            <a:r>
              <a:rPr lang="ko-KR" altLang="en-US" sz="1100"/>
              <a:t>예</a:t>
            </a:r>
            <a:r>
              <a:rPr lang="en-US" altLang="ko-KR" sz="1100"/>
              <a:t>)</a:t>
            </a:r>
          </a:p>
          <a:p>
            <a:pPr algn="ctr"/>
            <a:r>
              <a:rPr lang="en-US" altLang="ko-KR" sz="1200" b="1"/>
              <a:t>.</a:t>
            </a:r>
          </a:p>
          <a:p>
            <a:pPr algn="ctr"/>
            <a:r>
              <a:rPr lang="en-US" altLang="ko-KR" sz="1200" b="1"/>
              <a:t>.</a:t>
            </a:r>
          </a:p>
          <a:p>
            <a:pPr algn="ctr"/>
            <a:r>
              <a:rPr lang="en-US" altLang="ko-KR" sz="1200" b="1"/>
              <a:t>.</a:t>
            </a:r>
          </a:p>
          <a:p>
            <a:r>
              <a:rPr lang="ko-KR" altLang="en-US" sz="1100"/>
              <a:t>[SHOW]</a:t>
            </a:r>
          </a:p>
          <a:p>
            <a:r>
              <a:rPr lang="ko-KR" altLang="en-US" sz="1100"/>
              <a:t>   ENABLE_SMS_ALERTS = 1   </a:t>
            </a:r>
            <a:r>
              <a:rPr lang="en-US" altLang="ko-KR" sz="1100"/>
              <a:t># SMS </a:t>
            </a:r>
            <a:r>
              <a:rPr lang="ko-KR" altLang="en-US" sz="1100"/>
              <a:t>공지 여부</a:t>
            </a:r>
          </a:p>
          <a:p>
            <a:r>
              <a:rPr lang="ko-KR" altLang="en-US" sz="1100"/>
              <a:t>   SHOW_THERMAL_IMG= 0  </a:t>
            </a:r>
            <a:r>
              <a:rPr lang="en-US" altLang="ko-KR" sz="1100"/>
              <a:t># IR </a:t>
            </a:r>
            <a:r>
              <a:rPr lang="ko-KR" altLang="en-US" sz="1100"/>
              <a:t>이미지 게시 여부 </a:t>
            </a:r>
          </a:p>
          <a:p>
            <a:r>
              <a:rPr lang="ko-KR" altLang="en-US" sz="1100"/>
              <a:t>   SX_WINDOW = 440  </a:t>
            </a:r>
            <a:r>
              <a:rPr lang="en-US" altLang="ko-KR" sz="1100"/>
              <a:t>#</a:t>
            </a:r>
            <a:r>
              <a:rPr lang="ko-KR" altLang="en-US" sz="1100"/>
              <a:t>관제기에 표시될 작업창의 </a:t>
            </a:r>
            <a:r>
              <a:rPr lang="en-US" altLang="ko-KR" sz="1100"/>
              <a:t>x </a:t>
            </a:r>
            <a:r>
              <a:rPr lang="ko-KR" altLang="en-US" sz="1100"/>
              <a:t>위치</a:t>
            </a:r>
          </a:p>
          <a:p>
            <a:r>
              <a:rPr lang="ko-KR" altLang="en-US" sz="1100"/>
              <a:t>   SY_WINDOW = 0       </a:t>
            </a:r>
            <a:r>
              <a:rPr lang="en-US" altLang="ko-KR" sz="1100"/>
              <a:t>#</a:t>
            </a:r>
            <a:r>
              <a:rPr lang="ko-KR" altLang="en-US" sz="1100"/>
              <a:t>관제기에 표시될 작업창의 </a:t>
            </a:r>
            <a:r>
              <a:rPr lang="en-US" altLang="ko-KR" sz="1100"/>
              <a:t>y </a:t>
            </a:r>
            <a:r>
              <a:rPr lang="ko-KR" altLang="en-US" sz="1100"/>
              <a:t>위치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099E3819-3B16-4FFA-ABFF-65B52B636CFE}"/>
              </a:ext>
            </a:extLst>
          </p:cNvPr>
          <p:cNvSpPr/>
          <p:nvPr/>
        </p:nvSpPr>
        <p:spPr>
          <a:xfrm>
            <a:off x="1078105" y="5805046"/>
            <a:ext cx="464851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4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mmc_monitoring </a:t>
            </a:r>
            <a:r>
              <a:rPr lang="ko-KR" altLang="en-US" sz="14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프로그램</a:t>
            </a:r>
            <a:r>
              <a:rPr lang="en-US" altLang="ko-KR" sz="14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(c++)</a:t>
            </a:r>
            <a:r>
              <a:rPr lang="ko-KR" altLang="en-US" sz="14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에 새 작업 등록 </a:t>
            </a:r>
            <a:r>
              <a:rPr lang="en-US" altLang="ko-KR" sz="14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→ </a:t>
            </a:r>
            <a:r>
              <a:rPr lang="ko-KR" altLang="en-US" sz="14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재실행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9AC190F-4937-44A3-8ABE-CBFBBB750D5C}"/>
              </a:ext>
            </a:extLst>
          </p:cNvPr>
          <p:cNvSpPr/>
          <p:nvPr/>
        </p:nvSpPr>
        <p:spPr>
          <a:xfrm>
            <a:off x="1078105" y="1709551"/>
            <a:ext cx="6310693" cy="192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단계</a:t>
            </a:r>
            <a:r>
              <a:rPr lang="en-US" altLang="ko-KR" sz="14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2) </a:t>
            </a:r>
            <a:r>
              <a:rPr lang="ko-KR" altLang="en-US" sz="14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새 작업</a:t>
            </a:r>
            <a:r>
              <a:rPr lang="en-US" altLang="ko-KR" sz="14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14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사용자</a:t>
            </a:r>
            <a:r>
              <a:rPr lang="en-US" altLang="ko-KR" sz="14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</a:t>
            </a:r>
            <a:r>
              <a:rPr lang="ko-KR" altLang="en-US" sz="14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을 위한 </a:t>
            </a:r>
            <a:r>
              <a:rPr lang="en-US" altLang="ko-KR" sz="14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DB </a:t>
            </a:r>
            <a:r>
              <a:rPr lang="ko-KR" altLang="en-US" sz="14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초기화 생성   </a:t>
            </a:r>
            <a:endParaRPr lang="en-US" altLang="ko-KR" sz="1400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  ex) python create_db.py cj_busan_1</a:t>
            </a:r>
          </a:p>
          <a:p>
            <a:r>
              <a:rPr lang="en-US" altLang="ko-KR" sz="14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	</a:t>
            </a:r>
            <a:r>
              <a:rPr lang="en-US" altLang="ko-KR" sz="1400" b="1">
                <a:solidFill>
                  <a:srgbClr val="0070C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cj_busan_1_</a:t>
            </a:r>
            <a:r>
              <a:rPr lang="en-US" altLang="ko-KR" sz="14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sensor_data</a:t>
            </a:r>
          </a:p>
          <a:p>
            <a:r>
              <a:rPr lang="en-US" altLang="ko-KR" sz="14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	</a:t>
            </a:r>
            <a:r>
              <a:rPr lang="en-US" altLang="ko-KR" sz="1400" b="1">
                <a:solidFill>
                  <a:srgbClr val="0070C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cj_busan_1_</a:t>
            </a:r>
            <a:r>
              <a:rPr lang="en-US" altLang="ko-KR" sz="14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results_history</a:t>
            </a:r>
          </a:p>
          <a:p>
            <a:pPr>
              <a:lnSpc>
                <a:spcPct val="150000"/>
              </a:lnSpc>
            </a:pPr>
            <a:r>
              <a:rPr lang="en-US" altLang="ko-KR" sz="14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  ex) python create_db.py kict1</a:t>
            </a:r>
          </a:p>
          <a:p>
            <a:r>
              <a:rPr lang="en-US" altLang="ko-KR" sz="14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	</a:t>
            </a:r>
            <a:r>
              <a:rPr lang="en-US" altLang="ko-KR" sz="1400" b="1">
                <a:solidFill>
                  <a:srgbClr val="0070C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kict1_</a:t>
            </a:r>
            <a:r>
              <a:rPr lang="en-US" altLang="ko-KR" sz="14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sensor_data</a:t>
            </a:r>
          </a:p>
          <a:p>
            <a:r>
              <a:rPr lang="en-US" altLang="ko-KR" sz="14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	</a:t>
            </a:r>
            <a:r>
              <a:rPr lang="en-US" altLang="ko-KR" sz="1400" b="1">
                <a:solidFill>
                  <a:srgbClr val="0070C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kict1</a:t>
            </a:r>
            <a:r>
              <a:rPr lang="en-US" altLang="ko-KR" sz="14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_results_history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1AD7FD9-6ECF-45A4-8BE8-AB95F6F16A8B}"/>
              </a:ext>
            </a:extLst>
          </p:cNvPr>
          <p:cNvSpPr/>
          <p:nvPr/>
        </p:nvSpPr>
        <p:spPr>
          <a:xfrm>
            <a:off x="1092200" y="1209909"/>
            <a:ext cx="6769277" cy="393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30000"/>
              </a:lnSpc>
            </a:pPr>
            <a:r>
              <a:rPr lang="en-US" altLang="ko-KR" sz="1600">
                <a:solidFill>
                  <a:srgbClr val="0070C0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MMCam</a:t>
            </a:r>
            <a:r>
              <a:rPr lang="ko-KR" altLang="en-US" sz="1600">
                <a:solidFill>
                  <a:srgbClr val="0070C0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 분석 서버 </a:t>
            </a:r>
            <a:r>
              <a:rPr lang="en-US" altLang="ko-KR" sz="1600">
                <a:solidFill>
                  <a:srgbClr val="0070C0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: </a:t>
            </a:r>
            <a:r>
              <a:rPr lang="ko-KR" altLang="en-US" sz="1600">
                <a:solidFill>
                  <a:srgbClr val="0070C0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새 사용자 등록 절차</a:t>
            </a:r>
            <a:endParaRPr lang="en-US" altLang="ko-KR" sz="1600">
              <a:solidFill>
                <a:srgbClr val="0070C0"/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3241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F542887B-423F-408B-B5D4-23EA599F3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398" y="3422466"/>
            <a:ext cx="3236710" cy="827628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FA066E1-204B-42C0-BA6C-F470BEB5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Page </a:t>
            </a:r>
            <a:fld id="{F03C90E3-98FA-4A46-95E3-0DCDD3916FEC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4C7F390-4766-4E5C-A950-C29ADA6B185D}"/>
              </a:ext>
            </a:extLst>
          </p:cNvPr>
          <p:cNvSpPr/>
          <p:nvPr/>
        </p:nvSpPr>
        <p:spPr>
          <a:xfrm>
            <a:off x="1092200" y="1209909"/>
            <a:ext cx="6769277" cy="393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30000"/>
              </a:lnSpc>
            </a:pPr>
            <a:r>
              <a:rPr lang="en-US" altLang="ko-KR" sz="1600">
                <a:solidFill>
                  <a:srgbClr val="0070C0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MMCam</a:t>
            </a:r>
            <a:r>
              <a:rPr lang="ko-KR" altLang="en-US" sz="1600">
                <a:solidFill>
                  <a:srgbClr val="0070C0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  모니터링 프로그램</a:t>
            </a:r>
            <a:endParaRPr lang="en-US" altLang="ko-KR" sz="1600">
              <a:solidFill>
                <a:srgbClr val="0070C0"/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</p:txBody>
      </p:sp>
      <p:sp>
        <p:nvSpPr>
          <p:cNvPr id="40" name="슬라이드 번호 개체 틀 9">
            <a:extLst>
              <a:ext uri="{FF2B5EF4-FFF2-40B4-BE49-F238E27FC236}">
                <a16:creationId xmlns:a16="http://schemas.microsoft.com/office/drawing/2014/main" id="{4E762CBC-F01B-4495-8D2E-234576288CF3}"/>
              </a:ext>
            </a:extLst>
          </p:cNvPr>
          <p:cNvSpPr txBox="1">
            <a:spLocks/>
          </p:cNvSpPr>
          <p:nvPr/>
        </p:nvSpPr>
        <p:spPr>
          <a:xfrm>
            <a:off x="8335472" y="6560598"/>
            <a:ext cx="810910" cy="2316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675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PAGE</a:t>
            </a:r>
            <a:fld id="{F2C57867-4DD3-42C3-B33F-35CD9A0E77A0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4D4DE7E-7D10-4A5B-9C3A-D9F4841ADA03}"/>
              </a:ext>
            </a:extLst>
          </p:cNvPr>
          <p:cNvSpPr/>
          <p:nvPr/>
        </p:nvSpPr>
        <p:spPr>
          <a:xfrm>
            <a:off x="1829824" y="3616417"/>
            <a:ext cx="1740394" cy="31854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mmc_monitoring.exe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0D43407-6650-4DC4-889C-2BB61C9AFE9D}"/>
              </a:ext>
            </a:extLst>
          </p:cNvPr>
          <p:cNvSpPr/>
          <p:nvPr/>
        </p:nvSpPr>
        <p:spPr>
          <a:xfrm>
            <a:off x="2214078" y="3298047"/>
            <a:ext cx="943272" cy="276999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[windows] </a:t>
            </a:r>
            <a:endParaRPr lang="ko-KR" altLang="en-US" sz="12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5BF4890-7F24-43CF-9906-96682DA0F2D3}"/>
              </a:ext>
            </a:extLst>
          </p:cNvPr>
          <p:cNvSpPr/>
          <p:nvPr/>
        </p:nvSpPr>
        <p:spPr>
          <a:xfrm>
            <a:off x="3444689" y="3668122"/>
            <a:ext cx="367408" cy="276999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⇒ </a:t>
            </a:r>
            <a:endParaRPr lang="ko-KR" altLang="en-US" sz="120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CBEBA07-BEFD-4B69-8C0C-165042B61672}"/>
              </a:ext>
            </a:extLst>
          </p:cNvPr>
          <p:cNvSpPr/>
          <p:nvPr/>
        </p:nvSpPr>
        <p:spPr>
          <a:xfrm>
            <a:off x="3077281" y="3300244"/>
            <a:ext cx="229550" cy="276999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 </a:t>
            </a:r>
            <a:endParaRPr lang="ko-KR" altLang="en-US" sz="120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07B736EB-B961-432E-8D21-E8687BBE24B2}"/>
              </a:ext>
            </a:extLst>
          </p:cNvPr>
          <p:cNvSpPr/>
          <p:nvPr/>
        </p:nvSpPr>
        <p:spPr>
          <a:xfrm>
            <a:off x="1834091" y="3539409"/>
            <a:ext cx="1685854" cy="498044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DEAA3D-005B-4737-88B8-B3667A31D097}"/>
              </a:ext>
            </a:extLst>
          </p:cNvPr>
          <p:cNvSpPr txBox="1"/>
          <p:nvPr/>
        </p:nvSpPr>
        <p:spPr>
          <a:xfrm>
            <a:off x="944561" y="4323919"/>
            <a:ext cx="38074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>
                <a:latin typeface="+mj-ea"/>
                <a:ea typeface="+mj-ea"/>
              </a:rPr>
              <a:t>구성 프로그램들을 일제히 실행시키고 모니터일함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5B108A6-95A0-4A57-8C46-381BE50D718F}"/>
              </a:ext>
            </a:extLst>
          </p:cNvPr>
          <p:cNvSpPr/>
          <p:nvPr/>
        </p:nvSpPr>
        <p:spPr>
          <a:xfrm>
            <a:off x="3712875" y="3092157"/>
            <a:ext cx="16173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/>
              <a:t>otg_monitor_config.ini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DFD0D6CC-59F1-420C-98F8-C5D4E4464E1E}"/>
              </a:ext>
            </a:extLst>
          </p:cNvPr>
          <p:cNvCxnSpPr>
            <a:cxnSpLocks/>
          </p:cNvCxnSpPr>
          <p:nvPr/>
        </p:nvCxnSpPr>
        <p:spPr>
          <a:xfrm flipV="1">
            <a:off x="3821887" y="3298460"/>
            <a:ext cx="0" cy="36966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E1E9D7D-5F89-4974-8C6D-1D4A89868298}"/>
              </a:ext>
            </a:extLst>
          </p:cNvPr>
          <p:cNvSpPr/>
          <p:nvPr/>
        </p:nvSpPr>
        <p:spPr>
          <a:xfrm>
            <a:off x="5294750" y="3072589"/>
            <a:ext cx="114287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/>
              <a:t>scan</a:t>
            </a:r>
            <a:r>
              <a:rPr lang="ko-KR" altLang="en-US" sz="1200"/>
              <a:t> </a:t>
            </a:r>
            <a:r>
              <a:rPr lang="en-US" altLang="ko-KR" sz="1200"/>
              <a:t>interval</a:t>
            </a:r>
            <a:endParaRPr lang="ko-KR" altLang="en-US" sz="120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5475D2D1-9103-4293-B3DB-098759E59F94}"/>
              </a:ext>
            </a:extLst>
          </p:cNvPr>
          <p:cNvGrpSpPr/>
          <p:nvPr/>
        </p:nvGrpSpPr>
        <p:grpSpPr>
          <a:xfrm>
            <a:off x="1107894" y="4933311"/>
            <a:ext cx="1740394" cy="498044"/>
            <a:chOff x="4047941" y="5226876"/>
            <a:chExt cx="1740394" cy="498044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BB607E16-3FAA-4566-8EF2-354F584875ED}"/>
                </a:ext>
              </a:extLst>
            </p:cNvPr>
            <p:cNvSpPr/>
            <p:nvPr/>
          </p:nvSpPr>
          <p:spPr>
            <a:xfrm>
              <a:off x="4047941" y="5294077"/>
              <a:ext cx="1740394" cy="307777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/>
                <a:t>server_to_db.py</a:t>
              </a:r>
              <a:endParaRPr lang="ko-KR" altLang="en-US" sz="1400"/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C2035C6E-FF3C-4D57-9612-7033D9CED0F2}"/>
                </a:ext>
              </a:extLst>
            </p:cNvPr>
            <p:cNvSpPr/>
            <p:nvPr/>
          </p:nvSpPr>
          <p:spPr>
            <a:xfrm>
              <a:off x="4153982" y="5226876"/>
              <a:ext cx="1564687" cy="498044"/>
            </a:xfrm>
            <a:prstGeom prst="ellips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5789DFD5-4C04-42CC-954F-D697B62D7941}"/>
              </a:ext>
            </a:extLst>
          </p:cNvPr>
          <p:cNvGrpSpPr/>
          <p:nvPr/>
        </p:nvGrpSpPr>
        <p:grpSpPr>
          <a:xfrm>
            <a:off x="2850798" y="4933311"/>
            <a:ext cx="1740394" cy="498044"/>
            <a:chOff x="4047941" y="5226876"/>
            <a:chExt cx="1740394" cy="498044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94DF2DF5-8EAA-43D4-8296-591ACBFB8702}"/>
                </a:ext>
              </a:extLst>
            </p:cNvPr>
            <p:cNvSpPr/>
            <p:nvPr/>
          </p:nvSpPr>
          <p:spPr>
            <a:xfrm>
              <a:off x="4047941" y="5294077"/>
              <a:ext cx="1740394" cy="307777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/>
                <a:t>predict_machine.py</a:t>
              </a:r>
              <a:endParaRPr lang="ko-KR" altLang="en-US" sz="1400"/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7B9549A5-8D0F-4ADA-AE93-7FC4C16AE341}"/>
                </a:ext>
              </a:extLst>
            </p:cNvPr>
            <p:cNvSpPr/>
            <p:nvPr/>
          </p:nvSpPr>
          <p:spPr>
            <a:xfrm>
              <a:off x="4153982" y="5226876"/>
              <a:ext cx="1564687" cy="498044"/>
            </a:xfrm>
            <a:prstGeom prst="ellips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F1346B32-BB98-4766-9D63-0CAB8BA740F0}"/>
              </a:ext>
            </a:extLst>
          </p:cNvPr>
          <p:cNvGrpSpPr/>
          <p:nvPr/>
        </p:nvGrpSpPr>
        <p:grpSpPr>
          <a:xfrm>
            <a:off x="4697233" y="4920388"/>
            <a:ext cx="1740394" cy="523889"/>
            <a:chOff x="4048517" y="5201031"/>
            <a:chExt cx="1740394" cy="523889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EF6E4FBF-E463-4728-9889-8AD2C03E1F22}"/>
                </a:ext>
              </a:extLst>
            </p:cNvPr>
            <p:cNvSpPr/>
            <p:nvPr/>
          </p:nvSpPr>
          <p:spPr>
            <a:xfrm>
              <a:off x="4048517" y="5201031"/>
              <a:ext cx="1740394" cy="523220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/>
                <a:t>openpifpaf</a:t>
              </a:r>
            </a:p>
            <a:p>
              <a:pPr algn="ctr"/>
              <a:r>
                <a:rPr lang="en-US" altLang="ko-KR" sz="1400"/>
                <a:t>.fall_detection</a:t>
              </a:r>
              <a:endParaRPr lang="ko-KR" altLang="en-US" sz="1400"/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6E15020C-473F-435B-BFC6-297BE330A276}"/>
                </a:ext>
              </a:extLst>
            </p:cNvPr>
            <p:cNvSpPr/>
            <p:nvPr/>
          </p:nvSpPr>
          <p:spPr>
            <a:xfrm>
              <a:off x="4153982" y="5226876"/>
              <a:ext cx="1564687" cy="498044"/>
            </a:xfrm>
            <a:prstGeom prst="ellips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7" name="타원 26">
            <a:extLst>
              <a:ext uri="{FF2B5EF4-FFF2-40B4-BE49-F238E27FC236}">
                <a16:creationId xmlns:a16="http://schemas.microsoft.com/office/drawing/2014/main" id="{90D8DC65-0354-4871-B8B5-BC9AA03EA6EC}"/>
              </a:ext>
            </a:extLst>
          </p:cNvPr>
          <p:cNvSpPr/>
          <p:nvPr/>
        </p:nvSpPr>
        <p:spPr>
          <a:xfrm>
            <a:off x="5154847" y="3581894"/>
            <a:ext cx="321549" cy="28892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A85CE5EF-B6A5-403A-AE08-D6221F1EDE1B}"/>
              </a:ext>
            </a:extLst>
          </p:cNvPr>
          <p:cNvCxnSpPr>
            <a:cxnSpLocks/>
            <a:stCxn id="47" idx="2"/>
            <a:endCxn id="30" idx="0"/>
          </p:cNvCxnSpPr>
          <p:nvPr/>
        </p:nvCxnSpPr>
        <p:spPr>
          <a:xfrm flipH="1">
            <a:off x="1996279" y="4693250"/>
            <a:ext cx="2710409" cy="240061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64B9A9CE-FB5A-4B29-B2B1-A8662992F7A1}"/>
              </a:ext>
            </a:extLst>
          </p:cNvPr>
          <p:cNvCxnSpPr>
            <a:cxnSpLocks/>
            <a:stCxn id="47" idx="2"/>
            <a:endCxn id="34" idx="0"/>
          </p:cNvCxnSpPr>
          <p:nvPr/>
        </p:nvCxnSpPr>
        <p:spPr>
          <a:xfrm flipH="1">
            <a:off x="3739183" y="4693250"/>
            <a:ext cx="967505" cy="240061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1B04DEF3-F336-4E21-B054-1027977A4FBA}"/>
              </a:ext>
            </a:extLst>
          </p:cNvPr>
          <p:cNvCxnSpPr>
            <a:cxnSpLocks/>
            <a:stCxn id="47" idx="2"/>
            <a:endCxn id="38" idx="0"/>
          </p:cNvCxnSpPr>
          <p:nvPr/>
        </p:nvCxnSpPr>
        <p:spPr>
          <a:xfrm>
            <a:off x="4706688" y="4693250"/>
            <a:ext cx="878354" cy="252983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화살표: 아래쪽 46">
            <a:extLst>
              <a:ext uri="{FF2B5EF4-FFF2-40B4-BE49-F238E27FC236}">
                <a16:creationId xmlns:a16="http://schemas.microsoft.com/office/drawing/2014/main" id="{158DD25C-D280-4D08-808E-E2EA9F64D2D6}"/>
              </a:ext>
            </a:extLst>
          </p:cNvPr>
          <p:cNvSpPr/>
          <p:nvPr/>
        </p:nvSpPr>
        <p:spPr>
          <a:xfrm rot="2030545">
            <a:off x="4930373" y="3770380"/>
            <a:ext cx="114156" cy="1008286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DAE987DD-65D2-4945-90D1-A34569948CDA}"/>
              </a:ext>
            </a:extLst>
          </p:cNvPr>
          <p:cNvSpPr/>
          <p:nvPr/>
        </p:nvSpPr>
        <p:spPr>
          <a:xfrm>
            <a:off x="5176193" y="4434443"/>
            <a:ext cx="2752708" cy="29059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/>
              <a:t>conda activate otg</a:t>
            </a:r>
            <a:endParaRPr lang="ko-KR" altLang="en-US" sz="1600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71EC1F99-61F3-42AD-9C82-9282DECD0606}"/>
              </a:ext>
            </a:extLst>
          </p:cNvPr>
          <p:cNvSpPr/>
          <p:nvPr/>
        </p:nvSpPr>
        <p:spPr>
          <a:xfrm>
            <a:off x="6485035" y="4933311"/>
            <a:ext cx="2061783" cy="64633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altLang="ko-KR" sz="1200"/>
              <a:t>3</a:t>
            </a:r>
            <a:r>
              <a:rPr lang="ko-KR" altLang="en-US" sz="1200"/>
              <a:t>개 실행 프로그램의 내용은</a:t>
            </a:r>
            <a:endParaRPr lang="en-US" altLang="ko-KR" sz="1200"/>
          </a:p>
          <a:p>
            <a:r>
              <a:rPr lang="en-US" altLang="ko-KR" sz="1200"/>
              <a:t>“multi_modal\debug_logs”</a:t>
            </a:r>
          </a:p>
          <a:p>
            <a:r>
              <a:rPr lang="ko-KR" altLang="en-US" sz="1200"/>
              <a:t>폴더에 </a:t>
            </a:r>
            <a:r>
              <a:rPr lang="en-US" altLang="ko-KR" sz="1200"/>
              <a:t>log </a:t>
            </a:r>
            <a:r>
              <a:rPr lang="ko-KR" altLang="en-US" sz="1200"/>
              <a:t>파일로 저장됨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5F23CB0-899E-42A1-B42F-8EEE037005F3}"/>
              </a:ext>
            </a:extLst>
          </p:cNvPr>
          <p:cNvSpPr txBox="1"/>
          <p:nvPr/>
        </p:nvSpPr>
        <p:spPr>
          <a:xfrm>
            <a:off x="2936141" y="5710162"/>
            <a:ext cx="173417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200"/>
              <a:t>..\Desktop\multi_modalpridict_machine\</a:t>
            </a:r>
            <a:endParaRPr lang="ko-KR" altLang="en-US" sz="12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EE2261D-95B0-43E3-8CBB-3834E6D32F52}"/>
              </a:ext>
            </a:extLst>
          </p:cNvPr>
          <p:cNvSpPr txBox="1"/>
          <p:nvPr/>
        </p:nvSpPr>
        <p:spPr>
          <a:xfrm>
            <a:off x="4645583" y="5710162"/>
            <a:ext cx="3491853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200"/>
              <a:t>..\anaconda3\envs\otg\Lib\site-packages\openpifpaf</a:t>
            </a:r>
            <a:endParaRPr lang="ko-KR" altLang="en-US" sz="1200"/>
          </a:p>
        </p:txBody>
      </p:sp>
      <p:sp>
        <p:nvSpPr>
          <p:cNvPr id="61" name="화살표: 아래쪽 60">
            <a:extLst>
              <a:ext uri="{FF2B5EF4-FFF2-40B4-BE49-F238E27FC236}">
                <a16:creationId xmlns:a16="http://schemas.microsoft.com/office/drawing/2014/main" id="{9E340E28-CBF3-4985-87FF-7CB6F5E9CC9C}"/>
              </a:ext>
            </a:extLst>
          </p:cNvPr>
          <p:cNvSpPr/>
          <p:nvPr/>
        </p:nvSpPr>
        <p:spPr>
          <a:xfrm>
            <a:off x="3673957" y="5394280"/>
            <a:ext cx="114194" cy="382111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화살표: 아래쪽 62">
            <a:extLst>
              <a:ext uri="{FF2B5EF4-FFF2-40B4-BE49-F238E27FC236}">
                <a16:creationId xmlns:a16="http://schemas.microsoft.com/office/drawing/2014/main" id="{F4D23DB4-49B2-424A-9385-086F05C8AFB7}"/>
              </a:ext>
            </a:extLst>
          </p:cNvPr>
          <p:cNvSpPr/>
          <p:nvPr/>
        </p:nvSpPr>
        <p:spPr>
          <a:xfrm>
            <a:off x="5558701" y="5375490"/>
            <a:ext cx="114194" cy="382111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856349B-BA83-4852-946F-A5A639C84FCB}"/>
              </a:ext>
            </a:extLst>
          </p:cNvPr>
          <p:cNvSpPr txBox="1"/>
          <p:nvPr/>
        </p:nvSpPr>
        <p:spPr>
          <a:xfrm>
            <a:off x="1091848" y="5710162"/>
            <a:ext cx="173417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200"/>
              <a:t>..\Desktop\multi_modal\</a:t>
            </a:r>
            <a:endParaRPr lang="ko-KR" altLang="en-US" sz="1200"/>
          </a:p>
        </p:txBody>
      </p:sp>
      <p:sp>
        <p:nvSpPr>
          <p:cNvPr id="58" name="화살표: 아래쪽 57">
            <a:extLst>
              <a:ext uri="{FF2B5EF4-FFF2-40B4-BE49-F238E27FC236}">
                <a16:creationId xmlns:a16="http://schemas.microsoft.com/office/drawing/2014/main" id="{B94B87FD-9CD5-4AF2-988C-09965BBD5C5C}"/>
              </a:ext>
            </a:extLst>
          </p:cNvPr>
          <p:cNvSpPr/>
          <p:nvPr/>
        </p:nvSpPr>
        <p:spPr>
          <a:xfrm>
            <a:off x="1863897" y="5375490"/>
            <a:ext cx="114194" cy="382111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48DF2D39-E1B0-4071-805C-DF2CAFF94F84}"/>
              </a:ext>
            </a:extLst>
          </p:cNvPr>
          <p:cNvCxnSpPr>
            <a:cxnSpLocks/>
          </p:cNvCxnSpPr>
          <p:nvPr/>
        </p:nvCxnSpPr>
        <p:spPr>
          <a:xfrm>
            <a:off x="2242252" y="2403494"/>
            <a:ext cx="0" cy="48408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1">
            <a:extLst>
              <a:ext uri="{FF2B5EF4-FFF2-40B4-BE49-F238E27FC236}">
                <a16:creationId xmlns:a16="http://schemas.microsoft.com/office/drawing/2014/main" id="{53F2B9DF-FB5E-4376-A707-B25C4CBA3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4224" y="2543500"/>
            <a:ext cx="1227772" cy="276999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otg_monitoring</a:t>
            </a:r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755CAF5C-60F9-4F29-8648-0794EADB1E16}"/>
              </a:ext>
            </a:extLst>
          </p:cNvPr>
          <p:cNvCxnSpPr>
            <a:cxnSpLocks/>
          </p:cNvCxnSpPr>
          <p:nvPr/>
        </p:nvCxnSpPr>
        <p:spPr>
          <a:xfrm>
            <a:off x="2233786" y="2682000"/>
            <a:ext cx="270438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2153E6D8-C79C-4CF3-BFF6-289192887982}"/>
              </a:ext>
            </a:extLst>
          </p:cNvPr>
          <p:cNvSpPr/>
          <p:nvPr/>
        </p:nvSpPr>
        <p:spPr>
          <a:xfrm>
            <a:off x="3754486" y="2543500"/>
            <a:ext cx="231155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(VC++) otg_monitoring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.sln</a:t>
            </a:r>
            <a:endParaRPr lang="ko-KR" altLang="en-US" sz="1200">
              <a:solidFill>
                <a:schemeClr val="tx1">
                  <a:lumMod val="65000"/>
                  <a:lumOff val="35000"/>
                </a:schemeClr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D224B65-495B-4365-AF8D-0E9364861BBF}"/>
              </a:ext>
            </a:extLst>
          </p:cNvPr>
          <p:cNvSpPr/>
          <p:nvPr/>
        </p:nvSpPr>
        <p:spPr>
          <a:xfrm>
            <a:off x="3754486" y="2744579"/>
            <a:ext cx="185820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>
                <a:latin typeface="+mj-ea"/>
                <a:cs typeface="KoPubWorld돋움체_Pro Bold" panose="00000800000000000000" pitchFamily="50" charset="-127"/>
              </a:rPr>
              <a:t>설치 운영 모니터링 프로그램</a:t>
            </a:r>
            <a:endParaRPr lang="ko-KR" altLang="en-US" sz="1000">
              <a:latin typeface="+mj-ea"/>
            </a:endParaRPr>
          </a:p>
        </p:txBody>
      </p:sp>
      <p:sp>
        <p:nvSpPr>
          <p:cNvPr id="54" name="Rectangle 1">
            <a:extLst>
              <a:ext uri="{FF2B5EF4-FFF2-40B4-BE49-F238E27FC236}">
                <a16:creationId xmlns:a16="http://schemas.microsoft.com/office/drawing/2014/main" id="{190D0570-CD20-4F55-B57E-C77682262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2138" y="2136514"/>
            <a:ext cx="1031051" cy="276999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multi_modal</a:t>
            </a:r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FA16E6E-2342-4616-A41E-A889DBC4D877}"/>
              </a:ext>
            </a:extLst>
          </p:cNvPr>
          <p:cNvSpPr/>
          <p:nvPr/>
        </p:nvSpPr>
        <p:spPr>
          <a:xfrm>
            <a:off x="6589835" y="1332998"/>
            <a:ext cx="1740394" cy="30777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1400"/>
              <a:t>server_to_db.py</a:t>
            </a:r>
            <a:endParaRPr lang="ko-KR" altLang="en-US" sz="140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E0018B7C-2256-4C46-8B42-FD6A428767DE}"/>
              </a:ext>
            </a:extLst>
          </p:cNvPr>
          <p:cNvSpPr/>
          <p:nvPr/>
        </p:nvSpPr>
        <p:spPr>
          <a:xfrm>
            <a:off x="6581043" y="1861482"/>
            <a:ext cx="1740394" cy="30777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1400"/>
              <a:t>predict_machine.py</a:t>
            </a:r>
            <a:endParaRPr lang="ko-KR" altLang="en-US" sz="1400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1B3A3199-CE26-4F8D-A2F1-B48A7AF16728}"/>
              </a:ext>
            </a:extLst>
          </p:cNvPr>
          <p:cNvSpPr/>
          <p:nvPr/>
        </p:nvSpPr>
        <p:spPr>
          <a:xfrm>
            <a:off x="6589835" y="2360956"/>
            <a:ext cx="1740394" cy="52322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1400"/>
              <a:t>openpifpaf</a:t>
            </a:r>
          </a:p>
          <a:p>
            <a:pPr algn="ctr"/>
            <a:r>
              <a:rPr lang="en-US" altLang="ko-KR" sz="1400"/>
              <a:t>.fall_detection</a:t>
            </a:r>
            <a:endParaRPr lang="ko-KR" altLang="en-US" sz="1400"/>
          </a:p>
        </p:txBody>
      </p:sp>
      <p:sp>
        <p:nvSpPr>
          <p:cNvPr id="4" name="화살표: 아래쪽 3">
            <a:extLst>
              <a:ext uri="{FF2B5EF4-FFF2-40B4-BE49-F238E27FC236}">
                <a16:creationId xmlns:a16="http://schemas.microsoft.com/office/drawing/2014/main" id="{1D8D1274-F090-4BE7-BA88-FB41EB078A4F}"/>
              </a:ext>
            </a:extLst>
          </p:cNvPr>
          <p:cNvSpPr/>
          <p:nvPr/>
        </p:nvSpPr>
        <p:spPr>
          <a:xfrm>
            <a:off x="7340587" y="1594143"/>
            <a:ext cx="238889" cy="252106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화살표: 아래쪽 59">
            <a:extLst>
              <a:ext uri="{FF2B5EF4-FFF2-40B4-BE49-F238E27FC236}">
                <a16:creationId xmlns:a16="http://schemas.microsoft.com/office/drawing/2014/main" id="{BBBC4DFC-76D8-4A41-970E-7BD83B6E06C7}"/>
              </a:ext>
            </a:extLst>
          </p:cNvPr>
          <p:cNvSpPr/>
          <p:nvPr/>
        </p:nvSpPr>
        <p:spPr>
          <a:xfrm>
            <a:off x="7341094" y="2195587"/>
            <a:ext cx="238889" cy="252106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E8FA7E26-8303-4CB0-ABE8-0EA5D9D32141}"/>
              </a:ext>
            </a:extLst>
          </p:cNvPr>
          <p:cNvSpPr/>
          <p:nvPr/>
        </p:nvSpPr>
        <p:spPr>
          <a:xfrm>
            <a:off x="6837080" y="1027876"/>
            <a:ext cx="130035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>
                <a:latin typeface="+mj-ea"/>
                <a:cs typeface="KoPubWorld돋움체_Pro Bold" panose="00000800000000000000" pitchFamily="50" charset="-127"/>
              </a:rPr>
              <a:t>프로그램 실행 순서</a:t>
            </a:r>
            <a:endParaRPr lang="ko-KR" altLang="en-US" sz="1000" b="1">
              <a:latin typeface="+mj-ea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E451C39B-21C8-4AF3-A389-25B77B8EE820}"/>
              </a:ext>
            </a:extLst>
          </p:cNvPr>
          <p:cNvSpPr/>
          <p:nvPr/>
        </p:nvSpPr>
        <p:spPr>
          <a:xfrm>
            <a:off x="7487042" y="1638283"/>
            <a:ext cx="104387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>
                <a:latin typeface="+mj-ea"/>
                <a:cs typeface="KoPubWorld돋움체_Pro Bold" panose="00000800000000000000" pitchFamily="50" charset="-127"/>
              </a:rPr>
              <a:t>시간 지연 필요</a:t>
            </a:r>
            <a:endParaRPr lang="ko-KR" altLang="en-US" sz="1000" b="1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6000907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FA066E1-204B-42C0-BA6C-F470BEB5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Page </a:t>
            </a:r>
            <a:fld id="{F03C90E3-98FA-4A46-95E3-0DCDD3916FEC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40" name="슬라이드 번호 개체 틀 9">
            <a:extLst>
              <a:ext uri="{FF2B5EF4-FFF2-40B4-BE49-F238E27FC236}">
                <a16:creationId xmlns:a16="http://schemas.microsoft.com/office/drawing/2014/main" id="{4E762CBC-F01B-4495-8D2E-234576288CF3}"/>
              </a:ext>
            </a:extLst>
          </p:cNvPr>
          <p:cNvSpPr txBox="1">
            <a:spLocks/>
          </p:cNvSpPr>
          <p:nvPr/>
        </p:nvSpPr>
        <p:spPr>
          <a:xfrm>
            <a:off x="8335472" y="6560598"/>
            <a:ext cx="810910" cy="2316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675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PAGE</a:t>
            </a:r>
            <a:fld id="{F2C57867-4DD3-42C3-B33F-35CD9A0E77A0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FB400B8-D176-48E6-B7F4-24556020552C}"/>
              </a:ext>
            </a:extLst>
          </p:cNvPr>
          <p:cNvSpPr txBox="1"/>
          <p:nvPr/>
        </p:nvSpPr>
        <p:spPr>
          <a:xfrm>
            <a:off x="1462392" y="2111151"/>
            <a:ext cx="17669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RGB</a:t>
            </a:r>
            <a:r>
              <a:rPr lang="ko-KR" altLang="en-US" sz="12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이미지 </a:t>
            </a:r>
            <a:r>
              <a:rPr lang="en-US" altLang="ko-KR" sz="12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#JOB_ID_0</a:t>
            </a:r>
            <a:endParaRPr lang="ko-KR" altLang="en-US" sz="1200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045CD81-4BF2-433A-BB91-8B40B0CB18CD}"/>
              </a:ext>
            </a:extLst>
          </p:cNvPr>
          <p:cNvSpPr txBox="1"/>
          <p:nvPr/>
        </p:nvSpPr>
        <p:spPr>
          <a:xfrm>
            <a:off x="2267565" y="4743267"/>
            <a:ext cx="1082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현재 검출 정보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99BB6C7-0F94-448D-8665-CAC4C4BEAECC}"/>
              </a:ext>
            </a:extLst>
          </p:cNvPr>
          <p:cNvSpPr txBox="1"/>
          <p:nvPr/>
        </p:nvSpPr>
        <p:spPr>
          <a:xfrm>
            <a:off x="5127995" y="4743267"/>
            <a:ext cx="12170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검출 온도 분포도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BA1FDD8-62F8-493A-82AC-F4F1E870B7B4}"/>
              </a:ext>
            </a:extLst>
          </p:cNvPr>
          <p:cNvSpPr txBox="1"/>
          <p:nvPr/>
        </p:nvSpPr>
        <p:spPr>
          <a:xfrm>
            <a:off x="5823740" y="1926485"/>
            <a:ext cx="20377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MMC </a:t>
            </a:r>
            <a:r>
              <a:rPr lang="ko-KR" altLang="en-US" sz="12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모니터링 실핼 프로그램</a:t>
            </a:r>
            <a:endParaRPr lang="en-US" altLang="ko-KR" sz="1200" b="1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en-US" altLang="ko-KR" sz="12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mmc_monitoring.exe</a:t>
            </a:r>
            <a:endParaRPr lang="ko-KR" altLang="en-US" sz="1200" b="1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DF5CF49-B782-418D-BC16-CD858EEB0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" y="2453895"/>
            <a:ext cx="7058269" cy="256637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75633D6-5230-4F71-842A-914A373C69A9}"/>
              </a:ext>
            </a:extLst>
          </p:cNvPr>
          <p:cNvSpPr txBox="1"/>
          <p:nvPr/>
        </p:nvSpPr>
        <p:spPr>
          <a:xfrm>
            <a:off x="3359434" y="2111152"/>
            <a:ext cx="17685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RGB</a:t>
            </a:r>
            <a:r>
              <a:rPr lang="ko-KR" altLang="en-US" sz="12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이미지 </a:t>
            </a:r>
            <a:r>
              <a:rPr lang="en-US" altLang="ko-KR" sz="12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#JOB_ID_1</a:t>
            </a:r>
            <a:endParaRPr lang="ko-KR" altLang="en-US" sz="1200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7D2148B-DCB4-4777-BED0-CEF65A88CC9F}"/>
              </a:ext>
            </a:extLst>
          </p:cNvPr>
          <p:cNvSpPr/>
          <p:nvPr/>
        </p:nvSpPr>
        <p:spPr>
          <a:xfrm>
            <a:off x="1092200" y="1209909"/>
            <a:ext cx="6769277" cy="393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30000"/>
              </a:lnSpc>
            </a:pPr>
            <a:r>
              <a:rPr lang="en-US" altLang="ko-KR" sz="1600">
                <a:solidFill>
                  <a:srgbClr val="0070C0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MMCam</a:t>
            </a:r>
            <a:r>
              <a:rPr lang="ko-KR" altLang="en-US" sz="1600">
                <a:solidFill>
                  <a:srgbClr val="0070C0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  모니터링 프로그램</a:t>
            </a:r>
            <a:endParaRPr lang="en-US" altLang="ko-KR" sz="1600">
              <a:solidFill>
                <a:srgbClr val="0070C0"/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82715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FA066E1-204B-42C0-BA6C-F470BEB5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Page </a:t>
            </a:r>
            <a:fld id="{F03C90E3-98FA-4A46-95E3-0DCDD3916FEC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40" name="슬라이드 번호 개체 틀 9">
            <a:extLst>
              <a:ext uri="{FF2B5EF4-FFF2-40B4-BE49-F238E27FC236}">
                <a16:creationId xmlns:a16="http://schemas.microsoft.com/office/drawing/2014/main" id="{4E762CBC-F01B-4495-8D2E-234576288CF3}"/>
              </a:ext>
            </a:extLst>
          </p:cNvPr>
          <p:cNvSpPr txBox="1">
            <a:spLocks/>
          </p:cNvSpPr>
          <p:nvPr/>
        </p:nvSpPr>
        <p:spPr>
          <a:xfrm>
            <a:off x="8335472" y="6560598"/>
            <a:ext cx="810910" cy="2316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675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PAGE</a:t>
            </a:r>
            <a:fld id="{F2C57867-4DD3-42C3-B33F-35CD9A0E77A0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9AC190F-4937-44A3-8ABE-CBFBBB750D5C}"/>
              </a:ext>
            </a:extLst>
          </p:cNvPr>
          <p:cNvSpPr/>
          <p:nvPr/>
        </p:nvSpPr>
        <p:spPr>
          <a:xfrm>
            <a:off x="1092200" y="1894189"/>
            <a:ext cx="6310693" cy="3885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설정 파일과 파이썬 상수 선언 코드를 이용하여 초기 환경 설정</a:t>
            </a:r>
            <a:endParaRPr lang="en-US" altLang="ko-KR" sz="1400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1AD7FD9-6ECF-45A4-8BE8-AB95F6F16A8B}"/>
              </a:ext>
            </a:extLst>
          </p:cNvPr>
          <p:cNvSpPr/>
          <p:nvPr/>
        </p:nvSpPr>
        <p:spPr>
          <a:xfrm>
            <a:off x="1092200" y="1209909"/>
            <a:ext cx="6769277" cy="393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30000"/>
              </a:lnSpc>
            </a:pPr>
            <a:r>
              <a:rPr lang="en-US" altLang="ko-KR" sz="1600">
                <a:solidFill>
                  <a:srgbClr val="0070C0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MMCam</a:t>
            </a:r>
            <a:r>
              <a:rPr lang="ko-KR" altLang="en-US" sz="1600">
                <a:solidFill>
                  <a:srgbClr val="0070C0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 분석 서버 </a:t>
            </a:r>
            <a:r>
              <a:rPr lang="en-US" altLang="ko-KR" sz="1600">
                <a:solidFill>
                  <a:srgbClr val="0070C0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: </a:t>
            </a:r>
            <a:r>
              <a:rPr lang="ko-KR" altLang="en-US" sz="1600">
                <a:solidFill>
                  <a:srgbClr val="0070C0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환경 설정</a:t>
            </a:r>
            <a:endParaRPr lang="en-US" altLang="ko-KR" sz="1600">
              <a:solidFill>
                <a:srgbClr val="0070C0"/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D24DDA3-337D-44C8-9AB1-4AD9E75AA80B}"/>
              </a:ext>
            </a:extLst>
          </p:cNvPr>
          <p:cNvSpPr/>
          <p:nvPr/>
        </p:nvSpPr>
        <p:spPr>
          <a:xfrm>
            <a:off x="3256607" y="3177012"/>
            <a:ext cx="2221001" cy="318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 fontAlgn="base">
              <a:lnSpc>
                <a:spcPct val="130000"/>
              </a:lnSpc>
            </a:pPr>
            <a:r>
              <a:rPr lang="en-US" altLang="ko-KR" sz="1200">
                <a:solidFill>
                  <a:srgbClr val="0070C0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[env.ini]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4CA61DC-05B0-4E9E-8896-1696F16B6C02}"/>
              </a:ext>
            </a:extLst>
          </p:cNvPr>
          <p:cNvSpPr/>
          <p:nvPr/>
        </p:nvSpPr>
        <p:spPr>
          <a:xfrm>
            <a:off x="3256607" y="3995485"/>
            <a:ext cx="2221001" cy="318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 fontAlgn="base">
              <a:lnSpc>
                <a:spcPct val="130000"/>
              </a:lnSpc>
            </a:pPr>
            <a:r>
              <a:rPr lang="en-US" altLang="ko-KR" sz="1200">
                <a:solidFill>
                  <a:srgbClr val="0070C0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[constants.py]</a:t>
            </a:r>
          </a:p>
        </p:txBody>
      </p:sp>
      <p:sp>
        <p:nvSpPr>
          <p:cNvPr id="4" name="화살표: 위쪽/아래쪽 3">
            <a:extLst>
              <a:ext uri="{FF2B5EF4-FFF2-40B4-BE49-F238E27FC236}">
                <a16:creationId xmlns:a16="http://schemas.microsoft.com/office/drawing/2014/main" id="{D9CCAE88-9AB6-4318-8063-D67CFDF098B3}"/>
              </a:ext>
            </a:extLst>
          </p:cNvPr>
          <p:cNvSpPr/>
          <p:nvPr/>
        </p:nvSpPr>
        <p:spPr>
          <a:xfrm>
            <a:off x="4296768" y="3551239"/>
            <a:ext cx="140677" cy="388568"/>
          </a:xfrm>
          <a:prstGeom prst="upDownArrow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2572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FA066E1-204B-42C0-BA6C-F470BEB5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Page </a:t>
            </a:r>
            <a:fld id="{F03C90E3-98FA-4A46-95E3-0DCDD3916FEC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4C7F390-4766-4E5C-A950-C29ADA6B185D}"/>
              </a:ext>
            </a:extLst>
          </p:cNvPr>
          <p:cNvSpPr/>
          <p:nvPr/>
        </p:nvSpPr>
        <p:spPr>
          <a:xfrm>
            <a:off x="1187361" y="777434"/>
            <a:ext cx="6769277" cy="592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30000"/>
              </a:lnSpc>
            </a:pPr>
            <a:r>
              <a:rPr lang="en-US" altLang="ko-KR" sz="1600">
                <a:solidFill>
                  <a:srgbClr val="0070C0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[env.ini]</a:t>
            </a:r>
          </a:p>
          <a:p>
            <a:pPr fontAlgn="base">
              <a:lnSpc>
                <a:spcPct val="130000"/>
              </a:lnSpc>
            </a:pPr>
            <a:endParaRPr lang="en-US" altLang="ko-KR" sz="1200">
              <a:solidFill>
                <a:schemeClr val="bg1">
                  <a:lumMod val="50000"/>
                </a:schemeClr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[NETWORK] </a:t>
            </a:r>
            <a:r>
              <a:rPr lang="en-US" altLang="ko-KR" sz="1200">
                <a:solidFill>
                  <a:srgbClr val="0070C0"/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: </a:t>
            </a:r>
            <a:r>
              <a:rPr lang="ko-KR" altLang="en-US" sz="1200">
                <a:solidFill>
                  <a:srgbClr val="0070C0"/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서버 경로 지정</a:t>
            </a:r>
            <a:endParaRPr lang="en-US" altLang="ko-KR" sz="1200">
              <a:solidFill>
                <a:srgbClr val="0070C0"/>
              </a:solidFill>
              <a:highlight>
                <a:srgbClr val="FFFF00"/>
              </a:highlight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  <a:p>
            <a:pPr fontAlgn="base">
              <a:lnSpc>
                <a:spcPct val="130000"/>
              </a:lnSpc>
            </a:pPr>
            <a:r>
              <a:rPr lang="nl-NL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ROOT_URL= </a:t>
            </a:r>
            <a:r>
              <a:rPr lang="nl-NL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  <a:hlinkClick r:id="rId2"/>
              </a:rPr>
              <a:t>http://sangchoo.com/kict_samsung</a:t>
            </a:r>
            <a:endParaRPr lang="nl-NL" altLang="ko-KR" sz="1200">
              <a:solidFill>
                <a:schemeClr val="bg1">
                  <a:lumMod val="50000"/>
                </a:schemeClr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  <a:p>
            <a:pPr fontAlgn="base">
              <a:lnSpc>
                <a:spcPct val="130000"/>
              </a:lnSpc>
            </a:pPr>
            <a:r>
              <a:rPr lang="da-DK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MONITOR_SEAT_ORDER = 1 </a:t>
            </a:r>
          </a:p>
          <a:p>
            <a:pPr fontAlgn="base">
              <a:lnSpc>
                <a:spcPct val="130000"/>
              </a:lnSpc>
            </a:pPr>
            <a:r>
              <a:rPr lang="da-DK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SLAVE_NUM = 1</a:t>
            </a:r>
          </a:p>
          <a:p>
            <a:pPr fontAlgn="base">
              <a:lnSpc>
                <a:spcPct val="130000"/>
              </a:lnSpc>
            </a:pPr>
            <a:endParaRPr lang="en-US" altLang="ko-KR" sz="1200">
              <a:solidFill>
                <a:schemeClr val="bg1">
                  <a:lumMod val="50000"/>
                </a:schemeClr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[PATHS] </a:t>
            </a:r>
            <a:r>
              <a:rPr lang="en-US" altLang="ko-KR" sz="1200">
                <a:solidFill>
                  <a:srgbClr val="0070C0"/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: </a:t>
            </a:r>
            <a:r>
              <a:rPr lang="ko-KR" altLang="en-US" sz="1200">
                <a:solidFill>
                  <a:srgbClr val="0070C0"/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관제 컴퓨터 로컬 경로</a:t>
            </a:r>
            <a:endParaRPr lang="en-US" altLang="ko-KR" sz="120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ROOT_PATH = C:/Users/KICT-SC/Desktop/multi_modal</a:t>
            </a: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TEST_IMG = ${ROOT_PATH}/test-0.jpg</a:t>
            </a:r>
          </a:p>
          <a:p>
            <a:pPr fontAlgn="base">
              <a:lnSpc>
                <a:spcPct val="130000"/>
              </a:lnSpc>
            </a:pPr>
            <a:endParaRPr lang="en-US" altLang="ko-KR" sz="1200">
              <a:solidFill>
                <a:schemeClr val="bg1">
                  <a:lumMod val="50000"/>
                </a:schemeClr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[CONSTANTS]</a:t>
            </a: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#time unit : seconds</a:t>
            </a: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NUM_OF_MACHINE_CELLS = 16 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: </a:t>
            </a:r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기계 영역을 표시하는 셀 갯수</a:t>
            </a:r>
            <a:endParaRPr lang="en-US" altLang="ko-KR" sz="120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SZ_OF_LATENT_DIM_AUTOENCODER = 16 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: </a:t>
            </a:r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기계 영역 분석 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Autoencoder </a:t>
            </a:r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신경망의 레이어 크기</a:t>
            </a:r>
            <a:endParaRPr lang="en-US" altLang="ko-KR" sz="120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X_GRID = 8 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: </a:t>
            </a:r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이미지 분석 그리드 너비</a:t>
            </a:r>
            <a:endParaRPr lang="en-US" altLang="ko-KR" sz="120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Y_GRID = 8 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: </a:t>
            </a:r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이미지 분석 그리드 높이</a:t>
            </a:r>
            <a:endParaRPr lang="en-US" altLang="ko-KR" sz="120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FLIR_WIDTH = 160 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: </a:t>
            </a:r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열화상 이미지 해상도 너비 </a:t>
            </a:r>
            <a:endParaRPr lang="en-US" altLang="ko-KR" sz="120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FLIR_HEIGHT = 120 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: </a:t>
            </a:r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열화상 이미지 해상도 높이</a:t>
            </a:r>
            <a:endParaRPr lang="en-US" altLang="ko-KR" sz="120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MAXNUM_THERMAL_FIFO = 10 : </a:t>
            </a:r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열화상 시계열 이미지의 누적 수치</a:t>
            </a:r>
            <a:endParaRPr lang="en-US" altLang="ko-KR" sz="120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WAITING_TIME_PEOPLE_DETECTION = 0.01 : 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RGB </a:t>
            </a:r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이미지 검출 루프의 대기 시간</a:t>
            </a:r>
            <a:endParaRPr lang="en-US" altLang="ko-KR" sz="120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WAITING_TIME_GET_SVR_HOTLIST = 5  : </a:t>
            </a:r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서버에서 열화상 이미지 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GET</a:t>
            </a:r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 대기 시간</a:t>
            </a:r>
            <a:endParaRPr lang="en-US" altLang="ko-KR" sz="120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  <a:p>
            <a:pPr fontAlgn="base">
              <a:lnSpc>
                <a:spcPct val="130000"/>
              </a:lnSpc>
            </a:pPr>
            <a:endParaRPr lang="en-US" altLang="ko-KR" sz="120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  <a:p>
            <a:pPr fontAlgn="base">
              <a:lnSpc>
                <a:spcPct val="130000"/>
              </a:lnSpc>
            </a:pPr>
            <a:endParaRPr lang="en-US" altLang="ko-KR" sz="120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</p:txBody>
      </p:sp>
      <p:sp>
        <p:nvSpPr>
          <p:cNvPr id="40" name="슬라이드 번호 개체 틀 9">
            <a:extLst>
              <a:ext uri="{FF2B5EF4-FFF2-40B4-BE49-F238E27FC236}">
                <a16:creationId xmlns:a16="http://schemas.microsoft.com/office/drawing/2014/main" id="{4E762CBC-F01B-4495-8D2E-234576288CF3}"/>
              </a:ext>
            </a:extLst>
          </p:cNvPr>
          <p:cNvSpPr txBox="1">
            <a:spLocks/>
          </p:cNvSpPr>
          <p:nvPr/>
        </p:nvSpPr>
        <p:spPr>
          <a:xfrm>
            <a:off x="8335472" y="6560598"/>
            <a:ext cx="810910" cy="2316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675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PAGE</a:t>
            </a:r>
            <a:fld id="{F2C57867-4DD3-42C3-B33F-35CD9A0E77A0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04265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FA066E1-204B-42C0-BA6C-F470BEB5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Page </a:t>
            </a:r>
            <a:fld id="{F03C90E3-98FA-4A46-95E3-0DCDD3916FEC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4C7F390-4766-4E5C-A950-C29ADA6B185D}"/>
              </a:ext>
            </a:extLst>
          </p:cNvPr>
          <p:cNvSpPr/>
          <p:nvPr/>
        </p:nvSpPr>
        <p:spPr>
          <a:xfrm>
            <a:off x="1187361" y="777434"/>
            <a:ext cx="6769277" cy="56800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30000"/>
              </a:lnSpc>
            </a:pPr>
            <a:r>
              <a:rPr lang="en-US" altLang="ko-KR" sz="1600">
                <a:solidFill>
                  <a:srgbClr val="0070C0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[env.ini]</a:t>
            </a:r>
          </a:p>
          <a:p>
            <a:pPr fontAlgn="base">
              <a:lnSpc>
                <a:spcPct val="130000"/>
              </a:lnSpc>
            </a:pPr>
            <a:endParaRPr lang="en-US" altLang="ko-KR" sz="1200">
              <a:solidFill>
                <a:schemeClr val="bg1">
                  <a:lumMod val="50000"/>
                </a:schemeClr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#detection of fallen person : angle</a:t>
            </a: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THRESH_0_FALL_DOWN = 45 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: (</a:t>
            </a:r>
            <a:r>
              <a:rPr lang="en-US" altLang="ko-KR" sz="1200" b="1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OpenPifPaf ) </a:t>
            </a:r>
            <a:r>
              <a:rPr lang="ko-KR" altLang="en-US" sz="1200" b="1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넘어짐 검출 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Confidense</a:t>
            </a:r>
            <a:endParaRPr lang="en-US" altLang="ko-KR" sz="1200">
              <a:solidFill>
                <a:schemeClr val="bg1">
                  <a:lumMod val="50000"/>
                </a:schemeClr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THRESH_0_PERSON = 0.3 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: (</a:t>
            </a:r>
            <a:r>
              <a:rPr lang="en-US" altLang="ko-KR" sz="1200" b="1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OpenPifPaf ) </a:t>
            </a:r>
            <a:r>
              <a:rPr lang="ko-KR" altLang="en-US" sz="1200" b="1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사람 검출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Confidense</a:t>
            </a:r>
            <a:endParaRPr lang="en-US" altLang="ko-KR" sz="1200">
              <a:solidFill>
                <a:schemeClr val="bg1">
                  <a:lumMod val="50000"/>
                </a:schemeClr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THR_CONF_FIRE = 0.3 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: Fire YOLO</a:t>
            </a:r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 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Confidense</a:t>
            </a: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THR_TEMPT_FIRE = 25 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: Fire </a:t>
            </a:r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판정 온도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(</a:t>
            </a:r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오인식 제거용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)</a:t>
            </a: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THR_TEMPT_SMOKE = 5 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: Smoke </a:t>
            </a:r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판정 온도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(</a:t>
            </a:r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오인식 제거용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)</a:t>
            </a:r>
            <a:endParaRPr lang="en-US" altLang="ko-KR" sz="1200">
              <a:solidFill>
                <a:schemeClr val="bg1">
                  <a:lumMod val="50000"/>
                </a:schemeClr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THR_CONF_SMOKE = 0.3 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: Smoke YOLO</a:t>
            </a:r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 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Confidense</a:t>
            </a:r>
          </a:p>
          <a:p>
            <a:pPr fontAlgn="base">
              <a:lnSpc>
                <a:spcPct val="130000"/>
              </a:lnSpc>
            </a:pPr>
            <a:endParaRPr lang="en-US" altLang="ko-KR" sz="120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[DB_ADMIN] : </a:t>
            </a:r>
            <a:r>
              <a:rPr lang="en-US" altLang="ko-KR" sz="1200"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MySQL DB </a:t>
            </a:r>
            <a:r>
              <a:rPr lang="ko-KR" altLang="en-US" sz="1200"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선언 </a:t>
            </a:r>
            <a:r>
              <a:rPr lang="en-US" altLang="ko-KR" sz="1200"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(</a:t>
            </a:r>
            <a:r>
              <a:rPr lang="ko-KR" altLang="en-US" sz="1200"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관리자 계정</a:t>
            </a:r>
            <a:r>
              <a:rPr lang="en-US" altLang="ko-KR" sz="1200"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) , DB </a:t>
            </a:r>
            <a:r>
              <a:rPr lang="ko-KR" altLang="en-US" sz="1200"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생성과 삭제시만 사용</a:t>
            </a:r>
            <a:endParaRPr lang="en-US" altLang="ko-KR" sz="120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DB_ADMIN_HOST = localhost</a:t>
            </a: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DB_ADMIN_PORT = 3306</a:t>
            </a: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DB_ADMIN_USER = root</a:t>
            </a: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DB_ADMIN_PASSWORD = sangchoo</a:t>
            </a:r>
          </a:p>
          <a:p>
            <a:pPr fontAlgn="base">
              <a:lnSpc>
                <a:spcPct val="130000"/>
              </a:lnSpc>
            </a:pPr>
            <a:endParaRPr lang="en-US" altLang="ko-KR" sz="120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[DB_RUNTIME] : </a:t>
            </a:r>
            <a:r>
              <a:rPr lang="en-US" altLang="ko-KR" sz="1200"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MySQL DB </a:t>
            </a:r>
            <a:r>
              <a:rPr lang="ko-KR" altLang="en-US" sz="1200"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선언 </a:t>
            </a:r>
            <a:r>
              <a:rPr lang="en-US" altLang="ko-KR" sz="1200"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(</a:t>
            </a:r>
            <a:r>
              <a:rPr lang="ko-KR" altLang="en-US" sz="1200"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일반 사용자 계정</a:t>
            </a:r>
            <a:r>
              <a:rPr lang="en-US" altLang="ko-KR" sz="1200"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), </a:t>
            </a:r>
            <a:r>
              <a:rPr lang="ko-KR" altLang="en-US" sz="1200"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테이블</a:t>
            </a:r>
            <a:r>
              <a:rPr lang="ko-KR" altLang="en-US" sz="1200">
                <a:highlight>
                  <a:srgbClr val="FFFF00"/>
                </a:highlight>
                <a:latin typeface="KoPubWorld바탕체_Pro Bold" panose="00000800000000000000" pitchFamily="50" charset="-127"/>
                <a:ea typeface="KoPubWorld바탕체_Pro Bold" panose="00000800000000000000" pitchFamily="50" charset="-127"/>
                <a:cs typeface="KoPubWorld바탕체_Pro Bold" panose="00000800000000000000" pitchFamily="50" charset="-127"/>
              </a:rPr>
              <a:t>〮</a:t>
            </a:r>
            <a:r>
              <a:rPr lang="ko-KR" altLang="en-US" sz="1200"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레코드 생성 삭제 등 </a:t>
            </a:r>
            <a:r>
              <a:rPr lang="en-US" altLang="ko-KR" sz="1200"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DB </a:t>
            </a:r>
            <a:r>
              <a:rPr lang="ko-KR" altLang="en-US" sz="1200"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일반적 사용</a:t>
            </a:r>
            <a:r>
              <a:rPr lang="en-US" altLang="ko-KR" sz="1200"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 </a:t>
            </a:r>
            <a:endParaRPr lang="en-US" altLang="ko-KR" sz="120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DB_HOST = localhost</a:t>
            </a: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DB_PORT = 3306</a:t>
            </a: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DB_USER = otg_user</a:t>
            </a: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DB_PASSWORD = sangchoo</a:t>
            </a: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DB_NAME_SENSOR = sensor_data : </a:t>
            </a:r>
            <a:r>
              <a:rPr lang="en-US" altLang="ko-KR" sz="1200"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MySQL DB</a:t>
            </a:r>
            <a:r>
              <a:rPr lang="ko-KR" altLang="en-US" sz="1200"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명</a:t>
            </a:r>
            <a:r>
              <a:rPr lang="en-US" altLang="ko-KR" sz="1200"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(</a:t>
            </a:r>
            <a:r>
              <a:rPr lang="ko-KR" altLang="en-US" sz="1200"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센서</a:t>
            </a:r>
            <a:r>
              <a:rPr lang="en-US" altLang="ko-KR" sz="1200"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DB)</a:t>
            </a: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DB_NAME_HISTORY = results_history : </a:t>
            </a:r>
            <a:r>
              <a:rPr lang="en-US" altLang="ko-KR" sz="1200"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MySQL DB</a:t>
            </a:r>
            <a:r>
              <a:rPr lang="ko-KR" altLang="en-US" sz="1200"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명</a:t>
            </a:r>
            <a:r>
              <a:rPr lang="en-US" altLang="ko-KR" sz="1200"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(</a:t>
            </a:r>
            <a:r>
              <a:rPr lang="ko-KR" altLang="en-US" sz="1200"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히스토리</a:t>
            </a:r>
            <a:r>
              <a:rPr lang="en-US" altLang="ko-KR" sz="1200"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DB)</a:t>
            </a:r>
            <a:endParaRPr lang="en-US" altLang="ko-KR" sz="1200">
              <a:solidFill>
                <a:schemeClr val="bg1">
                  <a:lumMod val="50000"/>
                </a:schemeClr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</p:txBody>
      </p:sp>
      <p:sp>
        <p:nvSpPr>
          <p:cNvPr id="40" name="슬라이드 번호 개체 틀 9">
            <a:extLst>
              <a:ext uri="{FF2B5EF4-FFF2-40B4-BE49-F238E27FC236}">
                <a16:creationId xmlns:a16="http://schemas.microsoft.com/office/drawing/2014/main" id="{4E762CBC-F01B-4495-8D2E-234576288CF3}"/>
              </a:ext>
            </a:extLst>
          </p:cNvPr>
          <p:cNvSpPr txBox="1">
            <a:spLocks/>
          </p:cNvSpPr>
          <p:nvPr/>
        </p:nvSpPr>
        <p:spPr>
          <a:xfrm>
            <a:off x="8335472" y="6560598"/>
            <a:ext cx="810910" cy="2316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675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PAGE</a:t>
            </a:r>
            <a:fld id="{F2C57867-4DD3-42C3-B33F-35CD9A0E77A0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40986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FA066E1-204B-42C0-BA6C-F470BEB5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Page </a:t>
            </a:r>
            <a:fld id="{F03C90E3-98FA-4A46-95E3-0DCDD3916FEC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4C7F390-4766-4E5C-A950-C29ADA6B185D}"/>
              </a:ext>
            </a:extLst>
          </p:cNvPr>
          <p:cNvSpPr/>
          <p:nvPr/>
        </p:nvSpPr>
        <p:spPr>
          <a:xfrm>
            <a:off x="1187361" y="777434"/>
            <a:ext cx="6769277" cy="2559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30000"/>
              </a:lnSpc>
            </a:pPr>
            <a:r>
              <a:rPr lang="en-US" altLang="ko-KR" sz="1600">
                <a:solidFill>
                  <a:srgbClr val="0070C0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[env.ini]</a:t>
            </a:r>
          </a:p>
          <a:p>
            <a:pPr fontAlgn="base">
              <a:lnSpc>
                <a:spcPct val="130000"/>
              </a:lnSpc>
            </a:pPr>
            <a:endParaRPr lang="en-US" altLang="ko-KR" sz="1200">
              <a:solidFill>
                <a:schemeClr val="bg1">
                  <a:lumMod val="50000"/>
                </a:schemeClr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  <a:p>
            <a:pPr fontAlgn="base">
              <a:lnSpc>
                <a:spcPct val="130000"/>
              </a:lnSpc>
            </a:pPr>
            <a:endParaRPr lang="en-US" altLang="ko-KR" sz="1200">
              <a:highlight>
                <a:srgbClr val="FFFF00"/>
              </a:highlight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tx1">
                    <a:lumMod val="50000"/>
                    <a:lumOff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[PYTHON]</a:t>
            </a: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tx1">
                    <a:lumMod val="50000"/>
                    <a:lumOff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ANACONDA_ENV = otg</a:t>
            </a: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tx1">
                    <a:lumMod val="50000"/>
                    <a:lumOff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ANACONDA_ROOT = C:/Users/KICT-SC/anaconda3</a:t>
            </a:r>
          </a:p>
          <a:p>
            <a:pPr fontAlgn="base">
              <a:lnSpc>
                <a:spcPct val="130000"/>
              </a:lnSpc>
            </a:pPr>
            <a:endParaRPr lang="en-US" altLang="ko-KR" sz="1200">
              <a:highlight>
                <a:srgbClr val="FFFF00"/>
              </a:highlight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tx1">
                    <a:lumMod val="50000"/>
                    <a:lumOff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[SHOW]</a:t>
            </a:r>
            <a:endParaRPr lang="en-US" altLang="ko-KR" sz="1200">
              <a:solidFill>
                <a:schemeClr val="tx1">
                  <a:lumMod val="50000"/>
                  <a:lumOff val="50000"/>
                </a:schemeClr>
              </a:solidFill>
              <a:highlight>
                <a:srgbClr val="FFFF00"/>
              </a:highlight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ENABLE_SMS_ALERTS = 1 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: </a:t>
            </a:r>
            <a:r>
              <a:rPr lang="ko-KR" altLang="en-US" sz="120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관리자 경고 문자</a:t>
            </a:r>
            <a:r>
              <a:rPr lang="en-US" altLang="ko-KR" sz="120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(SMS) </a:t>
            </a:r>
            <a:r>
              <a:rPr lang="ko-KR" altLang="en-US" sz="120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발송 여부</a:t>
            </a:r>
            <a:endParaRPr lang="en-US" altLang="ko-KR" sz="120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SHOW_THERMAL_IMG= 0</a:t>
            </a:r>
          </a:p>
        </p:txBody>
      </p:sp>
      <p:sp>
        <p:nvSpPr>
          <p:cNvPr id="40" name="슬라이드 번호 개체 틀 9">
            <a:extLst>
              <a:ext uri="{FF2B5EF4-FFF2-40B4-BE49-F238E27FC236}">
                <a16:creationId xmlns:a16="http://schemas.microsoft.com/office/drawing/2014/main" id="{4E762CBC-F01B-4495-8D2E-234576288CF3}"/>
              </a:ext>
            </a:extLst>
          </p:cNvPr>
          <p:cNvSpPr txBox="1">
            <a:spLocks/>
          </p:cNvSpPr>
          <p:nvPr/>
        </p:nvSpPr>
        <p:spPr>
          <a:xfrm>
            <a:off x="8335472" y="6560598"/>
            <a:ext cx="810910" cy="2316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675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PAGE</a:t>
            </a:r>
            <a:fld id="{F2C57867-4DD3-42C3-B33F-35CD9A0E77A0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26536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FA066E1-204B-42C0-BA6C-F470BEB5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Page </a:t>
            </a:r>
            <a:fld id="{F03C90E3-98FA-4A46-95E3-0DCDD3916FEC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4C7F390-4766-4E5C-A950-C29ADA6B185D}"/>
              </a:ext>
            </a:extLst>
          </p:cNvPr>
          <p:cNvSpPr/>
          <p:nvPr/>
        </p:nvSpPr>
        <p:spPr>
          <a:xfrm>
            <a:off x="1187361" y="777434"/>
            <a:ext cx="6769277" cy="4959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30000"/>
              </a:lnSpc>
            </a:pPr>
            <a:r>
              <a:rPr lang="en-US" altLang="ko-KR" sz="1600">
                <a:solidFill>
                  <a:srgbClr val="0070C0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[constants.py]</a:t>
            </a:r>
          </a:p>
          <a:p>
            <a:pPr fontAlgn="base">
              <a:lnSpc>
                <a:spcPct val="130000"/>
              </a:lnSpc>
            </a:pPr>
            <a:endParaRPr lang="en-US" altLang="ko-KR" sz="1200">
              <a:highlight>
                <a:srgbClr val="FFFF00"/>
              </a:highlight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tx1">
                    <a:lumMod val="50000"/>
                    <a:lumOff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ENV_FILE_NAME       = "env.ini"</a:t>
            </a: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tx1">
                    <a:lumMod val="50000"/>
                    <a:lumOff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SVR_GRID_MASK       = "grid_mask.ini"</a:t>
            </a: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tx1">
                    <a:lumMod val="50000"/>
                    <a:lumOff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SVR_SLAVE_0_VALUES  = "slave_0_sensor.inf"</a:t>
            </a: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tx1">
                    <a:lumMod val="50000"/>
                    <a:lumOff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SVR_IR_IMG_CSV      = "ir_img.csv"</a:t>
            </a: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tx1">
                    <a:lumMod val="50000"/>
                    <a:lumOff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SVR_RGB_IMG_JPG     = "rgb_img.jpg"</a:t>
            </a: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tx1">
                    <a:lumMod val="50000"/>
                    <a:lumOff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FIRE_MODEL_NAME     = "best_epoch_31_fire_smoke_person.pt"</a:t>
            </a:r>
          </a:p>
          <a:p>
            <a:pPr fontAlgn="base">
              <a:lnSpc>
                <a:spcPct val="130000"/>
              </a:lnSpc>
            </a:pPr>
            <a:endParaRPr lang="en-US" altLang="ko-KR" sz="1200">
              <a:solidFill>
                <a:schemeClr val="tx1">
                  <a:lumMod val="50000"/>
                  <a:lumOff val="50000"/>
                </a:schemeClr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tx1">
                    <a:lumMod val="50000"/>
                    <a:lumOff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PEOPLE_ANALYSIS_FOLDER  = "event_img_result"</a:t>
            </a: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tx1">
                    <a:lumMod val="50000"/>
                    <a:lumOff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PEOPLE_SRCIMG_FOLDER    = "event_img_input"</a:t>
            </a: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tx1">
                    <a:lumMod val="50000"/>
                    <a:lumOff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BASE_IMG_FOLDER         = "base_img"</a:t>
            </a: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tx1">
                    <a:lumMod val="50000"/>
                    <a:lumOff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GRID_MASK_FILE          = "mach_area_mask.ini"</a:t>
            </a:r>
          </a:p>
          <a:p>
            <a:pPr fontAlgn="base">
              <a:lnSpc>
                <a:spcPct val="130000"/>
              </a:lnSpc>
            </a:pPr>
            <a:endParaRPr lang="en-US" altLang="ko-KR" sz="1200">
              <a:solidFill>
                <a:schemeClr val="tx1">
                  <a:lumMod val="50000"/>
                  <a:lumOff val="50000"/>
                </a:schemeClr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tx1">
                    <a:lumMod val="50000"/>
                    <a:lumOff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class ERR_CODE:</a:t>
            </a: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tx1">
                    <a:lumMod val="50000"/>
                    <a:lumOff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    NO_ERR                = "0000"</a:t>
            </a: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tx1">
                    <a:lumMod val="50000"/>
                    <a:lumOff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    CAMERA_POSITION_SHIFT = "0021"</a:t>
            </a: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tx1">
                    <a:lumMod val="50000"/>
                    <a:lumOff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class SVR_CMD:</a:t>
            </a: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tx1">
                    <a:lumMod val="50000"/>
                    <a:lumOff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    ADJUST_MACHINE_GRID = "ADJST-MG"</a:t>
            </a: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tx1">
                    <a:lumMod val="50000"/>
                    <a:lumOff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    NO_ACTION           = "NOACTION"</a:t>
            </a:r>
            <a:endParaRPr lang="en-US" altLang="ko-KR" sz="1200">
              <a:solidFill>
                <a:schemeClr val="bg1">
                  <a:lumMod val="50000"/>
                </a:schemeClr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</p:txBody>
      </p:sp>
      <p:sp>
        <p:nvSpPr>
          <p:cNvPr id="40" name="슬라이드 번호 개체 틀 9">
            <a:extLst>
              <a:ext uri="{FF2B5EF4-FFF2-40B4-BE49-F238E27FC236}">
                <a16:creationId xmlns:a16="http://schemas.microsoft.com/office/drawing/2014/main" id="{4E762CBC-F01B-4495-8D2E-234576288CF3}"/>
              </a:ext>
            </a:extLst>
          </p:cNvPr>
          <p:cNvSpPr txBox="1">
            <a:spLocks/>
          </p:cNvSpPr>
          <p:nvPr/>
        </p:nvSpPr>
        <p:spPr>
          <a:xfrm>
            <a:off x="8335472" y="6560598"/>
            <a:ext cx="810910" cy="2316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675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PAGE</a:t>
            </a:r>
            <a:fld id="{F2C57867-4DD3-42C3-B33F-35CD9A0E77A0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89277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화살표: 아래쪽 47">
            <a:extLst>
              <a:ext uri="{FF2B5EF4-FFF2-40B4-BE49-F238E27FC236}">
                <a16:creationId xmlns:a16="http://schemas.microsoft.com/office/drawing/2014/main" id="{3FBD279B-92A5-4F8D-AC05-89A55801521F}"/>
              </a:ext>
            </a:extLst>
          </p:cNvPr>
          <p:cNvSpPr/>
          <p:nvPr/>
        </p:nvSpPr>
        <p:spPr>
          <a:xfrm rot="770387" flipH="1">
            <a:off x="1624858" y="1483262"/>
            <a:ext cx="119053" cy="1467586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4522DA6B-4304-4C0D-9501-4CBCFA5D243E}"/>
              </a:ext>
            </a:extLst>
          </p:cNvPr>
          <p:cNvSpPr/>
          <p:nvPr/>
        </p:nvSpPr>
        <p:spPr>
          <a:xfrm rot="16200000">
            <a:off x="3792178" y="2257519"/>
            <a:ext cx="246220" cy="2511177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FA63BD-8CD0-44F4-BDE1-7CFFDAD80C15}"/>
              </a:ext>
            </a:extLst>
          </p:cNvPr>
          <p:cNvSpPr txBox="1"/>
          <p:nvPr/>
        </p:nvSpPr>
        <p:spPr>
          <a:xfrm>
            <a:off x="2657019" y="3063470"/>
            <a:ext cx="21693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/>
              <a:t>hotlist_values </a:t>
            </a:r>
            <a:r>
              <a:rPr lang="en-US" altLang="ko-KR" sz="1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⇒</a:t>
            </a:r>
          </a:p>
          <a:p>
            <a:r>
              <a:rPr lang="en-US" altLang="ko-KR" sz="1000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thermal_queue </a:t>
            </a:r>
            <a:r>
              <a:rPr lang="en-US" altLang="ko-KR" sz="1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⇒ </a:t>
            </a:r>
            <a:r>
              <a:rPr lang="en-US" altLang="ko-KR" sz="100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median_result</a:t>
            </a:r>
            <a:endParaRPr lang="ko-KR" altLang="en-US" sz="100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3" name="순서도: 자기 디스크 2">
            <a:extLst>
              <a:ext uri="{FF2B5EF4-FFF2-40B4-BE49-F238E27FC236}">
                <a16:creationId xmlns:a16="http://schemas.microsoft.com/office/drawing/2014/main" id="{50B007D5-73C5-4917-8BDA-905E70344F9E}"/>
              </a:ext>
            </a:extLst>
          </p:cNvPr>
          <p:cNvSpPr/>
          <p:nvPr/>
        </p:nvSpPr>
        <p:spPr>
          <a:xfrm>
            <a:off x="5170875" y="3217459"/>
            <a:ext cx="1647645" cy="592103"/>
          </a:xfrm>
          <a:prstGeom prst="flowChartMagneticDisk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AC0BF1-BEE4-4CD0-8BFD-D62350B9A952}"/>
              </a:ext>
            </a:extLst>
          </p:cNvPr>
          <p:cNvSpPr txBox="1"/>
          <p:nvPr/>
        </p:nvSpPr>
        <p:spPr>
          <a:xfrm>
            <a:off x="5151978" y="3436884"/>
            <a:ext cx="19921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“</a:t>
            </a:r>
            <a:r>
              <a:rPr lang="en-US" altLang="ko-KR" sz="1200" b="1">
                <a:solidFill>
                  <a:schemeClr val="accent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ABC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_sensor_data.db"</a:t>
            </a:r>
            <a:endParaRPr lang="ko-KR" altLang="en-US" sz="1200">
              <a:solidFill>
                <a:schemeClr val="tx1">
                  <a:lumMod val="65000"/>
                  <a:lumOff val="35000"/>
                </a:schemeClr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2" name="순서도: 자기 디스크 31">
            <a:extLst>
              <a:ext uri="{FF2B5EF4-FFF2-40B4-BE49-F238E27FC236}">
                <a16:creationId xmlns:a16="http://schemas.microsoft.com/office/drawing/2014/main" id="{8EAFE94E-B8A5-4DDA-92A4-C5D2F43C927F}"/>
              </a:ext>
            </a:extLst>
          </p:cNvPr>
          <p:cNvSpPr/>
          <p:nvPr/>
        </p:nvSpPr>
        <p:spPr>
          <a:xfrm>
            <a:off x="6341343" y="5390999"/>
            <a:ext cx="2024913" cy="552091"/>
          </a:xfrm>
          <a:prstGeom prst="flowChartMagneticDisk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98F767E-6CAF-4F64-9AE6-8E9084F77F08}"/>
              </a:ext>
            </a:extLst>
          </p:cNvPr>
          <p:cNvSpPr txBox="1"/>
          <p:nvPr/>
        </p:nvSpPr>
        <p:spPr>
          <a:xfrm>
            <a:off x="6414446" y="5621824"/>
            <a:ext cx="19524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”</a:t>
            </a:r>
            <a:r>
              <a:rPr lang="en-US" altLang="ko-KR" sz="1200" b="1">
                <a:solidFill>
                  <a:schemeClr val="accent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ABC</a:t>
            </a:r>
            <a:r>
              <a:rPr lang="en-US" altLang="ko-KR" sz="1200" b="1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_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results_history.db"</a:t>
            </a:r>
            <a:endParaRPr lang="ko-KR" altLang="en-US" sz="1200">
              <a:solidFill>
                <a:schemeClr val="tx1">
                  <a:lumMod val="65000"/>
                  <a:lumOff val="35000"/>
                </a:schemeClr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6DF06BA-2821-4344-B023-BD88A1FAB845}"/>
              </a:ext>
            </a:extLst>
          </p:cNvPr>
          <p:cNvSpPr/>
          <p:nvPr/>
        </p:nvSpPr>
        <p:spPr>
          <a:xfrm>
            <a:off x="834496" y="257830"/>
            <a:ext cx="960437" cy="393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30000"/>
              </a:lnSpc>
            </a:pPr>
            <a:r>
              <a:rPr lang="ko-KR" altLang="en-US" sz="1600">
                <a:solidFill>
                  <a:srgbClr val="0070C0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전체 구성</a:t>
            </a:r>
            <a:endParaRPr lang="en-US" altLang="ko-KR" sz="1600">
              <a:solidFill>
                <a:srgbClr val="0070C0"/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9C5B766-0E07-4AA8-B6BB-B0491B789954}"/>
              </a:ext>
            </a:extLst>
          </p:cNvPr>
          <p:cNvSpPr txBox="1"/>
          <p:nvPr/>
        </p:nvSpPr>
        <p:spPr>
          <a:xfrm>
            <a:off x="1241973" y="3305847"/>
            <a:ext cx="1361886" cy="276999"/>
          </a:xfrm>
          <a:prstGeom prst="rect">
            <a:avLst/>
          </a:prstGeom>
          <a:noFill/>
          <a:ln w="28575">
            <a:solidFill>
              <a:srgbClr val="00B0F0"/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_Pro Bold" panose="00000800000000000000" pitchFamily="50" charset="-127"/>
              </a:rPr>
              <a:t>server_to_db.py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1CD3021-C3C7-4A9C-8D73-772A3AD44C9A}"/>
              </a:ext>
            </a:extLst>
          </p:cNvPr>
          <p:cNvSpPr/>
          <p:nvPr/>
        </p:nvSpPr>
        <p:spPr>
          <a:xfrm>
            <a:off x="534605" y="1869669"/>
            <a:ext cx="12219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“</a:t>
            </a:r>
            <a:r>
              <a:rPr lang="en-US" altLang="ko-KR" sz="1200" b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hotlist_values</a:t>
            </a:r>
            <a:r>
              <a:rPr lang="ko-KR" altLang="en-US" sz="120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"</a:t>
            </a: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5BBE69A9-3565-4C9E-9F3A-13187897E0DE}"/>
              </a:ext>
            </a:extLst>
          </p:cNvPr>
          <p:cNvSpPr/>
          <p:nvPr/>
        </p:nvSpPr>
        <p:spPr>
          <a:xfrm>
            <a:off x="1256998" y="1182652"/>
            <a:ext cx="2113005" cy="257419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9D2222F8-31B4-4A7A-8940-781D4B3B828F}"/>
              </a:ext>
            </a:extLst>
          </p:cNvPr>
          <p:cNvSpPr/>
          <p:nvPr/>
        </p:nvSpPr>
        <p:spPr>
          <a:xfrm>
            <a:off x="1744341" y="1016015"/>
            <a:ext cx="1256177" cy="33488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서버 </a:t>
            </a:r>
            <a:r>
              <a:rPr lang="en-US" altLang="ko-KR" sz="100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sangchoo.com</a:t>
            </a:r>
            <a:endParaRPr lang="ko-KR" altLang="en-US" sz="1000"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952C7B58-FAAF-4952-8785-5EAFED0B37F5}"/>
              </a:ext>
            </a:extLst>
          </p:cNvPr>
          <p:cNvSpPr/>
          <p:nvPr/>
        </p:nvSpPr>
        <p:spPr>
          <a:xfrm>
            <a:off x="3410311" y="5075000"/>
            <a:ext cx="1508811" cy="276999"/>
          </a:xfrm>
          <a:prstGeom prst="rect">
            <a:avLst/>
          </a:prstGeom>
          <a:ln w="28575">
            <a:solidFill>
              <a:srgbClr val="00B0F0"/>
            </a:solidFill>
          </a:ln>
        </p:spPr>
        <p:txBody>
          <a:bodyPr wrap="none">
            <a:spAutoFit/>
          </a:bodyPr>
          <a:lstStyle/>
          <a:p>
            <a:r>
              <a:rPr lang="en-US" altLang="ko-KR" sz="1200" b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predict_machine</a:t>
            </a:r>
            <a:r>
              <a:rPr lang="ko-KR" altLang="en-US" sz="1200" b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.py</a:t>
            </a:r>
          </a:p>
        </p:txBody>
      </p:sp>
      <p:sp>
        <p:nvSpPr>
          <p:cNvPr id="53" name="화살표: 아래쪽 52">
            <a:extLst>
              <a:ext uri="{FF2B5EF4-FFF2-40B4-BE49-F238E27FC236}">
                <a16:creationId xmlns:a16="http://schemas.microsoft.com/office/drawing/2014/main" id="{2C0C2F7E-1C26-4951-8886-1866922AF163}"/>
              </a:ext>
            </a:extLst>
          </p:cNvPr>
          <p:cNvSpPr/>
          <p:nvPr/>
        </p:nvSpPr>
        <p:spPr>
          <a:xfrm rot="18957123">
            <a:off x="4783449" y="2301326"/>
            <a:ext cx="209680" cy="879782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화살표: 아래쪽 55">
            <a:extLst>
              <a:ext uri="{FF2B5EF4-FFF2-40B4-BE49-F238E27FC236}">
                <a16:creationId xmlns:a16="http://schemas.microsoft.com/office/drawing/2014/main" id="{C51CC46B-2993-43F7-89E7-CE01A11DD702}"/>
              </a:ext>
            </a:extLst>
          </p:cNvPr>
          <p:cNvSpPr/>
          <p:nvPr/>
        </p:nvSpPr>
        <p:spPr>
          <a:xfrm rot="18628420">
            <a:off x="3187372" y="1303420"/>
            <a:ext cx="118531" cy="927790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E11C879-45E5-4AD8-A56A-C29E7B56353A}"/>
              </a:ext>
            </a:extLst>
          </p:cNvPr>
          <p:cNvSpPr/>
          <p:nvPr/>
        </p:nvSpPr>
        <p:spPr>
          <a:xfrm>
            <a:off x="3267133" y="1606343"/>
            <a:ext cx="112088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“</a:t>
            </a:r>
            <a:r>
              <a:rPr lang="en-US" altLang="ko-KR" sz="1200" b="1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rgb_img.jpg</a:t>
            </a:r>
            <a:r>
              <a:rPr lang="en-US" altLang="ko-KR" sz="1200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”</a:t>
            </a:r>
            <a:endParaRPr lang="ko-KR" altLang="en-US" sz="1200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89AA353A-1439-4F23-9646-C2C25B79CD90}"/>
              </a:ext>
            </a:extLst>
          </p:cNvPr>
          <p:cNvSpPr/>
          <p:nvPr/>
        </p:nvSpPr>
        <p:spPr>
          <a:xfrm>
            <a:off x="3653256" y="2050133"/>
            <a:ext cx="1299074" cy="276999"/>
          </a:xfrm>
          <a:prstGeom prst="rect">
            <a:avLst/>
          </a:prstGeom>
          <a:ln w="28575">
            <a:solidFill>
              <a:srgbClr val="00B0F0"/>
            </a:solidFill>
          </a:ln>
        </p:spPr>
        <p:txBody>
          <a:bodyPr wrap="none">
            <a:spAutoFit/>
          </a:bodyPr>
          <a:lstStyle/>
          <a:p>
            <a:r>
              <a:rPr lang="en-US" altLang="ko-KR" sz="1200" b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fall_detection</a:t>
            </a:r>
            <a:r>
              <a:rPr lang="ko-KR" altLang="en-US" sz="1200" b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.py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DB85D12-16FA-4B4C-8CFC-A22BD7A398D4}"/>
              </a:ext>
            </a:extLst>
          </p:cNvPr>
          <p:cNvSpPr/>
          <p:nvPr/>
        </p:nvSpPr>
        <p:spPr>
          <a:xfrm>
            <a:off x="3990107" y="4079133"/>
            <a:ext cx="182807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기계 정상작동 확인</a:t>
            </a:r>
            <a:endParaRPr lang="en-US" altLang="ko-KR" sz="1000"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en-US" altLang="ko-KR" sz="1000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1000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열화상리스트</a:t>
            </a:r>
            <a:r>
              <a:rPr lang="en-US" altLang="ko-KR" sz="1000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avg_score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avg_mse</a:t>
            </a:r>
            <a:endParaRPr lang="ko-KR" altLang="en-US" sz="100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61" name="화살표: 아래쪽 60">
            <a:extLst>
              <a:ext uri="{FF2B5EF4-FFF2-40B4-BE49-F238E27FC236}">
                <a16:creationId xmlns:a16="http://schemas.microsoft.com/office/drawing/2014/main" id="{C830496B-32C7-4641-9F07-5839C5111BF1}"/>
              </a:ext>
            </a:extLst>
          </p:cNvPr>
          <p:cNvSpPr/>
          <p:nvPr/>
        </p:nvSpPr>
        <p:spPr>
          <a:xfrm rot="17142233">
            <a:off x="5541777" y="4755506"/>
            <a:ext cx="193505" cy="1339852"/>
          </a:xfrm>
          <a:prstGeom prst="downArrow">
            <a:avLst/>
          </a:prstGeom>
          <a:solidFill>
            <a:srgbClr val="FFC00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11F854D8-A1C6-465B-AE24-E889A30EC664}"/>
              </a:ext>
            </a:extLst>
          </p:cNvPr>
          <p:cNvSpPr/>
          <p:nvPr/>
        </p:nvSpPr>
        <p:spPr>
          <a:xfrm>
            <a:off x="5598361" y="710596"/>
            <a:ext cx="1261784" cy="86177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avg_score</a:t>
            </a:r>
            <a:endParaRPr lang="en-US" altLang="ko-KR" sz="1000">
              <a:latin typeface="KoPubWorld돋움체_Pro Light" panose="00000300000000000000" pitchFamily="50" charset="-127"/>
              <a:ea typeface="KoPubWorld돋움체_Pro Light" panose="00000300000000000000" pitchFamily="50" charset="-127"/>
              <a:cs typeface="KoPubWorld돋움체_Pro Light" panose="000003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people_count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fire, smoke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fall_people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median_result</a:t>
            </a:r>
          </a:p>
        </p:txBody>
      </p:sp>
      <p:sp>
        <p:nvSpPr>
          <p:cNvPr id="63" name="화살표: 아래쪽 62">
            <a:extLst>
              <a:ext uri="{FF2B5EF4-FFF2-40B4-BE49-F238E27FC236}">
                <a16:creationId xmlns:a16="http://schemas.microsoft.com/office/drawing/2014/main" id="{D41F1CED-5253-4F60-B061-8F760F14D7E5}"/>
              </a:ext>
            </a:extLst>
          </p:cNvPr>
          <p:cNvSpPr/>
          <p:nvPr/>
        </p:nvSpPr>
        <p:spPr>
          <a:xfrm rot="2198013">
            <a:off x="5020807" y="3690023"/>
            <a:ext cx="84098" cy="1600061"/>
          </a:xfrm>
          <a:prstGeom prst="downArrow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53E12F58-D205-46D1-A2F6-B98A9D9DB1B7}"/>
              </a:ext>
            </a:extLst>
          </p:cNvPr>
          <p:cNvSpPr/>
          <p:nvPr/>
        </p:nvSpPr>
        <p:spPr>
          <a:xfrm>
            <a:off x="4995427" y="2240324"/>
            <a:ext cx="134532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 - people_count,</a:t>
            </a:r>
          </a:p>
          <a:p>
            <a:r>
              <a:rPr lang="en-US" altLang="ko-KR" sz="1000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 - fall_people,</a:t>
            </a:r>
          </a:p>
          <a:p>
            <a:r>
              <a:rPr lang="en-US" altLang="ko-KR" sz="1000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 - fire_area,</a:t>
            </a:r>
          </a:p>
          <a:p>
            <a:r>
              <a:rPr lang="en-US" altLang="ko-KR" sz="1000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 - smoke_area    </a:t>
            </a:r>
            <a:endParaRPr lang="ko-KR" altLang="en-US" sz="100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B3078A4-A850-4A82-A83C-3ADF36FF9D82}"/>
              </a:ext>
            </a:extLst>
          </p:cNvPr>
          <p:cNvSpPr/>
          <p:nvPr/>
        </p:nvSpPr>
        <p:spPr>
          <a:xfrm>
            <a:off x="929497" y="5963036"/>
            <a:ext cx="95810" cy="103689"/>
          </a:xfrm>
          <a:prstGeom prst="rect">
            <a:avLst/>
          </a:prstGeom>
          <a:ln w="28575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endParaRPr lang="ko-KR" altLang="en-US" sz="1200" b="1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220F01A-1CCD-4597-A9D7-3A6F8A347757}"/>
              </a:ext>
            </a:extLst>
          </p:cNvPr>
          <p:cNvSpPr/>
          <p:nvPr/>
        </p:nvSpPr>
        <p:spPr>
          <a:xfrm>
            <a:off x="997912" y="5883087"/>
            <a:ext cx="147668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“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동시 실행 프로그램</a:t>
            </a:r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”</a:t>
            </a:r>
            <a:endParaRPr lang="ko-KR" altLang="en-US" sz="120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D7A72B3-D050-4B8E-8BBB-26DDA48E214A}"/>
              </a:ext>
            </a:extLst>
          </p:cNvPr>
          <p:cNvSpPr/>
          <p:nvPr/>
        </p:nvSpPr>
        <p:spPr>
          <a:xfrm>
            <a:off x="6378497" y="5938167"/>
            <a:ext cx="251593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- avg_score, avg_mse, </a:t>
            </a:r>
          </a:p>
          <a:p>
            <a:r>
              <a:rPr lang="en-US" altLang="ko-KR" sz="1000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- people_count, fall_people, </a:t>
            </a:r>
          </a:p>
          <a:p>
            <a:r>
              <a:rPr lang="en-US" altLang="ko-KR" sz="1000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- hot_list, fire_list, smoke_list</a:t>
            </a:r>
            <a:endParaRPr lang="ko-KR" altLang="en-US" sz="100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4686453-F3D7-4D6B-BB5C-DF1F65CDE724}"/>
              </a:ext>
            </a:extLst>
          </p:cNvPr>
          <p:cNvSpPr/>
          <p:nvPr/>
        </p:nvSpPr>
        <p:spPr>
          <a:xfrm>
            <a:off x="5329598" y="4212882"/>
            <a:ext cx="2515937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- people_count, </a:t>
            </a:r>
          </a:p>
          <a:p>
            <a:r>
              <a:rPr lang="en-US" altLang="ko-KR" sz="1000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- fall_people, </a:t>
            </a:r>
          </a:p>
          <a:p>
            <a:r>
              <a:rPr lang="en-US" altLang="ko-KR" sz="1000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- hot_list, </a:t>
            </a:r>
          </a:p>
          <a:p>
            <a:r>
              <a:rPr lang="en-US" altLang="ko-KR" sz="1000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- fire_list, </a:t>
            </a:r>
          </a:p>
          <a:p>
            <a:r>
              <a:rPr lang="en-US" altLang="ko-KR" sz="1000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- smoke_list</a:t>
            </a:r>
            <a:endParaRPr lang="ko-KR" altLang="en-US" sz="100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40" name="화살표: 아래쪽 39">
            <a:extLst>
              <a:ext uri="{FF2B5EF4-FFF2-40B4-BE49-F238E27FC236}">
                <a16:creationId xmlns:a16="http://schemas.microsoft.com/office/drawing/2014/main" id="{D939E240-9195-426B-9867-D9478BFABE8F}"/>
              </a:ext>
            </a:extLst>
          </p:cNvPr>
          <p:cNvSpPr/>
          <p:nvPr/>
        </p:nvSpPr>
        <p:spPr>
          <a:xfrm rot="2198013" flipH="1" flipV="1">
            <a:off x="4908804" y="3652930"/>
            <a:ext cx="85007" cy="1606436"/>
          </a:xfrm>
          <a:prstGeom prst="downArrow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C8E829-F7F2-46FC-98C9-E93DC97CABB5}"/>
              </a:ext>
            </a:extLst>
          </p:cNvPr>
          <p:cNvSpPr txBox="1"/>
          <p:nvPr/>
        </p:nvSpPr>
        <p:spPr>
          <a:xfrm>
            <a:off x="594188" y="2145370"/>
            <a:ext cx="8947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열화상 이미지</a:t>
            </a:r>
            <a:endParaRPr lang="en-US" altLang="ko-KR" sz="1000">
              <a:solidFill>
                <a:schemeClr val="tx1">
                  <a:lumMod val="75000"/>
                  <a:lumOff val="25000"/>
                </a:schemeClr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  <a:p>
            <a:r>
              <a:rPr lang="en-US" altLang="ko-KR" sz="100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ex) 8x8 = 64</a:t>
            </a:r>
            <a:endParaRPr lang="ko-KR" altLang="en-US" sz="10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35BD2D83-108B-4B7B-8CAE-79A6857C2EB8}"/>
              </a:ext>
            </a:extLst>
          </p:cNvPr>
          <p:cNvCxnSpPr>
            <a:cxnSpLocks/>
            <a:stCxn id="46" idx="2"/>
            <a:endCxn id="13" idx="0"/>
          </p:cNvCxnSpPr>
          <p:nvPr/>
        </p:nvCxnSpPr>
        <p:spPr>
          <a:xfrm rot="16200000" flipH="1">
            <a:off x="1614831" y="3890930"/>
            <a:ext cx="824336" cy="208167"/>
          </a:xfrm>
          <a:prstGeom prst="bentConnector3">
            <a:avLst>
              <a:gd name="adj1" fmla="val 50000"/>
            </a:avLst>
          </a:prstGeom>
          <a:ln w="285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C3D43580-FCC3-4AE8-AA13-1DC2C691CC04}"/>
              </a:ext>
            </a:extLst>
          </p:cNvPr>
          <p:cNvCxnSpPr>
            <a:cxnSpLocks/>
            <a:stCxn id="59" idx="0"/>
            <a:endCxn id="14" idx="2"/>
          </p:cNvCxnSpPr>
          <p:nvPr/>
        </p:nvCxnSpPr>
        <p:spPr>
          <a:xfrm rot="5400000" flipH="1" flipV="1">
            <a:off x="4373494" y="1475610"/>
            <a:ext cx="503822" cy="645225"/>
          </a:xfrm>
          <a:prstGeom prst="bentConnector3">
            <a:avLst>
              <a:gd name="adj1" fmla="val 50000"/>
            </a:avLst>
          </a:prstGeom>
          <a:ln w="285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7B5C5EEE-5F6F-44B4-94BE-65C8E1B6D153}"/>
              </a:ext>
            </a:extLst>
          </p:cNvPr>
          <p:cNvSpPr txBox="1"/>
          <p:nvPr/>
        </p:nvSpPr>
        <p:spPr>
          <a:xfrm>
            <a:off x="1702118" y="5336829"/>
            <a:ext cx="8579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열화상이미지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5D1033-68DE-4C02-92DF-638F08FDFD90}"/>
              </a:ext>
            </a:extLst>
          </p:cNvPr>
          <p:cNvSpPr txBox="1"/>
          <p:nvPr/>
        </p:nvSpPr>
        <p:spPr>
          <a:xfrm>
            <a:off x="598733" y="3679132"/>
            <a:ext cx="12226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/>
              <a:t>hotlist_values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/>
              <a:t>hotlist_mask</a:t>
            </a:r>
            <a:endParaRPr lang="ko-KR" altLang="en-US" sz="120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33CFC54-11AA-468D-96BF-916A79ABA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043" y="4407182"/>
            <a:ext cx="1228079" cy="91736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229A9EE-DD7C-4575-8F8F-6BD3B0003B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0686" y="717020"/>
            <a:ext cx="1094664" cy="829291"/>
          </a:xfrm>
          <a:prstGeom prst="rect">
            <a:avLst/>
          </a:prstGeom>
        </p:spPr>
      </p:pic>
      <p:sp>
        <p:nvSpPr>
          <p:cNvPr id="43" name="직사각형 42">
            <a:extLst>
              <a:ext uri="{FF2B5EF4-FFF2-40B4-BE49-F238E27FC236}">
                <a16:creationId xmlns:a16="http://schemas.microsoft.com/office/drawing/2014/main" id="{7FDF854A-D1EE-4DE9-A3DB-D05E4493B590}"/>
              </a:ext>
            </a:extLst>
          </p:cNvPr>
          <p:cNvSpPr/>
          <p:nvPr/>
        </p:nvSpPr>
        <p:spPr>
          <a:xfrm>
            <a:off x="3267133" y="3550218"/>
            <a:ext cx="106150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put_data_to_db</a:t>
            </a: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79E530BD-5311-428E-B80B-A7C03A13D139}"/>
              </a:ext>
            </a:extLst>
          </p:cNvPr>
          <p:cNvCxnSpPr>
            <a:cxnSpLocks/>
          </p:cNvCxnSpPr>
          <p:nvPr/>
        </p:nvCxnSpPr>
        <p:spPr>
          <a:xfrm flipH="1">
            <a:off x="1690833" y="1452959"/>
            <a:ext cx="306529" cy="143617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CAFD4C11-DAAE-4AD4-A139-E59DFB30E1AC}"/>
              </a:ext>
            </a:extLst>
          </p:cNvPr>
          <p:cNvSpPr/>
          <p:nvPr/>
        </p:nvSpPr>
        <p:spPr>
          <a:xfrm>
            <a:off x="1995580" y="1992379"/>
            <a:ext cx="12072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/>
              <a:t>hotlist_mask.ini</a:t>
            </a:r>
            <a:endParaRPr lang="ko-KR" altLang="en-US" sz="1200" b="1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D1BEDD76-9912-4DC5-A9E9-D85780FDDAAB}"/>
              </a:ext>
            </a:extLst>
          </p:cNvPr>
          <p:cNvSpPr/>
          <p:nvPr/>
        </p:nvSpPr>
        <p:spPr>
          <a:xfrm>
            <a:off x="845582" y="658826"/>
            <a:ext cx="22397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ex) </a:t>
            </a:r>
            <a:r>
              <a:rPr lang="ko-KR" altLang="en-US" sz="1200"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작업계정</a:t>
            </a:r>
            <a:r>
              <a:rPr lang="en-US" altLang="ko-KR" sz="1200"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ID : </a:t>
            </a:r>
            <a:r>
              <a:rPr lang="en-US" altLang="ko-KR" sz="1200">
                <a:solidFill>
                  <a:schemeClr val="accent1"/>
                </a:solidFill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“</a:t>
            </a:r>
            <a:r>
              <a:rPr lang="en-US" altLang="ko-KR" sz="1200" b="1">
                <a:solidFill>
                  <a:schemeClr val="accent1"/>
                </a:solidFill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ABC</a:t>
            </a:r>
            <a:r>
              <a:rPr lang="en-US" altLang="ko-KR" sz="1200">
                <a:solidFill>
                  <a:schemeClr val="accent1"/>
                </a:solidFill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”</a:t>
            </a:r>
            <a:endParaRPr lang="ko-KR" altLang="en-US" sz="1200">
              <a:solidFill>
                <a:schemeClr val="accent1"/>
              </a:solidFill>
              <a:latin typeface="KoPubWorld돋움체_Pro Light" panose="00000300000000000000" pitchFamily="50" charset="-127"/>
              <a:ea typeface="KoPubWorld돋움체_Pro Light" panose="00000300000000000000" pitchFamily="50" charset="-127"/>
              <a:cs typeface="KoPubWorld돋움체_Pro Light" panose="00000300000000000000" pitchFamily="50" charset="-127"/>
            </a:endParaRPr>
          </a:p>
        </p:txBody>
      </p:sp>
      <p:cxnSp>
        <p:nvCxnSpPr>
          <p:cNvPr id="66" name="연결선: 꺾임 65">
            <a:extLst>
              <a:ext uri="{FF2B5EF4-FFF2-40B4-BE49-F238E27FC236}">
                <a16:creationId xmlns:a16="http://schemas.microsoft.com/office/drawing/2014/main" id="{8CB5CAF0-B647-43E6-9C97-B9056A4CF8A2}"/>
              </a:ext>
            </a:extLst>
          </p:cNvPr>
          <p:cNvCxnSpPr>
            <a:cxnSpLocks/>
            <a:stCxn id="59" idx="3"/>
          </p:cNvCxnSpPr>
          <p:nvPr/>
        </p:nvCxnSpPr>
        <p:spPr>
          <a:xfrm flipV="1">
            <a:off x="4952330" y="1964178"/>
            <a:ext cx="2447329" cy="224455"/>
          </a:xfrm>
          <a:prstGeom prst="bentConnector3">
            <a:avLst>
              <a:gd name="adj1" fmla="val 72225"/>
            </a:avLst>
          </a:prstGeom>
          <a:ln w="285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C6ED37C4-596A-41C2-91AB-E7B9A749F9D2}"/>
              </a:ext>
            </a:extLst>
          </p:cNvPr>
          <p:cNvSpPr/>
          <p:nvPr/>
        </p:nvSpPr>
        <p:spPr>
          <a:xfrm>
            <a:off x="5014115" y="1952030"/>
            <a:ext cx="160813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case of person detection</a:t>
            </a:r>
            <a:endParaRPr lang="ko-KR" altLang="en-US" sz="1000">
              <a:latin typeface="KoPubWorld돋움체_Pro Light" panose="00000300000000000000" pitchFamily="50" charset="-127"/>
              <a:ea typeface="KoPubWorld돋움체_Pro Light" panose="00000300000000000000" pitchFamily="50" charset="-127"/>
              <a:cs typeface="KoPubWorld돋움체_Pro Light" panose="00000300000000000000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9FB8A43-A71C-4E79-820C-04DBED3F296C}"/>
              </a:ext>
            </a:extLst>
          </p:cNvPr>
          <p:cNvSpPr txBox="1"/>
          <p:nvPr/>
        </p:nvSpPr>
        <p:spPr>
          <a:xfrm>
            <a:off x="7390362" y="1835108"/>
            <a:ext cx="9300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/>
              <a:t>users\</a:t>
            </a:r>
            <a:r>
              <a:rPr lang="en-US" altLang="ko-KR" sz="1000" b="1">
                <a:solidFill>
                  <a:schemeClr val="accent1"/>
                </a:solidFill>
              </a:rPr>
              <a:t>ABC</a:t>
            </a:r>
            <a:r>
              <a:rPr lang="en-US" altLang="ko-KR" sz="1000"/>
              <a:t>\log</a:t>
            </a:r>
            <a:endParaRPr lang="ko-KR" altLang="en-US" sz="1000"/>
          </a:p>
        </p:txBody>
      </p:sp>
      <p:sp>
        <p:nvSpPr>
          <p:cNvPr id="80" name="Rectangle 1">
            <a:extLst>
              <a:ext uri="{FF2B5EF4-FFF2-40B4-BE49-F238E27FC236}">
                <a16:creationId xmlns:a16="http://schemas.microsoft.com/office/drawing/2014/main" id="{4EEA392E-F9D5-4A80-BA04-BC9BEB06EE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8661" y="2101647"/>
            <a:ext cx="357790" cy="24622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log</a:t>
            </a:r>
            <a:endParaRPr lang="ko-KR" altLang="en-US" sz="10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81" name="Rectangle 1">
            <a:extLst>
              <a:ext uri="{FF2B5EF4-FFF2-40B4-BE49-F238E27FC236}">
                <a16:creationId xmlns:a16="http://schemas.microsoft.com/office/drawing/2014/main" id="{3F5C307B-7A1A-4E7A-AA17-A47E1C4D7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7751" y="2107854"/>
            <a:ext cx="1099977" cy="24622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000"/>
              <a:t>event_img_input</a:t>
            </a:r>
          </a:p>
        </p:txBody>
      </p: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1913E818-4432-4FA1-9059-EE9755630EA7}"/>
              </a:ext>
            </a:extLst>
          </p:cNvPr>
          <p:cNvCxnSpPr>
            <a:cxnSpLocks/>
            <a:stCxn id="80" idx="3"/>
            <a:endCxn id="81" idx="1"/>
          </p:cNvCxnSpPr>
          <p:nvPr/>
        </p:nvCxnSpPr>
        <p:spPr>
          <a:xfrm>
            <a:off x="7356451" y="2224758"/>
            <a:ext cx="281300" cy="62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1">
            <a:extLst>
              <a:ext uri="{FF2B5EF4-FFF2-40B4-BE49-F238E27FC236}">
                <a16:creationId xmlns:a16="http://schemas.microsoft.com/office/drawing/2014/main" id="{4FDC0BBE-72AA-4845-A3B9-706AA33A2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1350" y="2398943"/>
            <a:ext cx="1099981" cy="24622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000"/>
              <a:t>event_img_</a:t>
            </a:r>
            <a:r>
              <a:rPr lang="en-US" altLang="ko-KR" sz="1000"/>
              <a:t>result</a:t>
            </a:r>
            <a:endParaRPr lang="ko-KR" altLang="en-US" sz="1000"/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07C03B6C-53CC-46FA-902B-1618B81EC45D}"/>
              </a:ext>
            </a:extLst>
          </p:cNvPr>
          <p:cNvCxnSpPr>
            <a:cxnSpLocks/>
          </p:cNvCxnSpPr>
          <p:nvPr/>
        </p:nvCxnSpPr>
        <p:spPr>
          <a:xfrm>
            <a:off x="7421836" y="2537820"/>
            <a:ext cx="2195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74C55160-8352-4CD9-915A-4B7A8C5F258C}"/>
              </a:ext>
            </a:extLst>
          </p:cNvPr>
          <p:cNvCxnSpPr>
            <a:cxnSpLocks/>
          </p:cNvCxnSpPr>
          <p:nvPr/>
        </p:nvCxnSpPr>
        <p:spPr>
          <a:xfrm>
            <a:off x="7421836" y="2224757"/>
            <a:ext cx="0" cy="319165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A067C812-6DB7-4E48-B39E-AAC12E627007}"/>
              </a:ext>
            </a:extLst>
          </p:cNvPr>
          <p:cNvSpPr/>
          <p:nvPr/>
        </p:nvSpPr>
        <p:spPr>
          <a:xfrm>
            <a:off x="3734446" y="2566477"/>
            <a:ext cx="90922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- </a:t>
            </a:r>
            <a:r>
              <a:rPr lang="ko-KR" altLang="en-US" sz="1000"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avg_score</a:t>
            </a:r>
            <a:endParaRPr lang="en-US" altLang="ko-KR" sz="1000">
              <a:latin typeface="KoPubWorld돋움체_Pro Light" panose="00000300000000000000" pitchFamily="50" charset="-127"/>
              <a:ea typeface="KoPubWorld돋움체_Pro Light" panose="00000300000000000000" pitchFamily="50" charset="-127"/>
              <a:cs typeface="KoPubWorld돋움체_Pro Light" panose="00000300000000000000" pitchFamily="50" charset="-127"/>
            </a:endParaRPr>
          </a:p>
          <a:p>
            <a:r>
              <a:rPr lang="en-US" altLang="ko-KR" sz="1000"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- </a:t>
            </a:r>
            <a:r>
              <a:rPr lang="ko-KR" altLang="en-US" sz="1000"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avg_mse</a:t>
            </a:r>
            <a:endParaRPr lang="en-US" altLang="ko-KR" sz="1000">
              <a:latin typeface="KoPubWorld돋움체_Pro Light" panose="00000300000000000000" pitchFamily="50" charset="-127"/>
              <a:ea typeface="KoPubWorld돋움체_Pro Light" panose="00000300000000000000" pitchFamily="50" charset="-127"/>
              <a:cs typeface="KoPubWorld돋움체_Pro Light" panose="00000300000000000000" pitchFamily="50" charset="-127"/>
            </a:endParaRPr>
          </a:p>
          <a:p>
            <a:r>
              <a:rPr lang="en-US" altLang="ko-KR" sz="1000"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- </a:t>
            </a:r>
            <a:r>
              <a:rPr lang="ko-KR" altLang="en-US" sz="1000"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error_code</a:t>
            </a:r>
          </a:p>
        </p:txBody>
      </p:sp>
      <p:sp>
        <p:nvSpPr>
          <p:cNvPr id="99" name="화살표: 아래쪽 98">
            <a:extLst>
              <a:ext uri="{FF2B5EF4-FFF2-40B4-BE49-F238E27FC236}">
                <a16:creationId xmlns:a16="http://schemas.microsoft.com/office/drawing/2014/main" id="{639D961F-0696-4483-8537-0CF786D85B38}"/>
              </a:ext>
            </a:extLst>
          </p:cNvPr>
          <p:cNvSpPr/>
          <p:nvPr/>
        </p:nvSpPr>
        <p:spPr>
          <a:xfrm rot="18957123" flipH="1" flipV="1">
            <a:off x="4688491" y="2326693"/>
            <a:ext cx="122034" cy="879782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화살표: 갈매기형 수장 99">
            <a:extLst>
              <a:ext uri="{FF2B5EF4-FFF2-40B4-BE49-F238E27FC236}">
                <a16:creationId xmlns:a16="http://schemas.microsoft.com/office/drawing/2014/main" id="{206F1FEB-CD56-4C8B-B6FC-31FC95F9BC02}"/>
              </a:ext>
            </a:extLst>
          </p:cNvPr>
          <p:cNvSpPr/>
          <p:nvPr/>
        </p:nvSpPr>
        <p:spPr>
          <a:xfrm rot="16200000">
            <a:off x="3874668" y="5296792"/>
            <a:ext cx="363677" cy="552091"/>
          </a:xfrm>
          <a:prstGeom prst="chevron">
            <a:avLst>
              <a:gd name="adj" fmla="val 1700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ko-KR" sz="1600" b="1">
                <a:solidFill>
                  <a:schemeClr val="bg1"/>
                </a:solidFill>
              </a:rPr>
              <a:t>AI</a:t>
            </a:r>
            <a:endParaRPr lang="ko-KR" altLang="en-US" sz="1600" b="1">
              <a:solidFill>
                <a:schemeClr val="bg1"/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AEE11D2-9A16-462F-8B94-130E24450858}"/>
              </a:ext>
            </a:extLst>
          </p:cNvPr>
          <p:cNvSpPr txBox="1"/>
          <p:nvPr/>
        </p:nvSpPr>
        <p:spPr>
          <a:xfrm>
            <a:off x="3626807" y="5723857"/>
            <a:ext cx="9012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autoencoder</a:t>
            </a:r>
            <a:endParaRPr lang="ko-KR" altLang="en-US" sz="1000" b="1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02" name="화살표: 갈매기형 수장 101">
            <a:extLst>
              <a:ext uri="{FF2B5EF4-FFF2-40B4-BE49-F238E27FC236}">
                <a16:creationId xmlns:a16="http://schemas.microsoft.com/office/drawing/2014/main" id="{A74D7D09-D605-4C4C-8743-C2DC669E26EB}"/>
              </a:ext>
            </a:extLst>
          </p:cNvPr>
          <p:cNvSpPr/>
          <p:nvPr/>
        </p:nvSpPr>
        <p:spPr>
          <a:xfrm rot="16200000">
            <a:off x="3263422" y="2059383"/>
            <a:ext cx="363677" cy="552091"/>
          </a:xfrm>
          <a:prstGeom prst="chevron">
            <a:avLst>
              <a:gd name="adj" fmla="val 1700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ko-KR" sz="1600" b="1">
                <a:solidFill>
                  <a:schemeClr val="bg1"/>
                </a:solidFill>
              </a:rPr>
              <a:t>AI</a:t>
            </a:r>
            <a:endParaRPr lang="ko-KR" altLang="en-US" sz="1600" b="1">
              <a:solidFill>
                <a:schemeClr val="bg1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34AAD99-A330-4D51-AC09-3D9F3CF8044B}"/>
              </a:ext>
            </a:extLst>
          </p:cNvPr>
          <p:cNvSpPr txBox="1"/>
          <p:nvPr/>
        </p:nvSpPr>
        <p:spPr>
          <a:xfrm>
            <a:off x="3015561" y="2486448"/>
            <a:ext cx="7857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openpifpaf</a:t>
            </a:r>
            <a:endParaRPr lang="ko-KR" altLang="en-US" sz="1000" b="1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44B40CEF-5D86-4F3A-9706-3F93F93E4CC4}"/>
              </a:ext>
            </a:extLst>
          </p:cNvPr>
          <p:cNvSpPr/>
          <p:nvPr/>
        </p:nvSpPr>
        <p:spPr>
          <a:xfrm>
            <a:off x="6900701" y="710596"/>
            <a:ext cx="1261784" cy="24622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slave_gas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5B2D15-5A60-4339-9A68-7CAFEFFECB3A}"/>
              </a:ext>
            </a:extLst>
          </p:cNvPr>
          <p:cNvSpPr txBox="1"/>
          <p:nvPr/>
        </p:nvSpPr>
        <p:spPr>
          <a:xfrm>
            <a:off x="4744228" y="5776208"/>
            <a:ext cx="10166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문자</a:t>
            </a:r>
            <a:r>
              <a:rPr lang="en-US" altLang="ko-KR" sz="10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(SMS) </a:t>
            </a:r>
            <a:r>
              <a:rPr lang="ko-KR" altLang="en-US" sz="10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경보</a:t>
            </a:r>
          </a:p>
        </p:txBody>
      </p:sp>
      <p:sp>
        <p:nvSpPr>
          <p:cNvPr id="4" name="번개 3">
            <a:extLst>
              <a:ext uri="{FF2B5EF4-FFF2-40B4-BE49-F238E27FC236}">
                <a16:creationId xmlns:a16="http://schemas.microsoft.com/office/drawing/2014/main" id="{1A990568-6693-4918-A3D6-CDA8F3A8374D}"/>
              </a:ext>
            </a:extLst>
          </p:cNvPr>
          <p:cNvSpPr/>
          <p:nvPr/>
        </p:nvSpPr>
        <p:spPr>
          <a:xfrm>
            <a:off x="4521683" y="5309771"/>
            <a:ext cx="445089" cy="403964"/>
          </a:xfrm>
          <a:prstGeom prst="lightningBol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B061429-C019-4407-ABBD-0D0216077CD1}"/>
              </a:ext>
            </a:extLst>
          </p:cNvPr>
          <p:cNvSpPr/>
          <p:nvPr/>
        </p:nvSpPr>
        <p:spPr>
          <a:xfrm>
            <a:off x="1760342" y="1670912"/>
            <a:ext cx="120103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>
                <a:solidFill>
                  <a:srgbClr val="0A0A0A"/>
                </a:solidFill>
                <a:latin typeface="Anthropic Sans"/>
              </a:rPr>
              <a:t>main_sensor.inf</a:t>
            </a:r>
            <a:endParaRPr lang="ko-KR" altLang="en-US" sz="1200" b="1"/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CE306EDC-8832-4ACF-B6EB-BEE454C04B95}"/>
              </a:ext>
            </a:extLst>
          </p:cNvPr>
          <p:cNvCxnSpPr>
            <a:cxnSpLocks/>
          </p:cNvCxnSpPr>
          <p:nvPr/>
        </p:nvCxnSpPr>
        <p:spPr>
          <a:xfrm flipH="1">
            <a:off x="1844064" y="1446784"/>
            <a:ext cx="306529" cy="143617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A57FD349-3098-4AB1-B118-AB2087A67FC6}"/>
              </a:ext>
            </a:extLst>
          </p:cNvPr>
          <p:cNvSpPr/>
          <p:nvPr/>
        </p:nvSpPr>
        <p:spPr>
          <a:xfrm>
            <a:off x="1867742" y="1815047"/>
            <a:ext cx="119904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>
                <a:solidFill>
                  <a:srgbClr val="0A0A0A"/>
                </a:solidFill>
                <a:latin typeface="Anthropic Sans"/>
              </a:rPr>
              <a:t>slave_sensor.inf</a:t>
            </a:r>
            <a:endParaRPr lang="ko-KR" altLang="en-US" sz="1200" b="1"/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BC60ABAB-172A-48F2-89FE-986DDA47794C}"/>
              </a:ext>
            </a:extLst>
          </p:cNvPr>
          <p:cNvCxnSpPr>
            <a:cxnSpLocks/>
          </p:cNvCxnSpPr>
          <p:nvPr/>
        </p:nvCxnSpPr>
        <p:spPr>
          <a:xfrm flipH="1">
            <a:off x="2004960" y="1440071"/>
            <a:ext cx="306529" cy="143617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60935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직사각형 60">
            <a:extLst>
              <a:ext uri="{FF2B5EF4-FFF2-40B4-BE49-F238E27FC236}">
                <a16:creationId xmlns:a16="http://schemas.microsoft.com/office/drawing/2014/main" id="{7775D4B5-A3B2-4A8A-B7E7-03E314C25A52}"/>
              </a:ext>
            </a:extLst>
          </p:cNvPr>
          <p:cNvSpPr/>
          <p:nvPr/>
        </p:nvSpPr>
        <p:spPr>
          <a:xfrm>
            <a:off x="1982397" y="2743442"/>
            <a:ext cx="1588457" cy="64633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data_queue</a:t>
            </a:r>
          </a:p>
          <a:p>
            <a:r>
              <a:rPr lang="en-US" altLang="ko-KR" sz="1200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200">
                <a:latin typeface="KoPubWorld바탕체_Pro Bold" panose="00000800000000000000" pitchFamily="50" charset="-127"/>
                <a:ea typeface="KoPubWorld바탕체_Pro Bold" panose="00000800000000000000" pitchFamily="50" charset="-127"/>
                <a:cs typeface="KoPubWorld바탕체_Pro Bold" panose="00000800000000000000" pitchFamily="50" charset="-127"/>
              </a:rPr>
              <a:t>→ </a:t>
            </a:r>
            <a:r>
              <a:rPr lang="en-US" altLang="ko-KR" sz="120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median_result </a:t>
            </a:r>
            <a:r>
              <a:rPr lang="ko-KR" altLang="en-US" sz="120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생성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5D7089-D14E-4C43-B2D8-696B8D2FE18C}"/>
              </a:ext>
            </a:extLst>
          </p:cNvPr>
          <p:cNvSpPr txBox="1"/>
          <p:nvPr/>
        </p:nvSpPr>
        <p:spPr>
          <a:xfrm>
            <a:off x="5810253" y="2510457"/>
            <a:ext cx="835806" cy="30777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b="1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_Pro Bold" panose="00000800000000000000" pitchFamily="50" charset="-127"/>
              </a:rPr>
              <a:t>fall_utils</a:t>
            </a:r>
            <a:endParaRPr lang="ko-KR" altLang="en-US" sz="1400" b="1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6236BA-10A6-4BFC-801F-ED95559B7026}"/>
              </a:ext>
            </a:extLst>
          </p:cNvPr>
          <p:cNvSpPr txBox="1"/>
          <p:nvPr/>
        </p:nvSpPr>
        <p:spPr>
          <a:xfrm>
            <a:off x="1750670" y="2204261"/>
            <a:ext cx="2116862" cy="30777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  <a:prstDash val="solid"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put_data_to_db </a:t>
            </a:r>
            <a:r>
              <a:rPr lang="ko-KR" altLang="en-US" sz="1400" b="1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함수 호출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B2DF4EA-0226-47A3-9AE8-E875093C360D}"/>
              </a:ext>
            </a:extLst>
          </p:cNvPr>
          <p:cNvSpPr txBox="1"/>
          <p:nvPr/>
        </p:nvSpPr>
        <p:spPr>
          <a:xfrm>
            <a:off x="1577377" y="868511"/>
            <a:ext cx="1204497" cy="30777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create_db.py</a:t>
            </a:r>
            <a:endParaRPr lang="ko-KR" altLang="en-US" sz="1400" b="1"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9C5B766-0E07-4AA8-B6BB-B0491B789954}"/>
              </a:ext>
            </a:extLst>
          </p:cNvPr>
          <p:cNvSpPr txBox="1"/>
          <p:nvPr/>
        </p:nvSpPr>
        <p:spPr>
          <a:xfrm>
            <a:off x="1988278" y="1843966"/>
            <a:ext cx="1588458" cy="30777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_Pro Bold" panose="00000800000000000000" pitchFamily="50" charset="-127"/>
              </a:rPr>
              <a:t>server_to_db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952C7B58-FAAF-4952-8785-5EAFED0B37F5}"/>
              </a:ext>
            </a:extLst>
          </p:cNvPr>
          <p:cNvSpPr/>
          <p:nvPr/>
        </p:nvSpPr>
        <p:spPr>
          <a:xfrm>
            <a:off x="5800634" y="2080495"/>
            <a:ext cx="1554169" cy="30777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1400" b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fall_detection</a:t>
            </a:r>
            <a:endParaRPr lang="ko-KR" altLang="en-US" sz="1400" b="1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15F71F40-0EC9-415E-8978-D6671DA19C3A}"/>
              </a:ext>
            </a:extLst>
          </p:cNvPr>
          <p:cNvSpPr/>
          <p:nvPr/>
        </p:nvSpPr>
        <p:spPr>
          <a:xfrm rot="8272890">
            <a:off x="1541790" y="1236093"/>
            <a:ext cx="211015" cy="879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56" name="화살표: 오른쪽 55">
            <a:extLst>
              <a:ext uri="{FF2B5EF4-FFF2-40B4-BE49-F238E27FC236}">
                <a16:creationId xmlns:a16="http://schemas.microsoft.com/office/drawing/2014/main" id="{7C58906C-32D6-429C-A58B-5C0E14648704}"/>
              </a:ext>
            </a:extLst>
          </p:cNvPr>
          <p:cNvSpPr/>
          <p:nvPr/>
        </p:nvSpPr>
        <p:spPr>
          <a:xfrm>
            <a:off x="1389445" y="984892"/>
            <a:ext cx="211015" cy="879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D6B3A731-D082-49BD-B159-67CF103C618A}"/>
              </a:ext>
            </a:extLst>
          </p:cNvPr>
          <p:cNvSpPr/>
          <p:nvPr/>
        </p:nvSpPr>
        <p:spPr>
          <a:xfrm>
            <a:off x="752434" y="854936"/>
            <a:ext cx="7152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env.ini</a:t>
            </a:r>
            <a:endParaRPr lang="ko-KR" altLang="en-US" sz="140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58" name="화살표: 오른쪽 57">
            <a:extLst>
              <a:ext uri="{FF2B5EF4-FFF2-40B4-BE49-F238E27FC236}">
                <a16:creationId xmlns:a16="http://schemas.microsoft.com/office/drawing/2014/main" id="{2FD04F60-6BE7-4AF3-A310-084A3FB66AA2}"/>
              </a:ext>
            </a:extLst>
          </p:cNvPr>
          <p:cNvSpPr/>
          <p:nvPr/>
        </p:nvSpPr>
        <p:spPr>
          <a:xfrm>
            <a:off x="1621855" y="1963783"/>
            <a:ext cx="211015" cy="879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60126B1-5E3E-4285-9B68-98270FD01983}"/>
              </a:ext>
            </a:extLst>
          </p:cNvPr>
          <p:cNvSpPr/>
          <p:nvPr/>
        </p:nvSpPr>
        <p:spPr>
          <a:xfrm>
            <a:off x="592607" y="1843965"/>
            <a:ext cx="12827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server</a:t>
            </a:r>
          </a:p>
          <a:p>
            <a:pPr algn="ctr"/>
            <a:r>
              <a:rPr lang="en-US" altLang="ko-KR" sz="1200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120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region_max.ini</a:t>
            </a:r>
            <a:r>
              <a:rPr lang="en-US" altLang="ko-KR" sz="120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endParaRPr lang="ko-KR" altLang="en-US" sz="120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60" name="화살표: 오른쪽 59">
            <a:extLst>
              <a:ext uri="{FF2B5EF4-FFF2-40B4-BE49-F238E27FC236}">
                <a16:creationId xmlns:a16="http://schemas.microsoft.com/office/drawing/2014/main" id="{A74E465E-6D74-4F2D-AFCC-698813A92471}"/>
              </a:ext>
            </a:extLst>
          </p:cNvPr>
          <p:cNvSpPr/>
          <p:nvPr/>
        </p:nvSpPr>
        <p:spPr>
          <a:xfrm rot="5400000">
            <a:off x="2106607" y="2577360"/>
            <a:ext cx="290517" cy="1107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64" name="화살표: 오른쪽 63">
            <a:extLst>
              <a:ext uri="{FF2B5EF4-FFF2-40B4-BE49-F238E27FC236}">
                <a16:creationId xmlns:a16="http://schemas.microsoft.com/office/drawing/2014/main" id="{B0548AD9-8710-4F34-815E-2BF763C745C7}"/>
              </a:ext>
            </a:extLst>
          </p:cNvPr>
          <p:cNvSpPr/>
          <p:nvPr/>
        </p:nvSpPr>
        <p:spPr>
          <a:xfrm>
            <a:off x="5434399" y="2176543"/>
            <a:ext cx="211015" cy="879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C5FAFE71-C361-4812-8E64-814C7B93B3A1}"/>
              </a:ext>
            </a:extLst>
          </p:cNvPr>
          <p:cNvSpPr/>
          <p:nvPr/>
        </p:nvSpPr>
        <p:spPr>
          <a:xfrm>
            <a:off x="4541657" y="2080495"/>
            <a:ext cx="10070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server</a:t>
            </a:r>
          </a:p>
          <a:p>
            <a:pPr algn="ctr"/>
            <a:r>
              <a:rPr lang="en-US" altLang="ko-KR" sz="1200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(rgb image</a:t>
            </a:r>
            <a:r>
              <a:rPr lang="en-US" altLang="ko-KR" sz="120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endParaRPr lang="ko-KR" altLang="en-US" sz="120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E13EA306-6F2A-4085-96B6-6ED7F93E1DA7}"/>
              </a:ext>
            </a:extLst>
          </p:cNvPr>
          <p:cNvSpPr/>
          <p:nvPr/>
        </p:nvSpPr>
        <p:spPr>
          <a:xfrm>
            <a:off x="5142532" y="3008343"/>
            <a:ext cx="3007053" cy="83099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b="1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sensor_data.db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people_list : </a:t>
            </a:r>
            <a:r>
              <a:rPr lang="en-US" altLang="ko-KR" sz="120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people_count, fall_people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fire_area_list </a:t>
            </a:r>
            <a:endParaRPr lang="en-US" altLang="ko-KR" sz="120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smoke_area_list</a:t>
            </a:r>
            <a:endParaRPr lang="ko-KR" altLang="en-US" sz="120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E73AFA-4D9C-4897-82ED-1244EAB019B2}"/>
              </a:ext>
            </a:extLst>
          </p:cNvPr>
          <p:cNvSpPr txBox="1"/>
          <p:nvPr/>
        </p:nvSpPr>
        <p:spPr>
          <a:xfrm>
            <a:off x="6728716" y="2502732"/>
            <a:ext cx="1132426" cy="30777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b="1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_Pro Bold" panose="00000800000000000000" pitchFamily="50" charset="-127"/>
              </a:rPr>
              <a:t>viewer_utils</a:t>
            </a:r>
            <a:endParaRPr lang="ko-KR" altLang="en-US" sz="1400" b="1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3E6B5B4-054F-4DB6-9C75-5E1DE82318B4}"/>
              </a:ext>
            </a:extLst>
          </p:cNvPr>
          <p:cNvSpPr/>
          <p:nvPr/>
        </p:nvSpPr>
        <p:spPr>
          <a:xfrm>
            <a:off x="1621855" y="3692413"/>
            <a:ext cx="1546449" cy="30777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400" b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predict_machine</a:t>
            </a:r>
            <a:endParaRPr lang="ko-KR" altLang="en-US" sz="1400" b="1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F8108C8-43D4-4E4E-8542-34E759F33C50}"/>
              </a:ext>
            </a:extLst>
          </p:cNvPr>
          <p:cNvSpPr/>
          <p:nvPr/>
        </p:nvSpPr>
        <p:spPr>
          <a:xfrm>
            <a:off x="3386188" y="5334711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ko-KR" altLang="en-US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279E4E7-EA5D-45F2-83CC-380AD2628C88}"/>
              </a:ext>
            </a:extLst>
          </p:cNvPr>
          <p:cNvSpPr/>
          <p:nvPr/>
        </p:nvSpPr>
        <p:spPr>
          <a:xfrm>
            <a:off x="4365867" y="4473522"/>
            <a:ext cx="169629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/>
              <a:t>results_history_YYYYMMDD</a:t>
            </a:r>
            <a:endParaRPr lang="en-US" altLang="ko-KR" sz="100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224D4C2-B880-4472-91CE-FEC6468D5F44}"/>
              </a:ext>
            </a:extLst>
          </p:cNvPr>
          <p:cNvSpPr/>
          <p:nvPr/>
        </p:nvSpPr>
        <p:spPr>
          <a:xfrm>
            <a:off x="701394" y="3954595"/>
            <a:ext cx="186644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median_result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people_list 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people_count,fall_people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fire_area_list </a:t>
            </a:r>
            <a:endParaRPr lang="en-US" altLang="ko-KR" sz="100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smoke_area_list</a:t>
            </a:r>
            <a:endParaRPr lang="ko-KR" altLang="en-US" sz="100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5CF8994-8D0F-4C97-A22C-12CC2F8A11F4}"/>
              </a:ext>
            </a:extLst>
          </p:cNvPr>
          <p:cNvSpPr/>
          <p:nvPr/>
        </p:nvSpPr>
        <p:spPr>
          <a:xfrm>
            <a:off x="4350959" y="4719743"/>
            <a:ext cx="245269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score_value, mse_value,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people_count, fall_people,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hot_list,       </a:t>
            </a:r>
            <a:r>
              <a:rPr lang="en-US" altLang="ko-KR" sz="100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00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length 16</a:t>
            </a:r>
            <a:r>
              <a:rPr lang="en-US" altLang="ko-KR" sz="100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endParaRPr lang="ko-KR" altLang="en-US" sz="100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fire_score_list,    </a:t>
            </a:r>
            <a:r>
              <a:rPr lang="en-US" altLang="ko-KR" sz="100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00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length 36</a:t>
            </a:r>
            <a:r>
              <a:rPr lang="en-US" altLang="ko-KR" sz="100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endParaRPr lang="ko-KR" altLang="en-US" sz="100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smoke_score_list    </a:t>
            </a:r>
            <a:r>
              <a:rPr lang="en-US" altLang="ko-KR" sz="100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00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length 36</a:t>
            </a:r>
            <a:r>
              <a:rPr lang="en-US" altLang="ko-KR" sz="100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endParaRPr lang="ko-KR" altLang="en-US" sz="100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7" name="화살표: 위로 구부러짐 6">
            <a:extLst>
              <a:ext uri="{FF2B5EF4-FFF2-40B4-BE49-F238E27FC236}">
                <a16:creationId xmlns:a16="http://schemas.microsoft.com/office/drawing/2014/main" id="{DCF2A841-4193-4BAC-9D5C-E22BEC1C319F}"/>
              </a:ext>
            </a:extLst>
          </p:cNvPr>
          <p:cNvSpPr/>
          <p:nvPr/>
        </p:nvSpPr>
        <p:spPr>
          <a:xfrm rot="16505612" flipH="1">
            <a:off x="3504707" y="1979740"/>
            <a:ext cx="364414" cy="203249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6" name="화살표: 위로 구부러짐 35">
            <a:extLst>
              <a:ext uri="{FF2B5EF4-FFF2-40B4-BE49-F238E27FC236}">
                <a16:creationId xmlns:a16="http://schemas.microsoft.com/office/drawing/2014/main" id="{BDA6E1F5-2BA7-4E2D-B5B0-22747E437F09}"/>
              </a:ext>
            </a:extLst>
          </p:cNvPr>
          <p:cNvSpPr/>
          <p:nvPr/>
        </p:nvSpPr>
        <p:spPr>
          <a:xfrm rot="4511079">
            <a:off x="5581670" y="2290794"/>
            <a:ext cx="364414" cy="203249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7" name="화살표: 위로 구부러짐 36">
            <a:extLst>
              <a:ext uri="{FF2B5EF4-FFF2-40B4-BE49-F238E27FC236}">
                <a16:creationId xmlns:a16="http://schemas.microsoft.com/office/drawing/2014/main" id="{3D81DC26-B110-48AD-8643-B4363DCFC021}"/>
              </a:ext>
            </a:extLst>
          </p:cNvPr>
          <p:cNvSpPr/>
          <p:nvPr/>
        </p:nvSpPr>
        <p:spPr>
          <a:xfrm rot="17088921" flipH="1">
            <a:off x="7217601" y="2313915"/>
            <a:ext cx="364414" cy="203249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FC56010-D6FC-4F5A-A207-8BE738DA8E2A}"/>
              </a:ext>
            </a:extLst>
          </p:cNvPr>
          <p:cNvSpPr/>
          <p:nvPr/>
        </p:nvSpPr>
        <p:spPr>
          <a:xfrm>
            <a:off x="2613821" y="4154079"/>
            <a:ext cx="163624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/>
              <a:t>avg_score,avg_mse</a:t>
            </a:r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95C9E886-7CEA-47D0-8753-52D1FB960BA1}"/>
              </a:ext>
            </a:extLst>
          </p:cNvPr>
          <p:cNvCxnSpPr>
            <a:cxnSpLocks/>
          </p:cNvCxnSpPr>
          <p:nvPr/>
        </p:nvCxnSpPr>
        <p:spPr>
          <a:xfrm>
            <a:off x="7338836" y="2167069"/>
            <a:ext cx="794782" cy="1189458"/>
          </a:xfrm>
          <a:prstGeom prst="bentConnector3">
            <a:avLst>
              <a:gd name="adj1" fmla="val 128763"/>
            </a:avLst>
          </a:prstGeom>
          <a:ln w="53975"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화살표: 오른쪽 37">
            <a:extLst>
              <a:ext uri="{FF2B5EF4-FFF2-40B4-BE49-F238E27FC236}">
                <a16:creationId xmlns:a16="http://schemas.microsoft.com/office/drawing/2014/main" id="{0EC9DF84-7D9E-4679-AF55-7E3D90EBAF30}"/>
              </a:ext>
            </a:extLst>
          </p:cNvPr>
          <p:cNvSpPr/>
          <p:nvPr/>
        </p:nvSpPr>
        <p:spPr>
          <a:xfrm rot="13327110" flipH="1">
            <a:off x="2354590" y="1236093"/>
            <a:ext cx="211015" cy="879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1" name="순서도: 자기 디스크 10">
            <a:extLst>
              <a:ext uri="{FF2B5EF4-FFF2-40B4-BE49-F238E27FC236}">
                <a16:creationId xmlns:a16="http://schemas.microsoft.com/office/drawing/2014/main" id="{BE008927-6B46-4237-8EDE-AB2809808615}"/>
              </a:ext>
            </a:extLst>
          </p:cNvPr>
          <p:cNvSpPr/>
          <p:nvPr/>
        </p:nvSpPr>
        <p:spPr>
          <a:xfrm>
            <a:off x="746066" y="1398847"/>
            <a:ext cx="1433560" cy="307777"/>
          </a:xfrm>
          <a:custGeom>
            <a:avLst/>
            <a:gdLst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10000 w 10000"/>
              <a:gd name="connsiteY0" fmla="*/ 1667 h 10000"/>
              <a:gd name="connsiteX1" fmla="*/ 5000 w 10000"/>
              <a:gd name="connsiteY1" fmla="*/ 3334 h 10000"/>
              <a:gd name="connsiteX2" fmla="*/ 0 w 10000"/>
              <a:gd name="connsiteY2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10000 w 10000"/>
              <a:gd name="connsiteY0" fmla="*/ 1667 h 10000"/>
              <a:gd name="connsiteX1" fmla="*/ 4941 w 10000"/>
              <a:gd name="connsiteY1" fmla="*/ 1959 h 10000"/>
              <a:gd name="connsiteX2" fmla="*/ 0 w 10000"/>
              <a:gd name="connsiteY2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10000 w 10000"/>
              <a:gd name="connsiteY0" fmla="*/ 1667 h 10000"/>
              <a:gd name="connsiteX1" fmla="*/ 4941 w 10000"/>
              <a:gd name="connsiteY1" fmla="*/ 1959 h 10000"/>
              <a:gd name="connsiteX2" fmla="*/ 0 w 10000"/>
              <a:gd name="connsiteY2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4882 w 10000"/>
              <a:gd name="connsiteY4" fmla="*/ 8900 h 10000"/>
              <a:gd name="connsiteX5" fmla="*/ 0 w 10000"/>
              <a:gd name="connsiteY5" fmla="*/ 8333 h 10000"/>
              <a:gd name="connsiteX6" fmla="*/ 0 w 10000"/>
              <a:gd name="connsiteY6" fmla="*/ 1667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00" h="10000" stroke="0" extrusionOk="0">
                <a:moveTo>
                  <a:pt x="0" y="1667"/>
                </a:moveTo>
                <a:cubicBezTo>
                  <a:pt x="0" y="746"/>
                  <a:pt x="2239" y="0"/>
                  <a:pt x="5000" y="0"/>
                </a:cubicBezTo>
                <a:cubicBezTo>
                  <a:pt x="7761" y="0"/>
                  <a:pt x="10000" y="746"/>
                  <a:pt x="10000" y="1667"/>
                </a:cubicBezTo>
                <a:lnTo>
                  <a:pt x="10000" y="8333"/>
                </a:lnTo>
                <a:cubicBezTo>
                  <a:pt x="10000" y="9254"/>
                  <a:pt x="7761" y="10000"/>
                  <a:pt x="5000" y="10000"/>
                </a:cubicBezTo>
                <a:cubicBezTo>
                  <a:pt x="2239" y="10000"/>
                  <a:pt x="0" y="9254"/>
                  <a:pt x="0" y="8333"/>
                </a:cubicBezTo>
                <a:lnTo>
                  <a:pt x="0" y="1667"/>
                </a:lnTo>
                <a:close/>
              </a:path>
              <a:path w="10000" h="10000" fill="none" extrusionOk="0">
                <a:moveTo>
                  <a:pt x="10000" y="1667"/>
                </a:moveTo>
                <a:cubicBezTo>
                  <a:pt x="10000" y="2588"/>
                  <a:pt x="7702" y="1959"/>
                  <a:pt x="4941" y="1959"/>
                </a:cubicBezTo>
                <a:cubicBezTo>
                  <a:pt x="2180" y="1959"/>
                  <a:pt x="0" y="2588"/>
                  <a:pt x="0" y="1667"/>
                </a:cubicBezTo>
              </a:path>
              <a:path w="10000" h="10000" fill="none">
                <a:moveTo>
                  <a:pt x="0" y="1667"/>
                </a:moveTo>
                <a:cubicBezTo>
                  <a:pt x="0" y="746"/>
                  <a:pt x="2239" y="0"/>
                  <a:pt x="5000" y="0"/>
                </a:cubicBezTo>
                <a:cubicBezTo>
                  <a:pt x="7761" y="0"/>
                  <a:pt x="10000" y="746"/>
                  <a:pt x="10000" y="1667"/>
                </a:cubicBezTo>
                <a:lnTo>
                  <a:pt x="10000" y="8333"/>
                </a:lnTo>
                <a:cubicBezTo>
                  <a:pt x="10000" y="9254"/>
                  <a:pt x="7643" y="8900"/>
                  <a:pt x="4882" y="8900"/>
                </a:cubicBezTo>
                <a:cubicBezTo>
                  <a:pt x="2121" y="8900"/>
                  <a:pt x="0" y="9254"/>
                  <a:pt x="0" y="8333"/>
                </a:cubicBezTo>
                <a:lnTo>
                  <a:pt x="0" y="166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sensor_data.db</a:t>
            </a:r>
            <a:endParaRPr lang="ko-KR" altLang="en-US" sz="1100"/>
          </a:p>
        </p:txBody>
      </p:sp>
      <p:sp>
        <p:nvSpPr>
          <p:cNvPr id="41" name="순서도: 자기 디스크 10">
            <a:extLst>
              <a:ext uri="{FF2B5EF4-FFF2-40B4-BE49-F238E27FC236}">
                <a16:creationId xmlns:a16="http://schemas.microsoft.com/office/drawing/2014/main" id="{A35B6665-0F4C-483A-B985-60091C5879FD}"/>
              </a:ext>
            </a:extLst>
          </p:cNvPr>
          <p:cNvSpPr/>
          <p:nvPr/>
        </p:nvSpPr>
        <p:spPr>
          <a:xfrm>
            <a:off x="2203493" y="1398847"/>
            <a:ext cx="1433560" cy="307777"/>
          </a:xfrm>
          <a:custGeom>
            <a:avLst/>
            <a:gdLst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10000 w 10000"/>
              <a:gd name="connsiteY0" fmla="*/ 1667 h 10000"/>
              <a:gd name="connsiteX1" fmla="*/ 5000 w 10000"/>
              <a:gd name="connsiteY1" fmla="*/ 3334 h 10000"/>
              <a:gd name="connsiteX2" fmla="*/ 0 w 10000"/>
              <a:gd name="connsiteY2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10000 w 10000"/>
              <a:gd name="connsiteY0" fmla="*/ 1667 h 10000"/>
              <a:gd name="connsiteX1" fmla="*/ 4941 w 10000"/>
              <a:gd name="connsiteY1" fmla="*/ 1959 h 10000"/>
              <a:gd name="connsiteX2" fmla="*/ 0 w 10000"/>
              <a:gd name="connsiteY2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10000 w 10000"/>
              <a:gd name="connsiteY0" fmla="*/ 1667 h 10000"/>
              <a:gd name="connsiteX1" fmla="*/ 4941 w 10000"/>
              <a:gd name="connsiteY1" fmla="*/ 1959 h 10000"/>
              <a:gd name="connsiteX2" fmla="*/ 0 w 10000"/>
              <a:gd name="connsiteY2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4882 w 10000"/>
              <a:gd name="connsiteY4" fmla="*/ 8900 h 10000"/>
              <a:gd name="connsiteX5" fmla="*/ 0 w 10000"/>
              <a:gd name="connsiteY5" fmla="*/ 8333 h 10000"/>
              <a:gd name="connsiteX6" fmla="*/ 0 w 10000"/>
              <a:gd name="connsiteY6" fmla="*/ 1667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00" h="10000" stroke="0" extrusionOk="0">
                <a:moveTo>
                  <a:pt x="0" y="1667"/>
                </a:moveTo>
                <a:cubicBezTo>
                  <a:pt x="0" y="746"/>
                  <a:pt x="2239" y="0"/>
                  <a:pt x="5000" y="0"/>
                </a:cubicBezTo>
                <a:cubicBezTo>
                  <a:pt x="7761" y="0"/>
                  <a:pt x="10000" y="746"/>
                  <a:pt x="10000" y="1667"/>
                </a:cubicBezTo>
                <a:lnTo>
                  <a:pt x="10000" y="8333"/>
                </a:lnTo>
                <a:cubicBezTo>
                  <a:pt x="10000" y="9254"/>
                  <a:pt x="7761" y="10000"/>
                  <a:pt x="5000" y="10000"/>
                </a:cubicBezTo>
                <a:cubicBezTo>
                  <a:pt x="2239" y="10000"/>
                  <a:pt x="0" y="9254"/>
                  <a:pt x="0" y="8333"/>
                </a:cubicBezTo>
                <a:lnTo>
                  <a:pt x="0" y="1667"/>
                </a:lnTo>
                <a:close/>
              </a:path>
              <a:path w="10000" h="10000" fill="none" extrusionOk="0">
                <a:moveTo>
                  <a:pt x="10000" y="1667"/>
                </a:moveTo>
                <a:cubicBezTo>
                  <a:pt x="10000" y="2588"/>
                  <a:pt x="7702" y="1959"/>
                  <a:pt x="4941" y="1959"/>
                </a:cubicBezTo>
                <a:cubicBezTo>
                  <a:pt x="2180" y="1959"/>
                  <a:pt x="0" y="2588"/>
                  <a:pt x="0" y="1667"/>
                </a:cubicBezTo>
              </a:path>
              <a:path w="10000" h="10000" fill="none">
                <a:moveTo>
                  <a:pt x="0" y="1667"/>
                </a:moveTo>
                <a:cubicBezTo>
                  <a:pt x="0" y="746"/>
                  <a:pt x="2239" y="0"/>
                  <a:pt x="5000" y="0"/>
                </a:cubicBezTo>
                <a:cubicBezTo>
                  <a:pt x="7761" y="0"/>
                  <a:pt x="10000" y="746"/>
                  <a:pt x="10000" y="1667"/>
                </a:cubicBezTo>
                <a:lnTo>
                  <a:pt x="10000" y="8333"/>
                </a:lnTo>
                <a:cubicBezTo>
                  <a:pt x="10000" y="9254"/>
                  <a:pt x="7643" y="8900"/>
                  <a:pt x="4882" y="8900"/>
                </a:cubicBezTo>
                <a:cubicBezTo>
                  <a:pt x="2121" y="8900"/>
                  <a:pt x="0" y="9254"/>
                  <a:pt x="0" y="8333"/>
                </a:cubicBezTo>
                <a:lnTo>
                  <a:pt x="0" y="166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results_history.db</a:t>
            </a:r>
            <a:endParaRPr lang="ko-KR" altLang="en-US" sz="1100"/>
          </a:p>
        </p:txBody>
      </p:sp>
      <p:sp>
        <p:nvSpPr>
          <p:cNvPr id="42" name="순서도: 자기 디스크 10">
            <a:extLst>
              <a:ext uri="{FF2B5EF4-FFF2-40B4-BE49-F238E27FC236}">
                <a16:creationId xmlns:a16="http://schemas.microsoft.com/office/drawing/2014/main" id="{BBAEF61B-3353-4021-BCBF-3D1C9EA0C26B}"/>
              </a:ext>
            </a:extLst>
          </p:cNvPr>
          <p:cNvSpPr/>
          <p:nvPr/>
        </p:nvSpPr>
        <p:spPr>
          <a:xfrm>
            <a:off x="2059845" y="3163785"/>
            <a:ext cx="1433560" cy="307777"/>
          </a:xfrm>
          <a:custGeom>
            <a:avLst/>
            <a:gdLst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10000 w 10000"/>
              <a:gd name="connsiteY0" fmla="*/ 1667 h 10000"/>
              <a:gd name="connsiteX1" fmla="*/ 5000 w 10000"/>
              <a:gd name="connsiteY1" fmla="*/ 3334 h 10000"/>
              <a:gd name="connsiteX2" fmla="*/ 0 w 10000"/>
              <a:gd name="connsiteY2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10000 w 10000"/>
              <a:gd name="connsiteY0" fmla="*/ 1667 h 10000"/>
              <a:gd name="connsiteX1" fmla="*/ 4941 w 10000"/>
              <a:gd name="connsiteY1" fmla="*/ 1959 h 10000"/>
              <a:gd name="connsiteX2" fmla="*/ 0 w 10000"/>
              <a:gd name="connsiteY2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10000 w 10000"/>
              <a:gd name="connsiteY0" fmla="*/ 1667 h 10000"/>
              <a:gd name="connsiteX1" fmla="*/ 4941 w 10000"/>
              <a:gd name="connsiteY1" fmla="*/ 1959 h 10000"/>
              <a:gd name="connsiteX2" fmla="*/ 0 w 10000"/>
              <a:gd name="connsiteY2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4882 w 10000"/>
              <a:gd name="connsiteY4" fmla="*/ 8900 h 10000"/>
              <a:gd name="connsiteX5" fmla="*/ 0 w 10000"/>
              <a:gd name="connsiteY5" fmla="*/ 8333 h 10000"/>
              <a:gd name="connsiteX6" fmla="*/ 0 w 10000"/>
              <a:gd name="connsiteY6" fmla="*/ 1667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00" h="10000" stroke="0" extrusionOk="0">
                <a:moveTo>
                  <a:pt x="0" y="1667"/>
                </a:moveTo>
                <a:cubicBezTo>
                  <a:pt x="0" y="746"/>
                  <a:pt x="2239" y="0"/>
                  <a:pt x="5000" y="0"/>
                </a:cubicBezTo>
                <a:cubicBezTo>
                  <a:pt x="7761" y="0"/>
                  <a:pt x="10000" y="746"/>
                  <a:pt x="10000" y="1667"/>
                </a:cubicBezTo>
                <a:lnTo>
                  <a:pt x="10000" y="8333"/>
                </a:lnTo>
                <a:cubicBezTo>
                  <a:pt x="10000" y="9254"/>
                  <a:pt x="7761" y="10000"/>
                  <a:pt x="5000" y="10000"/>
                </a:cubicBezTo>
                <a:cubicBezTo>
                  <a:pt x="2239" y="10000"/>
                  <a:pt x="0" y="9254"/>
                  <a:pt x="0" y="8333"/>
                </a:cubicBezTo>
                <a:lnTo>
                  <a:pt x="0" y="1667"/>
                </a:lnTo>
                <a:close/>
              </a:path>
              <a:path w="10000" h="10000" fill="none" extrusionOk="0">
                <a:moveTo>
                  <a:pt x="10000" y="1667"/>
                </a:moveTo>
                <a:cubicBezTo>
                  <a:pt x="10000" y="2588"/>
                  <a:pt x="7702" y="1959"/>
                  <a:pt x="4941" y="1959"/>
                </a:cubicBezTo>
                <a:cubicBezTo>
                  <a:pt x="2180" y="1959"/>
                  <a:pt x="0" y="2588"/>
                  <a:pt x="0" y="1667"/>
                </a:cubicBezTo>
              </a:path>
              <a:path w="10000" h="10000" fill="none">
                <a:moveTo>
                  <a:pt x="0" y="1667"/>
                </a:moveTo>
                <a:cubicBezTo>
                  <a:pt x="0" y="746"/>
                  <a:pt x="2239" y="0"/>
                  <a:pt x="5000" y="0"/>
                </a:cubicBezTo>
                <a:cubicBezTo>
                  <a:pt x="7761" y="0"/>
                  <a:pt x="10000" y="746"/>
                  <a:pt x="10000" y="1667"/>
                </a:cubicBezTo>
                <a:lnTo>
                  <a:pt x="10000" y="8333"/>
                </a:lnTo>
                <a:cubicBezTo>
                  <a:pt x="10000" y="9254"/>
                  <a:pt x="7643" y="8900"/>
                  <a:pt x="4882" y="8900"/>
                </a:cubicBezTo>
                <a:cubicBezTo>
                  <a:pt x="2121" y="8900"/>
                  <a:pt x="0" y="9254"/>
                  <a:pt x="0" y="8333"/>
                </a:cubicBezTo>
                <a:lnTo>
                  <a:pt x="0" y="166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sensor_data.db</a:t>
            </a:r>
            <a:endParaRPr lang="ko-KR" altLang="en-US" sz="1100"/>
          </a:p>
        </p:txBody>
      </p:sp>
      <p:sp>
        <p:nvSpPr>
          <p:cNvPr id="44" name="화살표: 오른쪽 43">
            <a:extLst>
              <a:ext uri="{FF2B5EF4-FFF2-40B4-BE49-F238E27FC236}">
                <a16:creationId xmlns:a16="http://schemas.microsoft.com/office/drawing/2014/main" id="{DE16D2D1-DEA8-415C-8305-E7922E1F57EC}"/>
              </a:ext>
            </a:extLst>
          </p:cNvPr>
          <p:cNvSpPr/>
          <p:nvPr/>
        </p:nvSpPr>
        <p:spPr>
          <a:xfrm rot="5400000">
            <a:off x="2261610" y="4331221"/>
            <a:ext cx="622684" cy="817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48" name="순서도: 자기 디스크 10">
            <a:extLst>
              <a:ext uri="{FF2B5EF4-FFF2-40B4-BE49-F238E27FC236}">
                <a16:creationId xmlns:a16="http://schemas.microsoft.com/office/drawing/2014/main" id="{A3909630-7500-45C9-9A0D-B2B899152DE7}"/>
              </a:ext>
            </a:extLst>
          </p:cNvPr>
          <p:cNvSpPr/>
          <p:nvPr/>
        </p:nvSpPr>
        <p:spPr>
          <a:xfrm>
            <a:off x="1641035" y="4864855"/>
            <a:ext cx="1433560" cy="307777"/>
          </a:xfrm>
          <a:custGeom>
            <a:avLst/>
            <a:gdLst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10000 w 10000"/>
              <a:gd name="connsiteY0" fmla="*/ 1667 h 10000"/>
              <a:gd name="connsiteX1" fmla="*/ 5000 w 10000"/>
              <a:gd name="connsiteY1" fmla="*/ 3334 h 10000"/>
              <a:gd name="connsiteX2" fmla="*/ 0 w 10000"/>
              <a:gd name="connsiteY2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10000 w 10000"/>
              <a:gd name="connsiteY0" fmla="*/ 1667 h 10000"/>
              <a:gd name="connsiteX1" fmla="*/ 4941 w 10000"/>
              <a:gd name="connsiteY1" fmla="*/ 1959 h 10000"/>
              <a:gd name="connsiteX2" fmla="*/ 0 w 10000"/>
              <a:gd name="connsiteY2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10000 w 10000"/>
              <a:gd name="connsiteY0" fmla="*/ 1667 h 10000"/>
              <a:gd name="connsiteX1" fmla="*/ 4941 w 10000"/>
              <a:gd name="connsiteY1" fmla="*/ 1959 h 10000"/>
              <a:gd name="connsiteX2" fmla="*/ 0 w 10000"/>
              <a:gd name="connsiteY2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4882 w 10000"/>
              <a:gd name="connsiteY4" fmla="*/ 8900 h 10000"/>
              <a:gd name="connsiteX5" fmla="*/ 0 w 10000"/>
              <a:gd name="connsiteY5" fmla="*/ 8333 h 10000"/>
              <a:gd name="connsiteX6" fmla="*/ 0 w 10000"/>
              <a:gd name="connsiteY6" fmla="*/ 1667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00" h="10000" stroke="0" extrusionOk="0">
                <a:moveTo>
                  <a:pt x="0" y="1667"/>
                </a:moveTo>
                <a:cubicBezTo>
                  <a:pt x="0" y="746"/>
                  <a:pt x="2239" y="0"/>
                  <a:pt x="5000" y="0"/>
                </a:cubicBezTo>
                <a:cubicBezTo>
                  <a:pt x="7761" y="0"/>
                  <a:pt x="10000" y="746"/>
                  <a:pt x="10000" y="1667"/>
                </a:cubicBezTo>
                <a:lnTo>
                  <a:pt x="10000" y="8333"/>
                </a:lnTo>
                <a:cubicBezTo>
                  <a:pt x="10000" y="9254"/>
                  <a:pt x="7761" y="10000"/>
                  <a:pt x="5000" y="10000"/>
                </a:cubicBezTo>
                <a:cubicBezTo>
                  <a:pt x="2239" y="10000"/>
                  <a:pt x="0" y="9254"/>
                  <a:pt x="0" y="8333"/>
                </a:cubicBezTo>
                <a:lnTo>
                  <a:pt x="0" y="1667"/>
                </a:lnTo>
                <a:close/>
              </a:path>
              <a:path w="10000" h="10000" fill="none" extrusionOk="0">
                <a:moveTo>
                  <a:pt x="10000" y="1667"/>
                </a:moveTo>
                <a:cubicBezTo>
                  <a:pt x="10000" y="2588"/>
                  <a:pt x="7702" y="1959"/>
                  <a:pt x="4941" y="1959"/>
                </a:cubicBezTo>
                <a:cubicBezTo>
                  <a:pt x="2180" y="1959"/>
                  <a:pt x="0" y="2588"/>
                  <a:pt x="0" y="1667"/>
                </a:cubicBezTo>
              </a:path>
              <a:path w="10000" h="10000" fill="none">
                <a:moveTo>
                  <a:pt x="0" y="1667"/>
                </a:moveTo>
                <a:cubicBezTo>
                  <a:pt x="0" y="746"/>
                  <a:pt x="2239" y="0"/>
                  <a:pt x="5000" y="0"/>
                </a:cubicBezTo>
                <a:cubicBezTo>
                  <a:pt x="7761" y="0"/>
                  <a:pt x="10000" y="746"/>
                  <a:pt x="10000" y="1667"/>
                </a:cubicBezTo>
                <a:lnTo>
                  <a:pt x="10000" y="8333"/>
                </a:lnTo>
                <a:cubicBezTo>
                  <a:pt x="10000" y="9254"/>
                  <a:pt x="7643" y="8900"/>
                  <a:pt x="4882" y="8900"/>
                </a:cubicBezTo>
                <a:cubicBezTo>
                  <a:pt x="2121" y="8900"/>
                  <a:pt x="0" y="9254"/>
                  <a:pt x="0" y="8333"/>
                </a:cubicBezTo>
                <a:lnTo>
                  <a:pt x="0" y="166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sensor_data.db</a:t>
            </a:r>
            <a:endParaRPr lang="ko-KR" altLang="en-US" sz="1100"/>
          </a:p>
        </p:txBody>
      </p: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8C996656-B83B-4F02-BDBC-3C200640E98D}"/>
              </a:ext>
            </a:extLst>
          </p:cNvPr>
          <p:cNvCxnSpPr>
            <a:cxnSpLocks/>
            <a:stCxn id="2" idx="3"/>
            <a:endCxn id="51" idx="3"/>
          </p:cNvCxnSpPr>
          <p:nvPr/>
        </p:nvCxnSpPr>
        <p:spPr>
          <a:xfrm>
            <a:off x="3168304" y="3846302"/>
            <a:ext cx="627973" cy="1869322"/>
          </a:xfrm>
          <a:prstGeom prst="bentConnector3">
            <a:avLst>
              <a:gd name="adj1" fmla="val 183592"/>
            </a:avLst>
          </a:prstGeom>
          <a:ln w="53975"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순서도: 자기 디스크 10">
            <a:extLst>
              <a:ext uri="{FF2B5EF4-FFF2-40B4-BE49-F238E27FC236}">
                <a16:creationId xmlns:a16="http://schemas.microsoft.com/office/drawing/2014/main" id="{BBC5FB6E-925D-4EBA-92B3-549C36FBA4B2}"/>
              </a:ext>
            </a:extLst>
          </p:cNvPr>
          <p:cNvSpPr/>
          <p:nvPr/>
        </p:nvSpPr>
        <p:spPr>
          <a:xfrm>
            <a:off x="2362717" y="5459153"/>
            <a:ext cx="1433560" cy="307777"/>
          </a:xfrm>
          <a:custGeom>
            <a:avLst/>
            <a:gdLst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10000 w 10000"/>
              <a:gd name="connsiteY0" fmla="*/ 1667 h 10000"/>
              <a:gd name="connsiteX1" fmla="*/ 5000 w 10000"/>
              <a:gd name="connsiteY1" fmla="*/ 3334 h 10000"/>
              <a:gd name="connsiteX2" fmla="*/ 0 w 10000"/>
              <a:gd name="connsiteY2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10000 w 10000"/>
              <a:gd name="connsiteY0" fmla="*/ 1667 h 10000"/>
              <a:gd name="connsiteX1" fmla="*/ 4941 w 10000"/>
              <a:gd name="connsiteY1" fmla="*/ 1959 h 10000"/>
              <a:gd name="connsiteX2" fmla="*/ 0 w 10000"/>
              <a:gd name="connsiteY2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10000 w 10000"/>
              <a:gd name="connsiteY0" fmla="*/ 1667 h 10000"/>
              <a:gd name="connsiteX1" fmla="*/ 4941 w 10000"/>
              <a:gd name="connsiteY1" fmla="*/ 1959 h 10000"/>
              <a:gd name="connsiteX2" fmla="*/ 0 w 10000"/>
              <a:gd name="connsiteY2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4882 w 10000"/>
              <a:gd name="connsiteY4" fmla="*/ 8900 h 10000"/>
              <a:gd name="connsiteX5" fmla="*/ 0 w 10000"/>
              <a:gd name="connsiteY5" fmla="*/ 8333 h 10000"/>
              <a:gd name="connsiteX6" fmla="*/ 0 w 10000"/>
              <a:gd name="connsiteY6" fmla="*/ 1667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00" h="10000" stroke="0" extrusionOk="0">
                <a:moveTo>
                  <a:pt x="0" y="1667"/>
                </a:moveTo>
                <a:cubicBezTo>
                  <a:pt x="0" y="746"/>
                  <a:pt x="2239" y="0"/>
                  <a:pt x="5000" y="0"/>
                </a:cubicBezTo>
                <a:cubicBezTo>
                  <a:pt x="7761" y="0"/>
                  <a:pt x="10000" y="746"/>
                  <a:pt x="10000" y="1667"/>
                </a:cubicBezTo>
                <a:lnTo>
                  <a:pt x="10000" y="8333"/>
                </a:lnTo>
                <a:cubicBezTo>
                  <a:pt x="10000" y="9254"/>
                  <a:pt x="7761" y="10000"/>
                  <a:pt x="5000" y="10000"/>
                </a:cubicBezTo>
                <a:cubicBezTo>
                  <a:pt x="2239" y="10000"/>
                  <a:pt x="0" y="9254"/>
                  <a:pt x="0" y="8333"/>
                </a:cubicBezTo>
                <a:lnTo>
                  <a:pt x="0" y="1667"/>
                </a:lnTo>
                <a:close/>
              </a:path>
              <a:path w="10000" h="10000" fill="none" extrusionOk="0">
                <a:moveTo>
                  <a:pt x="10000" y="1667"/>
                </a:moveTo>
                <a:cubicBezTo>
                  <a:pt x="10000" y="2588"/>
                  <a:pt x="7702" y="1959"/>
                  <a:pt x="4941" y="1959"/>
                </a:cubicBezTo>
                <a:cubicBezTo>
                  <a:pt x="2180" y="1959"/>
                  <a:pt x="0" y="2588"/>
                  <a:pt x="0" y="1667"/>
                </a:cubicBezTo>
              </a:path>
              <a:path w="10000" h="10000" fill="none">
                <a:moveTo>
                  <a:pt x="0" y="1667"/>
                </a:moveTo>
                <a:cubicBezTo>
                  <a:pt x="0" y="746"/>
                  <a:pt x="2239" y="0"/>
                  <a:pt x="5000" y="0"/>
                </a:cubicBezTo>
                <a:cubicBezTo>
                  <a:pt x="7761" y="0"/>
                  <a:pt x="10000" y="746"/>
                  <a:pt x="10000" y="1667"/>
                </a:cubicBezTo>
                <a:lnTo>
                  <a:pt x="10000" y="8333"/>
                </a:lnTo>
                <a:cubicBezTo>
                  <a:pt x="10000" y="9254"/>
                  <a:pt x="7643" y="8900"/>
                  <a:pt x="4882" y="8900"/>
                </a:cubicBezTo>
                <a:cubicBezTo>
                  <a:pt x="2121" y="8900"/>
                  <a:pt x="0" y="9254"/>
                  <a:pt x="0" y="8333"/>
                </a:cubicBezTo>
                <a:lnTo>
                  <a:pt x="0" y="166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results_history.db</a:t>
            </a:r>
            <a:endParaRPr lang="ko-KR" altLang="en-US" sz="110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58A1DAA-21EA-4EB5-B094-AA0FCC4E8694}"/>
              </a:ext>
            </a:extLst>
          </p:cNvPr>
          <p:cNvSpPr/>
          <p:nvPr/>
        </p:nvSpPr>
        <p:spPr>
          <a:xfrm>
            <a:off x="834496" y="257830"/>
            <a:ext cx="2961781" cy="393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30000"/>
              </a:lnSpc>
            </a:pPr>
            <a:r>
              <a:rPr lang="ko-KR" altLang="en-US" sz="1600">
                <a:solidFill>
                  <a:srgbClr val="0070C0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주요 프로그램의 입력과 출력 명세 </a:t>
            </a:r>
            <a:endParaRPr lang="en-US" altLang="ko-KR" sz="1600">
              <a:solidFill>
                <a:srgbClr val="0070C0"/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</p:txBody>
      </p:sp>
      <p:sp>
        <p:nvSpPr>
          <p:cNvPr id="45" name="화살표: 오른쪽 44">
            <a:extLst>
              <a:ext uri="{FF2B5EF4-FFF2-40B4-BE49-F238E27FC236}">
                <a16:creationId xmlns:a16="http://schemas.microsoft.com/office/drawing/2014/main" id="{E30295D1-4985-4460-86BC-442D7D0AC5B9}"/>
              </a:ext>
            </a:extLst>
          </p:cNvPr>
          <p:cNvSpPr/>
          <p:nvPr/>
        </p:nvSpPr>
        <p:spPr>
          <a:xfrm rot="16200000" flipV="1">
            <a:off x="2148624" y="4326958"/>
            <a:ext cx="622684" cy="817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922453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95D951-9DD3-4259-8D0A-6F1CF5DD069C}"/>
              </a:ext>
            </a:extLst>
          </p:cNvPr>
          <p:cNvSpPr txBox="1"/>
          <p:nvPr/>
        </p:nvSpPr>
        <p:spPr>
          <a:xfrm>
            <a:off x="813114" y="495367"/>
            <a:ext cx="2286523" cy="30777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b="1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create_db.py : MySQL</a:t>
            </a:r>
            <a:r>
              <a:rPr lang="ko-KR" altLang="en-US" sz="1400" b="1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400" b="1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DB</a:t>
            </a:r>
            <a:endParaRPr lang="ko-KR" altLang="en-US" sz="1400" b="1"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8635F66C-B6AF-4965-A78D-A668B2BC46EA}"/>
              </a:ext>
            </a:extLst>
          </p:cNvPr>
          <p:cNvGrpSpPr/>
          <p:nvPr/>
        </p:nvGrpSpPr>
        <p:grpSpPr>
          <a:xfrm>
            <a:off x="1930561" y="1642533"/>
            <a:ext cx="2523068" cy="4634494"/>
            <a:chOff x="990599" y="1625600"/>
            <a:chExt cx="2523068" cy="463449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CB9F19D-8443-4C56-BB60-8143D8EE14B8}"/>
                </a:ext>
              </a:extLst>
            </p:cNvPr>
            <p:cNvSpPr txBox="1"/>
            <p:nvPr/>
          </p:nvSpPr>
          <p:spPr>
            <a:xfrm>
              <a:off x="990600" y="2074333"/>
              <a:ext cx="2523067" cy="4185761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400" b="1"/>
                <a:t>thermal_queue </a:t>
              </a:r>
              <a:endParaRPr lang="ko-KR" altLang="en-US" sz="1400" b="1"/>
            </a:p>
            <a:p>
              <a:r>
                <a:rPr lang="ko-KR" altLang="en-US" sz="1400"/>
                <a:t>   └ </a:t>
              </a:r>
              <a:r>
                <a:rPr lang="en-US" altLang="ko-KR" sz="1400"/>
                <a:t>hot_list (JSON)</a:t>
              </a:r>
            </a:p>
            <a:p>
              <a:pPr lvl="1"/>
              <a:r>
                <a:rPr lang="en-US" altLang="ko-KR" sz="1400" b="1"/>
                <a:t>.</a:t>
              </a:r>
            </a:p>
            <a:p>
              <a:pPr lvl="1"/>
              <a:r>
                <a:rPr lang="en-US" altLang="ko-KR" sz="1400" b="1"/>
                <a:t>.</a:t>
              </a:r>
            </a:p>
            <a:p>
              <a:pPr lvl="1"/>
              <a:r>
                <a:rPr lang="en-US" altLang="ko-KR" sz="1400" b="1"/>
                <a:t>.    </a:t>
              </a:r>
            </a:p>
            <a:p>
              <a:pPr lvl="1"/>
              <a:r>
                <a:rPr lang="en-US" altLang="ko-KR" sz="1400" b="1"/>
                <a:t>                          </a:t>
              </a:r>
            </a:p>
            <a:p>
              <a:r>
                <a:rPr lang="en-US" altLang="ko-KR" sz="1400" b="1"/>
                <a:t>current_value (id=1)    </a:t>
              </a:r>
            </a:p>
            <a:p>
              <a:r>
                <a:rPr lang="en-US" altLang="ko-KR" sz="1400"/>
                <a:t>   ├ median_hot_list </a:t>
              </a:r>
            </a:p>
            <a:p>
              <a:r>
                <a:rPr lang="en-US" altLang="ko-KR" sz="1400"/>
                <a:t>   ├ people_count  </a:t>
              </a:r>
            </a:p>
            <a:p>
              <a:r>
                <a:rPr lang="en-US" altLang="ko-KR" sz="1400"/>
                <a:t>   ├ fall_people      </a:t>
              </a:r>
            </a:p>
            <a:p>
              <a:r>
                <a:rPr lang="en-US" altLang="ko-KR" sz="1400"/>
                <a:t>   ├ fire_list (JSON) </a:t>
              </a:r>
            </a:p>
            <a:p>
              <a:r>
                <a:rPr lang="en-US" altLang="ko-KR" sz="1400"/>
                <a:t>   ├ smoke_list (JSON)  </a:t>
              </a:r>
            </a:p>
            <a:p>
              <a:r>
                <a:rPr lang="en-US" altLang="ko-KR" sz="1400"/>
                <a:t>   ├ mask_list (JSON)</a:t>
              </a:r>
            </a:p>
            <a:p>
              <a:r>
                <a:rPr lang="en-US" altLang="ko-KR" sz="1400"/>
                <a:t>   ├ avg_score</a:t>
              </a:r>
            </a:p>
            <a:p>
              <a:r>
                <a:rPr lang="en-US" altLang="ko-KR" sz="1400"/>
                <a:t>   ├ avg_mse</a:t>
              </a:r>
            </a:p>
            <a:p>
              <a:r>
                <a:rPr lang="en-US" altLang="ko-KR" sz="1400"/>
                <a:t>   ├ error_code   </a:t>
              </a:r>
            </a:p>
            <a:p>
              <a:r>
                <a:rPr lang="en-US" altLang="ko-KR" sz="1400"/>
                <a:t>   ├ main_command           </a:t>
              </a:r>
            </a:p>
            <a:p>
              <a:r>
                <a:rPr lang="en-US" altLang="ko-KR" sz="1400"/>
                <a:t>   ├ debug_msg</a:t>
              </a:r>
            </a:p>
            <a:p>
              <a:r>
                <a:rPr lang="en-US" altLang="ko-KR" sz="1400"/>
                <a:t>    └  main_command </a:t>
              </a:r>
              <a:endParaRPr lang="ko-KR" altLang="en-US" sz="14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6525C01-4D98-498C-A930-CE7871B87BD7}"/>
                </a:ext>
              </a:extLst>
            </p:cNvPr>
            <p:cNvSpPr txBox="1"/>
            <p:nvPr/>
          </p:nvSpPr>
          <p:spPr>
            <a:xfrm>
              <a:off x="990599" y="1625600"/>
              <a:ext cx="2523068" cy="3385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/>
                <a:t>sensor_data</a:t>
              </a:r>
              <a:endParaRPr lang="ko-KR" altLang="en-US" sz="160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DA6DDC-E622-4746-B284-39C3A2288AF7}"/>
              </a:ext>
            </a:extLst>
          </p:cNvPr>
          <p:cNvSpPr txBox="1"/>
          <p:nvPr/>
        </p:nvSpPr>
        <p:spPr>
          <a:xfrm>
            <a:off x="5164829" y="2085716"/>
            <a:ext cx="2523067" cy="160043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b="1"/>
              <a:t>results_history_YYYYMMDD</a:t>
            </a:r>
            <a:endParaRPr lang="en-US" altLang="ko-KR" sz="1400"/>
          </a:p>
          <a:p>
            <a:r>
              <a:rPr lang="en-US" altLang="ko-KR" sz="1200"/>
              <a:t>├ score </a:t>
            </a:r>
          </a:p>
          <a:p>
            <a:r>
              <a:rPr lang="en-US" altLang="ko-KR" sz="1200"/>
              <a:t>├ mse</a:t>
            </a:r>
          </a:p>
          <a:p>
            <a:r>
              <a:rPr lang="en-US" altLang="ko-KR" sz="1200"/>
              <a:t>├ people_count            </a:t>
            </a:r>
          </a:p>
          <a:p>
            <a:r>
              <a:rPr lang="en-US" altLang="ko-KR" sz="1200"/>
              <a:t>├ fall_people         </a:t>
            </a:r>
          </a:p>
          <a:p>
            <a:r>
              <a:rPr lang="en-US" altLang="ko-KR" sz="1200"/>
              <a:t>├ hot_list (JSON)      </a:t>
            </a:r>
          </a:p>
          <a:p>
            <a:r>
              <a:rPr lang="en-US" altLang="ko-KR" sz="1200"/>
              <a:t>├ fire_list (JSON)     </a:t>
            </a:r>
          </a:p>
          <a:p>
            <a:r>
              <a:rPr lang="en-US" altLang="ko-KR" sz="1200"/>
              <a:t> └ smoke_list (JSON) </a:t>
            </a:r>
            <a:endParaRPr lang="ko-KR" altLang="en-US" sz="12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47B35B-8CFC-40F9-9D61-176A40FBFEEA}"/>
              </a:ext>
            </a:extLst>
          </p:cNvPr>
          <p:cNvSpPr txBox="1"/>
          <p:nvPr/>
        </p:nvSpPr>
        <p:spPr>
          <a:xfrm>
            <a:off x="5164828" y="1673311"/>
            <a:ext cx="2523068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/>
              <a:t>results_history</a:t>
            </a:r>
            <a:endParaRPr lang="ko-KR" altLang="en-US" sz="16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99240DC-D7C4-45A8-AF62-42B15289E15D}"/>
              </a:ext>
            </a:extLst>
          </p:cNvPr>
          <p:cNvSpPr/>
          <p:nvPr/>
        </p:nvSpPr>
        <p:spPr>
          <a:xfrm>
            <a:off x="1620312" y="937085"/>
            <a:ext cx="54660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[DB </a:t>
            </a:r>
            <a:r>
              <a:rPr lang="ko-KR" altLang="en-US" sz="1200"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테이블 전체 삭제</a:t>
            </a:r>
            <a:r>
              <a:rPr lang="en-US" altLang="ko-KR" sz="1200"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]</a:t>
            </a:r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⇒</a:t>
            </a:r>
            <a:r>
              <a:rPr lang="en-US" altLang="ko-KR" sz="1200"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 [DB</a:t>
            </a:r>
            <a:r>
              <a:rPr lang="ko-KR" altLang="en-US" sz="1200"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테이블생성</a:t>
            </a:r>
            <a:r>
              <a:rPr lang="en-US" altLang="ko-KR" sz="1200"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]</a:t>
            </a:r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⇒</a:t>
            </a:r>
            <a:r>
              <a:rPr lang="en-US" altLang="ko-KR" sz="1200"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 [DB </a:t>
            </a:r>
            <a:r>
              <a:rPr lang="ko-KR" altLang="en-US" sz="1200"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테이블 확인 </a:t>
            </a:r>
            <a:r>
              <a:rPr lang="en-US" altLang="ko-KR" sz="1200"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DB </a:t>
            </a:r>
            <a:r>
              <a:rPr lang="ko-KR" altLang="en-US" sz="1200"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테이블 스키마</a:t>
            </a:r>
            <a:endParaRPr lang="en-US" altLang="ko-KR" sz="1200">
              <a:latin typeface="KoPubWorld돋움체_Pro Light" panose="00000300000000000000" pitchFamily="50" charset="-127"/>
              <a:ea typeface="KoPubWorld돋움체_Pro Light" panose="00000300000000000000" pitchFamily="50" charset="-127"/>
              <a:cs typeface="KoPubWorld돋움체_Pro Light" panose="00000300000000000000" pitchFamily="50" charset="-127"/>
            </a:endParaRPr>
          </a:p>
        </p:txBody>
      </p:sp>
      <p:sp>
        <p:nvSpPr>
          <p:cNvPr id="4" name="말풍선: 모서리가 둥근 사각형 3">
            <a:extLst>
              <a:ext uri="{FF2B5EF4-FFF2-40B4-BE49-F238E27FC236}">
                <a16:creationId xmlns:a16="http://schemas.microsoft.com/office/drawing/2014/main" id="{50F824D6-E907-44D5-BD68-5FACFA46B34C}"/>
              </a:ext>
            </a:extLst>
          </p:cNvPr>
          <p:cNvSpPr/>
          <p:nvPr/>
        </p:nvSpPr>
        <p:spPr>
          <a:xfrm flipH="1">
            <a:off x="321734" y="2467315"/>
            <a:ext cx="1699376" cy="477265"/>
          </a:xfrm>
          <a:prstGeom prst="wedgeRoundRectCallout">
            <a:avLst>
              <a:gd name="adj1" fmla="val -72988"/>
              <a:gd name="adj2" fmla="val 83553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MAX_RECORDS 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만큼 </a:t>
            </a: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FIFO 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리스트</a:t>
            </a: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(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예</a:t>
            </a: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:10)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7426380B-E73B-4FEF-B66E-00C74E973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4893" y="4173117"/>
            <a:ext cx="23686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i="0" u="none" strike="noStrike" cap="none" normalizeH="0" baseline="0">
                <a:ln>
                  <a:noFill/>
                </a:ln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순환 큐</a:t>
            </a:r>
            <a:r>
              <a:rPr kumimoji="0" lang="en-US" altLang="ko-KR" sz="1000" i="0" u="none" strike="noStrike" cap="none" normalizeH="0" baseline="0">
                <a:ln>
                  <a:noFill/>
                </a:ln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kumimoji="0" lang="ko-KR" altLang="en-US" sz="1000" i="0" u="none" strike="noStrike" cap="none" normalizeH="0" baseline="0">
                <a:ln>
                  <a:noFill/>
                </a:ln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방식</a:t>
            </a:r>
            <a:r>
              <a:rPr kumimoji="0" lang="ko-KR" altLang="ko-KR" sz="1000" i="0" u="none" strike="noStrike" cap="none" normalizeH="0" baseline="0">
                <a:ln>
                  <a:noFill/>
                </a:ln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(Ring Buffer)</a:t>
            </a:r>
            <a:r>
              <a:rPr kumimoji="0" lang="en-US" altLang="ko-KR" sz="1000" i="0" u="none" strike="noStrike" cap="none" normalizeH="0" baseline="0">
                <a:ln>
                  <a:noFill/>
                </a:ln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: FIFO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000" i="0" u="none" strike="noStrike" cap="none" normalizeH="0" baseline="0">
                <a:ln>
                  <a:noFill/>
                </a:ln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새로운 레코드가 들어올 때</a:t>
            </a:r>
            <a:r>
              <a:rPr kumimoji="0" lang="en-US" altLang="ko-KR" sz="1000" i="0" u="none" strike="noStrike" cap="none" normalizeH="0" baseline="0">
                <a:ln>
                  <a:noFill/>
                </a:ln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kumimoji="0" lang="ko-KR" altLang="ko-KR" sz="1000" i="0" strike="noStrike" cap="none" normalizeH="0" baseline="0">
                <a:ln>
                  <a:noFill/>
                </a:ln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가장 오래된 레코드 삭제하고</a:t>
            </a:r>
            <a:r>
              <a:rPr kumimoji="0" lang="en-US" altLang="ko-KR" sz="1000" i="0" strike="noStrike" cap="none" normalizeH="0" baseline="0">
                <a:ln>
                  <a:noFill/>
                </a:ln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kumimoji="0" lang="ko-KR" altLang="ko-KR" sz="1000" i="0" strike="noStrike" cap="none" normalizeH="0" baseline="0">
                <a:ln>
                  <a:noFill/>
                </a:ln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추가</a:t>
            </a:r>
            <a:r>
              <a:rPr lang="ko-KR" altLang="en-US" sz="10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됨</a:t>
            </a:r>
            <a:endParaRPr lang="en-US" altLang="ko-KR" sz="1000" b="0" u="none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en-US" sz="1000" i="0" strike="noStrike" cap="none" normalizeH="0" baseline="0">
                <a:ln>
                  <a:noFill/>
                </a:ln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예</a:t>
            </a:r>
            <a:r>
              <a:rPr kumimoji="0" lang="en-US" altLang="ko-KR" sz="1000" i="0" strike="noStrike" cap="none" normalizeH="0" baseline="0">
                <a:ln>
                  <a:noFill/>
                </a:ln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 16 </a:t>
            </a:r>
            <a:r>
              <a:rPr kumimoji="0" lang="ko-KR" altLang="en-US" sz="1000" i="0" strike="noStrike" cap="none" normalizeH="0" baseline="0">
                <a:ln>
                  <a:noFill/>
                </a:ln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필드 ❌ </a:t>
            </a:r>
            <a:r>
              <a:rPr kumimoji="0" lang="en-US" altLang="ko-KR" sz="1000" i="0" strike="noStrike" cap="none" normalizeH="0" baseline="0">
                <a:ln>
                  <a:noFill/>
                </a:ln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10 </a:t>
            </a:r>
            <a:r>
              <a:rPr kumimoji="0" lang="ko-KR" altLang="en-US" sz="1000" i="0" strike="noStrike" cap="none" normalizeH="0" baseline="0">
                <a:ln>
                  <a:noFill/>
                </a:ln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레코드</a:t>
            </a:r>
            <a:endParaRPr kumimoji="0" lang="ko-KR" altLang="ko-KR" sz="1000" b="0" i="0" u="none" strike="noStrike" cap="none" normalizeH="0" baseline="0">
              <a:ln>
                <a:noFill/>
              </a:ln>
              <a:effectLst/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2FF6450-C372-4844-AF9F-61379A60A509}"/>
              </a:ext>
            </a:extLst>
          </p:cNvPr>
          <p:cNvGrpSpPr/>
          <p:nvPr/>
        </p:nvGrpSpPr>
        <p:grpSpPr>
          <a:xfrm>
            <a:off x="5309533" y="4922425"/>
            <a:ext cx="2142243" cy="1710477"/>
            <a:chOff x="760408" y="3464169"/>
            <a:chExt cx="2142243" cy="1710477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E29BC6C7-085A-4E55-B2A5-C26B1A63B459}"/>
                </a:ext>
              </a:extLst>
            </p:cNvPr>
            <p:cNvGrpSpPr/>
            <p:nvPr/>
          </p:nvGrpSpPr>
          <p:grpSpPr>
            <a:xfrm>
              <a:off x="802743" y="3464169"/>
              <a:ext cx="1862666" cy="1484843"/>
              <a:chOff x="3691467" y="4287952"/>
              <a:chExt cx="1862666" cy="1484843"/>
            </a:xfrm>
          </p:grpSpPr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6037F61A-1D8E-4B46-96AE-58D29636D0B3}"/>
                  </a:ext>
                </a:extLst>
              </p:cNvPr>
              <p:cNvSpPr/>
              <p:nvPr/>
            </p:nvSpPr>
            <p:spPr>
              <a:xfrm>
                <a:off x="3691467" y="4312127"/>
                <a:ext cx="1862666" cy="144520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C043E19C-BA54-4E5A-8B51-DED5A4B12664}"/>
                  </a:ext>
                </a:extLst>
              </p:cNvPr>
              <p:cNvCxnSpPr/>
              <p:nvPr/>
            </p:nvCxnSpPr>
            <p:spPr>
              <a:xfrm>
                <a:off x="3691467" y="4445861"/>
                <a:ext cx="1862666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직선 연결선 20">
                <a:extLst>
                  <a:ext uri="{FF2B5EF4-FFF2-40B4-BE49-F238E27FC236}">
                    <a16:creationId xmlns:a16="http://schemas.microsoft.com/office/drawing/2014/main" id="{3B383AA4-3F99-4220-99BF-E737CA703A84}"/>
                  </a:ext>
                </a:extLst>
              </p:cNvPr>
              <p:cNvCxnSpPr/>
              <p:nvPr/>
            </p:nvCxnSpPr>
            <p:spPr>
              <a:xfrm>
                <a:off x="3691467" y="4590655"/>
                <a:ext cx="1862666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직선 연결선 21">
                <a:extLst>
                  <a:ext uri="{FF2B5EF4-FFF2-40B4-BE49-F238E27FC236}">
                    <a16:creationId xmlns:a16="http://schemas.microsoft.com/office/drawing/2014/main" id="{052B6405-2653-4B54-A578-D5ECED0148B5}"/>
                  </a:ext>
                </a:extLst>
              </p:cNvPr>
              <p:cNvCxnSpPr/>
              <p:nvPr/>
            </p:nvCxnSpPr>
            <p:spPr>
              <a:xfrm>
                <a:off x="3691467" y="4732743"/>
                <a:ext cx="1862666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직선 연결선 22">
                <a:extLst>
                  <a:ext uri="{FF2B5EF4-FFF2-40B4-BE49-F238E27FC236}">
                    <a16:creationId xmlns:a16="http://schemas.microsoft.com/office/drawing/2014/main" id="{F49658DD-CD91-49A9-9192-BD189F593685}"/>
                  </a:ext>
                </a:extLst>
              </p:cNvPr>
              <p:cNvCxnSpPr/>
              <p:nvPr/>
            </p:nvCxnSpPr>
            <p:spPr>
              <a:xfrm>
                <a:off x="3691467" y="5317927"/>
                <a:ext cx="1862666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직선 연결선 23">
                <a:extLst>
                  <a:ext uri="{FF2B5EF4-FFF2-40B4-BE49-F238E27FC236}">
                    <a16:creationId xmlns:a16="http://schemas.microsoft.com/office/drawing/2014/main" id="{527E1F41-DE39-4CC5-B1B5-0E11E04791FC}"/>
                  </a:ext>
                </a:extLst>
              </p:cNvPr>
              <p:cNvCxnSpPr/>
              <p:nvPr/>
            </p:nvCxnSpPr>
            <p:spPr>
              <a:xfrm>
                <a:off x="3691467" y="5462721"/>
                <a:ext cx="1862666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8CB65DC7-75F8-4FD0-BA6D-AE781724BD39}"/>
                  </a:ext>
                </a:extLst>
              </p:cNvPr>
              <p:cNvCxnSpPr/>
              <p:nvPr/>
            </p:nvCxnSpPr>
            <p:spPr>
              <a:xfrm>
                <a:off x="3691467" y="5604809"/>
                <a:ext cx="1862666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22351A8E-823B-441D-963E-8F16546F0C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13605" y="4296665"/>
                <a:ext cx="0" cy="146066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69B882C6-4762-4463-A16B-70F346A82C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44209" y="4287952"/>
                <a:ext cx="0" cy="146066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직선 연결선 27">
                <a:extLst>
                  <a:ext uri="{FF2B5EF4-FFF2-40B4-BE49-F238E27FC236}">
                    <a16:creationId xmlns:a16="http://schemas.microsoft.com/office/drawing/2014/main" id="{C71C909C-1F93-4E9B-A08F-6221EF30EB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93005" y="4296665"/>
                <a:ext cx="0" cy="146066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직선 연결선 28">
                <a:extLst>
                  <a:ext uri="{FF2B5EF4-FFF2-40B4-BE49-F238E27FC236}">
                    <a16:creationId xmlns:a16="http://schemas.microsoft.com/office/drawing/2014/main" id="{D251F0A3-594F-462F-894B-0EA14421FC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46533" y="4312127"/>
                <a:ext cx="0" cy="146066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직선 연결선 29">
                <a:extLst>
                  <a:ext uri="{FF2B5EF4-FFF2-40B4-BE49-F238E27FC236}">
                    <a16:creationId xmlns:a16="http://schemas.microsoft.com/office/drawing/2014/main" id="{47F30D83-84BC-4F4F-9BDE-48464B341E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7137" y="4303414"/>
                <a:ext cx="0" cy="146066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30">
                <a:extLst>
                  <a:ext uri="{FF2B5EF4-FFF2-40B4-BE49-F238E27FC236}">
                    <a16:creationId xmlns:a16="http://schemas.microsoft.com/office/drawing/2014/main" id="{CD0E5D03-5085-484C-B54A-2B7D826312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5933" y="4312127"/>
                <a:ext cx="0" cy="146066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C0B0FD60-18D4-4937-AE47-2A12DFFE6F79}"/>
                </a:ext>
              </a:extLst>
            </p:cNvPr>
            <p:cNvSpPr/>
            <p:nvPr/>
          </p:nvSpPr>
          <p:spPr>
            <a:xfrm>
              <a:off x="760408" y="4959202"/>
              <a:ext cx="2020105" cy="21544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80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0  1   2                                        14 15</a:t>
              </a:r>
              <a:endParaRPr lang="ko-KR" altLang="ko-KR" sz="8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E420B6E6-71A4-4632-92CD-06BF2A2C6EDB}"/>
                </a:ext>
              </a:extLst>
            </p:cNvPr>
            <p:cNvSpPr/>
            <p:nvPr/>
          </p:nvSpPr>
          <p:spPr>
            <a:xfrm>
              <a:off x="2659348" y="3471410"/>
              <a:ext cx="243303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80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0 </a:t>
              </a:r>
            </a:p>
            <a:p>
              <a:pPr lvl="0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80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1</a:t>
              </a:r>
            </a:p>
            <a:p>
              <a:pPr lvl="0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80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2                                        </a:t>
              </a:r>
            </a:p>
            <a:p>
              <a:pPr lvl="0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ko-KR" sz="8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  <a:p>
              <a:pPr lvl="0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ko-KR" sz="8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  <a:p>
              <a:pPr lvl="0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ko-KR" sz="8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  <a:p>
              <a:pPr lvl="0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ko-KR" sz="8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  <a:p>
              <a:pPr lvl="0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ko-KR" sz="8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  <a:p>
              <a:pPr lvl="0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ko-KR" sz="8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  <a:p>
              <a:pPr lvl="0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ko-KR" sz="8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  <a:p>
              <a:pPr lvl="0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80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8</a:t>
              </a:r>
            </a:p>
            <a:p>
              <a:pPr lvl="0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80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9</a:t>
              </a:r>
              <a:endParaRPr lang="ko-KR" altLang="ko-KR" sz="8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F7DE1578-8158-4081-90D4-C977CA71886D}"/>
              </a:ext>
            </a:extLst>
          </p:cNvPr>
          <p:cNvGrpSpPr/>
          <p:nvPr/>
        </p:nvGrpSpPr>
        <p:grpSpPr>
          <a:xfrm>
            <a:off x="141307" y="4320100"/>
            <a:ext cx="2124364" cy="617787"/>
            <a:chOff x="111758" y="4616454"/>
            <a:chExt cx="2124364" cy="617787"/>
          </a:xfrm>
        </p:grpSpPr>
        <p:sp>
          <p:nvSpPr>
            <p:cNvPr id="35" name="Rectangle 1">
              <a:extLst>
                <a:ext uri="{FF2B5EF4-FFF2-40B4-BE49-F238E27FC236}">
                  <a16:creationId xmlns:a16="http://schemas.microsoft.com/office/drawing/2014/main" id="{935E5765-9446-4980-9983-9F092B0C34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58" y="4616454"/>
              <a:ext cx="2124364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120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 </a:t>
              </a:r>
              <a:r>
                <a:rPr lang="en-US" altLang="ko-KR" sz="120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median_hot</a:t>
              </a:r>
              <a:r>
                <a:rPr lang="ko-KR" altLang="en-US" sz="120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_list</a:t>
              </a:r>
              <a:r>
                <a:rPr lang="en-US" altLang="ko-KR" sz="120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(</a:t>
              </a:r>
              <a:r>
                <a:rPr lang="ko-KR" altLang="en-US" sz="120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예</a:t>
              </a:r>
              <a:r>
                <a:rPr lang="en-US" altLang="ko-KR" sz="120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:36</a:t>
              </a:r>
              <a:r>
                <a:rPr lang="ko-KR" altLang="en-US" sz="120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필드</a:t>
              </a:r>
              <a:r>
                <a:rPr lang="en-US" altLang="ko-KR" sz="120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)</a:t>
              </a:r>
            </a:p>
          </p:txBody>
        </p: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5FFDA263-E2A2-448D-A76F-5503137683C3}"/>
                </a:ext>
              </a:extLst>
            </p:cNvPr>
            <p:cNvGrpSpPr/>
            <p:nvPr/>
          </p:nvGrpSpPr>
          <p:grpSpPr>
            <a:xfrm>
              <a:off x="269015" y="4847429"/>
              <a:ext cx="1624774" cy="386812"/>
              <a:chOff x="717989" y="6270997"/>
              <a:chExt cx="1624774" cy="386812"/>
            </a:xfrm>
          </p:grpSpPr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8476D099-9A83-4DA3-AE00-C26ED4561CC4}"/>
                  </a:ext>
                </a:extLst>
              </p:cNvPr>
              <p:cNvSpPr/>
              <p:nvPr/>
            </p:nvSpPr>
            <p:spPr>
              <a:xfrm>
                <a:off x="717989" y="6270997"/>
                <a:ext cx="194730" cy="15034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C36E4B93-BC58-4912-8820-4EDE30F61486}"/>
                  </a:ext>
                </a:extLst>
              </p:cNvPr>
              <p:cNvSpPr/>
              <p:nvPr/>
            </p:nvSpPr>
            <p:spPr>
              <a:xfrm>
                <a:off x="725012" y="6442365"/>
                <a:ext cx="1617751" cy="2154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z="800"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0    1    2      . . .      33  34  35 </a:t>
                </a:r>
                <a:endParaRPr lang="ko-KR" altLang="ko-KR" sz="80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02AF99B3-2542-4534-8DF4-C36E5286A801}"/>
                  </a:ext>
                </a:extLst>
              </p:cNvPr>
              <p:cNvSpPr/>
              <p:nvPr/>
            </p:nvSpPr>
            <p:spPr>
              <a:xfrm>
                <a:off x="913869" y="6270997"/>
                <a:ext cx="194730" cy="15034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90B20AF3-7F57-4E5F-A37B-D360B8BF9CE7}"/>
                  </a:ext>
                </a:extLst>
              </p:cNvPr>
              <p:cNvSpPr/>
              <p:nvPr/>
            </p:nvSpPr>
            <p:spPr>
              <a:xfrm>
                <a:off x="1103602" y="6270997"/>
                <a:ext cx="194730" cy="15034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06E583E0-30B9-4A56-B4FE-98110E75BC43}"/>
                  </a:ext>
                </a:extLst>
              </p:cNvPr>
              <p:cNvSpPr/>
              <p:nvPr/>
            </p:nvSpPr>
            <p:spPr>
              <a:xfrm>
                <a:off x="1299482" y="6270997"/>
                <a:ext cx="194730" cy="15034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FEE86565-D919-47DE-8DD7-275C0F0A847E}"/>
                  </a:ext>
                </a:extLst>
              </p:cNvPr>
              <p:cNvSpPr/>
              <p:nvPr/>
            </p:nvSpPr>
            <p:spPr>
              <a:xfrm>
                <a:off x="1494612" y="6270997"/>
                <a:ext cx="194730" cy="15034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3ED4C441-A5D5-4559-BDE8-0C0F604B3D34}"/>
                  </a:ext>
                </a:extLst>
              </p:cNvPr>
              <p:cNvSpPr/>
              <p:nvPr/>
            </p:nvSpPr>
            <p:spPr>
              <a:xfrm>
                <a:off x="1690492" y="6270997"/>
                <a:ext cx="194730" cy="15034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1454D71A-FAB0-464D-88F3-3B493B8EA75D}"/>
                  </a:ext>
                </a:extLst>
              </p:cNvPr>
              <p:cNvSpPr/>
              <p:nvPr/>
            </p:nvSpPr>
            <p:spPr>
              <a:xfrm>
                <a:off x="1880225" y="6270997"/>
                <a:ext cx="194730" cy="15034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4496F699-3240-47F0-B30C-976F013C44A5}"/>
                  </a:ext>
                </a:extLst>
              </p:cNvPr>
              <p:cNvSpPr/>
              <p:nvPr/>
            </p:nvSpPr>
            <p:spPr>
              <a:xfrm>
                <a:off x="2076105" y="6270997"/>
                <a:ext cx="194730" cy="15034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58" name="Rectangle 1">
            <a:extLst>
              <a:ext uri="{FF2B5EF4-FFF2-40B4-BE49-F238E27FC236}">
                <a16:creationId xmlns:a16="http://schemas.microsoft.com/office/drawing/2014/main" id="{8DB7607E-40C4-4D57-9DC9-6CBBAF248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0297" y="3868694"/>
            <a:ext cx="186352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⊙</a:t>
            </a:r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table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: </a:t>
            </a:r>
            <a:r>
              <a:rPr lang="en-US" altLang="ko-KR" sz="1200" b="1"/>
              <a:t>thermal_queue </a:t>
            </a:r>
            <a:endParaRPr lang="ko-KR" altLang="ko-KR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83" name="말풍선: 모서리가 둥근 사각형 82">
            <a:extLst>
              <a:ext uri="{FF2B5EF4-FFF2-40B4-BE49-F238E27FC236}">
                <a16:creationId xmlns:a16="http://schemas.microsoft.com/office/drawing/2014/main" id="{BC7A1570-95F9-4ADA-A5FD-03617020BD6D}"/>
              </a:ext>
            </a:extLst>
          </p:cNvPr>
          <p:cNvSpPr/>
          <p:nvPr/>
        </p:nvSpPr>
        <p:spPr>
          <a:xfrm flipH="1">
            <a:off x="321734" y="3388105"/>
            <a:ext cx="1523999" cy="257153"/>
          </a:xfrm>
          <a:prstGeom prst="wedgeRoundRectCallout">
            <a:avLst>
              <a:gd name="adj1" fmla="val -60493"/>
              <a:gd name="adj2" fmla="val 10067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개 레코드만 유지됨</a:t>
            </a:r>
            <a:endParaRPr lang="ko-KR" altLang="ko-KR" sz="1200">
              <a:solidFill>
                <a:schemeClr val="tx1">
                  <a:lumMod val="75000"/>
                  <a:lumOff val="25000"/>
                </a:schemeClr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3B2AA0A2-DE0B-495F-A5ED-46F6C559AAC9}"/>
              </a:ext>
            </a:extLst>
          </p:cNvPr>
          <p:cNvGrpSpPr/>
          <p:nvPr/>
        </p:nvGrpSpPr>
        <p:grpSpPr>
          <a:xfrm>
            <a:off x="141307" y="4885129"/>
            <a:ext cx="1782031" cy="617787"/>
            <a:chOff x="111758" y="4616454"/>
            <a:chExt cx="1782031" cy="617787"/>
          </a:xfrm>
        </p:grpSpPr>
        <p:sp>
          <p:nvSpPr>
            <p:cNvPr id="85" name="Rectangle 1">
              <a:extLst>
                <a:ext uri="{FF2B5EF4-FFF2-40B4-BE49-F238E27FC236}">
                  <a16:creationId xmlns:a16="http://schemas.microsoft.com/office/drawing/2014/main" id="{DB1DAA2E-FC29-4D28-A1DC-B5F371A983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58" y="4616454"/>
              <a:ext cx="773097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120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 fire_list</a:t>
              </a:r>
              <a:endParaRPr lang="en-US" altLang="ko-KR" sz="120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DD99303C-706E-4955-A96E-355CC2B4C976}"/>
                </a:ext>
              </a:extLst>
            </p:cNvPr>
            <p:cNvGrpSpPr/>
            <p:nvPr/>
          </p:nvGrpSpPr>
          <p:grpSpPr>
            <a:xfrm>
              <a:off x="269015" y="4847429"/>
              <a:ext cx="1624774" cy="386812"/>
              <a:chOff x="717989" y="6270997"/>
              <a:chExt cx="1624774" cy="386812"/>
            </a:xfrm>
          </p:grpSpPr>
          <p:sp>
            <p:nvSpPr>
              <p:cNvPr id="87" name="직사각형 86">
                <a:extLst>
                  <a:ext uri="{FF2B5EF4-FFF2-40B4-BE49-F238E27FC236}">
                    <a16:creationId xmlns:a16="http://schemas.microsoft.com/office/drawing/2014/main" id="{D5122DF9-AA51-42BD-AA0A-25CF48DE660A}"/>
                  </a:ext>
                </a:extLst>
              </p:cNvPr>
              <p:cNvSpPr/>
              <p:nvPr/>
            </p:nvSpPr>
            <p:spPr>
              <a:xfrm>
                <a:off x="717989" y="6270997"/>
                <a:ext cx="194730" cy="15034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8" name="직사각형 87">
                <a:extLst>
                  <a:ext uri="{FF2B5EF4-FFF2-40B4-BE49-F238E27FC236}">
                    <a16:creationId xmlns:a16="http://schemas.microsoft.com/office/drawing/2014/main" id="{FEBE245C-8633-47EB-85B9-486FA5BCD6DD}"/>
                  </a:ext>
                </a:extLst>
              </p:cNvPr>
              <p:cNvSpPr/>
              <p:nvPr/>
            </p:nvSpPr>
            <p:spPr>
              <a:xfrm>
                <a:off x="725012" y="6442365"/>
                <a:ext cx="1617751" cy="2154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z="800"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0    1    2      . . .      33  34  35 </a:t>
                </a:r>
                <a:endParaRPr lang="ko-KR" altLang="ko-KR" sz="80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89" name="직사각형 88">
                <a:extLst>
                  <a:ext uri="{FF2B5EF4-FFF2-40B4-BE49-F238E27FC236}">
                    <a16:creationId xmlns:a16="http://schemas.microsoft.com/office/drawing/2014/main" id="{F6B4DFE3-3E90-4225-BD42-3E366F6CC910}"/>
                  </a:ext>
                </a:extLst>
              </p:cNvPr>
              <p:cNvSpPr/>
              <p:nvPr/>
            </p:nvSpPr>
            <p:spPr>
              <a:xfrm>
                <a:off x="913869" y="6270997"/>
                <a:ext cx="194730" cy="15034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D3817140-EDE0-40E5-A959-35E565C999B7}"/>
                  </a:ext>
                </a:extLst>
              </p:cNvPr>
              <p:cNvSpPr/>
              <p:nvPr/>
            </p:nvSpPr>
            <p:spPr>
              <a:xfrm>
                <a:off x="1103602" y="6270997"/>
                <a:ext cx="194730" cy="15034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1" name="직사각형 90">
                <a:extLst>
                  <a:ext uri="{FF2B5EF4-FFF2-40B4-BE49-F238E27FC236}">
                    <a16:creationId xmlns:a16="http://schemas.microsoft.com/office/drawing/2014/main" id="{FA4EAB86-38A9-4009-90F5-5634FF311074}"/>
                  </a:ext>
                </a:extLst>
              </p:cNvPr>
              <p:cNvSpPr/>
              <p:nvPr/>
            </p:nvSpPr>
            <p:spPr>
              <a:xfrm>
                <a:off x="1299482" y="6270997"/>
                <a:ext cx="194730" cy="15034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2" name="직사각형 91">
                <a:extLst>
                  <a:ext uri="{FF2B5EF4-FFF2-40B4-BE49-F238E27FC236}">
                    <a16:creationId xmlns:a16="http://schemas.microsoft.com/office/drawing/2014/main" id="{FABB417A-8E8C-48D1-A772-D531A43B9817}"/>
                  </a:ext>
                </a:extLst>
              </p:cNvPr>
              <p:cNvSpPr/>
              <p:nvPr/>
            </p:nvSpPr>
            <p:spPr>
              <a:xfrm>
                <a:off x="1494612" y="6270997"/>
                <a:ext cx="194730" cy="15034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3" name="직사각형 92">
                <a:extLst>
                  <a:ext uri="{FF2B5EF4-FFF2-40B4-BE49-F238E27FC236}">
                    <a16:creationId xmlns:a16="http://schemas.microsoft.com/office/drawing/2014/main" id="{BA05EA23-7998-48F5-AB55-2EAA40CB51B9}"/>
                  </a:ext>
                </a:extLst>
              </p:cNvPr>
              <p:cNvSpPr/>
              <p:nvPr/>
            </p:nvSpPr>
            <p:spPr>
              <a:xfrm>
                <a:off x="1690492" y="6270997"/>
                <a:ext cx="194730" cy="15034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4" name="직사각형 93">
                <a:extLst>
                  <a:ext uri="{FF2B5EF4-FFF2-40B4-BE49-F238E27FC236}">
                    <a16:creationId xmlns:a16="http://schemas.microsoft.com/office/drawing/2014/main" id="{DE165D25-14D6-4BDC-86B2-35AE127AA54A}"/>
                  </a:ext>
                </a:extLst>
              </p:cNvPr>
              <p:cNvSpPr/>
              <p:nvPr/>
            </p:nvSpPr>
            <p:spPr>
              <a:xfrm>
                <a:off x="1880225" y="6270997"/>
                <a:ext cx="194730" cy="15034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5" name="직사각형 94">
                <a:extLst>
                  <a:ext uri="{FF2B5EF4-FFF2-40B4-BE49-F238E27FC236}">
                    <a16:creationId xmlns:a16="http://schemas.microsoft.com/office/drawing/2014/main" id="{E8319570-6833-4B8D-A0FF-CB5667CCB84E}"/>
                  </a:ext>
                </a:extLst>
              </p:cNvPr>
              <p:cNvSpPr/>
              <p:nvPr/>
            </p:nvSpPr>
            <p:spPr>
              <a:xfrm>
                <a:off x="2076105" y="6270997"/>
                <a:ext cx="194730" cy="15034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8A13152-13DF-4DFF-9CB1-560EBF1A4B72}"/>
              </a:ext>
            </a:extLst>
          </p:cNvPr>
          <p:cNvSpPr txBox="1"/>
          <p:nvPr/>
        </p:nvSpPr>
        <p:spPr>
          <a:xfrm>
            <a:off x="5064905" y="1206551"/>
            <a:ext cx="3133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KoPubWorld바탕체_Pro Bold" panose="00000800000000000000" pitchFamily="50" charset="-127"/>
                <a:ea typeface="KoPubWorld바탕체_Pro Bold" panose="00000800000000000000" pitchFamily="50" charset="-127"/>
                <a:cs typeface="KoPubWorld바탕체_Pro Bold" panose="00000800000000000000" pitchFamily="50" charset="-127"/>
              </a:rPr>
              <a:t>※</a:t>
            </a:r>
            <a:r>
              <a:rPr lang="en-US" altLang="ko-KR" sz="1200"/>
              <a:t>HISTORY_DB</a:t>
            </a:r>
            <a:r>
              <a:rPr lang="ko-KR" altLang="en-US" sz="1200"/>
              <a:t>는 </a:t>
            </a:r>
            <a:r>
              <a:rPr lang="en-US" altLang="ko-KR" sz="1200"/>
              <a:t>DB</a:t>
            </a:r>
            <a:r>
              <a:rPr lang="ko-KR" altLang="en-US" sz="1200"/>
              <a:t>만 생성하고 테이블은 런타임에 자동 생성됨</a:t>
            </a:r>
          </a:p>
        </p:txBody>
      </p:sp>
    </p:spTree>
    <p:extLst>
      <p:ext uri="{BB962C8B-B14F-4D97-AF65-F5344CB8AC3E}">
        <p14:creationId xmlns:p14="http://schemas.microsoft.com/office/powerpoint/2010/main" val="42086029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F4BFB19-19E6-4EFB-A19F-29AE8AA11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Page </a:t>
            </a:r>
            <a:fld id="{F03C90E3-98FA-4A46-95E3-0DCDD3916FEC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3420AFA-137B-4978-834A-97FFE0DBCE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0257943"/>
              </p:ext>
            </p:extLst>
          </p:nvPr>
        </p:nvGraphicFramePr>
        <p:xfrm>
          <a:off x="1102551" y="1769956"/>
          <a:ext cx="7301505" cy="2412875"/>
        </p:xfrm>
        <a:graphic>
          <a:graphicData uri="http://schemas.openxmlformats.org/drawingml/2006/table">
            <a:tbl>
              <a:tblPr>
                <a:tableStyleId>{85BE263C-DBD7-4A20-BB59-AAB30ACAA65A}</a:tableStyleId>
              </a:tblPr>
              <a:tblGrid>
                <a:gridCol w="1941397">
                  <a:extLst>
                    <a:ext uri="{9D8B030D-6E8A-4147-A177-3AD203B41FA5}">
                      <a16:colId xmlns:a16="http://schemas.microsoft.com/office/drawing/2014/main" val="2113168315"/>
                    </a:ext>
                  </a:extLst>
                </a:gridCol>
                <a:gridCol w="2926273">
                  <a:extLst>
                    <a:ext uri="{9D8B030D-6E8A-4147-A177-3AD203B41FA5}">
                      <a16:colId xmlns:a16="http://schemas.microsoft.com/office/drawing/2014/main" val="4018414347"/>
                    </a:ext>
                  </a:extLst>
                </a:gridCol>
                <a:gridCol w="2433835">
                  <a:extLst>
                    <a:ext uri="{9D8B030D-6E8A-4147-A177-3AD203B41FA5}">
                      <a16:colId xmlns:a16="http://schemas.microsoft.com/office/drawing/2014/main" val="3484537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200">
                          <a:effectLst/>
                        </a:rPr>
                        <a:t>항목</a:t>
                      </a:r>
                      <a:endParaRPr lang="ko-KR" altLang="en-US" sz="1200" b="0">
                        <a:effectLst/>
                        <a:latin typeface="KoPubWorld돋움체_Pro Light" panose="00000300000000000000" pitchFamily="50" charset="-127"/>
                        <a:ea typeface="KoPubWorld돋움체_Pro Light" panose="00000300000000000000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49292" marR="49292" marT="49292" marB="4929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effectLst/>
                        </a:rPr>
                        <a:t>SQLite</a:t>
                      </a:r>
                      <a:endParaRPr lang="en-US" sz="1200" b="0">
                        <a:effectLst/>
                        <a:latin typeface="KoPubWorld돋움체_Pro Light" panose="00000300000000000000" pitchFamily="50" charset="-127"/>
                        <a:ea typeface="KoPubWorld돋움체_Pro Light" panose="00000300000000000000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49292" marR="49292" marT="49292" marB="4929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>
                          <a:solidFill>
                            <a:srgbClr val="FF0000"/>
                          </a:solidFill>
                          <a:effectLst/>
                        </a:rPr>
                        <a:t>MySQL</a:t>
                      </a:r>
                      <a:endParaRPr lang="en-US" sz="1200" b="1">
                        <a:solidFill>
                          <a:srgbClr val="FF0000"/>
                        </a:solidFill>
                        <a:effectLst/>
                        <a:latin typeface="KoPubWorld돋움체_Pro Light" panose="00000300000000000000" pitchFamily="50" charset="-127"/>
                        <a:ea typeface="KoPubWorld돋움체_Pro Light" panose="00000300000000000000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49292" marR="49292" marT="49292" marB="49292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777916"/>
                  </a:ext>
                </a:extLst>
              </a:tr>
              <a:tr h="197668"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200">
                          <a:effectLst/>
                        </a:rPr>
                        <a:t>데이터 규모</a:t>
                      </a:r>
                      <a:endParaRPr lang="ko-KR" altLang="en-US" sz="1200">
                        <a:effectLst/>
                        <a:latin typeface="KoPubWorld돋움체_Pro Light" panose="00000300000000000000" pitchFamily="50" charset="-127"/>
                        <a:ea typeface="KoPubWorld돋움체_Pro Light" panose="00000300000000000000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49292" marR="49292" marT="49292" marB="492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200">
                          <a:effectLst/>
                        </a:rPr>
                        <a:t>소규모 </a:t>
                      </a:r>
                      <a:r>
                        <a:rPr lang="en-US" altLang="ko-KR" sz="1200">
                          <a:effectLst/>
                        </a:rPr>
                        <a:t>(</a:t>
                      </a:r>
                      <a:r>
                        <a:rPr lang="ko-KR" altLang="en-US" sz="1200">
                          <a:effectLst/>
                        </a:rPr>
                        <a:t>수 </a:t>
                      </a:r>
                      <a:r>
                        <a:rPr lang="en-US" altLang="ko-KR" sz="1200">
                          <a:effectLst/>
                        </a:rPr>
                        <a:t>GB </a:t>
                      </a:r>
                      <a:r>
                        <a:rPr lang="ko-KR" altLang="en-US" sz="1200">
                          <a:effectLst/>
                        </a:rPr>
                        <a:t>이하</a:t>
                      </a:r>
                      <a:r>
                        <a:rPr lang="en-US" altLang="ko-KR" sz="1200">
                          <a:effectLst/>
                        </a:rPr>
                        <a:t>)</a:t>
                      </a:r>
                      <a:endParaRPr lang="en-US" altLang="ko-KR" sz="1200">
                        <a:effectLst/>
                        <a:latin typeface="KoPubWorld돋움체_Pro Light" panose="00000300000000000000" pitchFamily="50" charset="-127"/>
                        <a:ea typeface="KoPubWorld돋움체_Pro Light" panose="00000300000000000000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49292" marR="49292" marT="49292" marB="492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200">
                          <a:effectLst/>
                        </a:rPr>
                        <a:t>대규모 </a:t>
                      </a:r>
                      <a:r>
                        <a:rPr lang="en-US" altLang="ko-KR" sz="1200">
                          <a:effectLst/>
                        </a:rPr>
                        <a:t>(</a:t>
                      </a:r>
                      <a:r>
                        <a:rPr lang="en-US" sz="1200">
                          <a:effectLst/>
                        </a:rPr>
                        <a:t>TB</a:t>
                      </a:r>
                      <a:r>
                        <a:rPr lang="ko-KR" altLang="en-US" sz="1200">
                          <a:effectLst/>
                        </a:rPr>
                        <a:t>급</a:t>
                      </a:r>
                      <a:r>
                        <a:rPr lang="en-US" altLang="ko-KR" sz="1200">
                          <a:effectLst/>
                        </a:rPr>
                        <a:t>)</a:t>
                      </a:r>
                      <a:endParaRPr lang="en-US" altLang="ko-KR" sz="1200">
                        <a:effectLst/>
                        <a:latin typeface="KoPubWorld돋움체_Pro Light" panose="00000300000000000000" pitchFamily="50" charset="-127"/>
                        <a:ea typeface="KoPubWorld돋움체_Pro Light" panose="00000300000000000000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49292" marR="49292" marT="49292" marB="49292"/>
                </a:tc>
                <a:extLst>
                  <a:ext uri="{0D108BD9-81ED-4DB2-BD59-A6C34878D82A}">
                    <a16:rowId xmlns:a16="http://schemas.microsoft.com/office/drawing/2014/main" val="1744689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200">
                          <a:effectLst/>
                        </a:rPr>
                        <a:t>동시 쓰기</a:t>
                      </a:r>
                      <a:endParaRPr lang="ko-KR" altLang="en-US" sz="1200">
                        <a:effectLst/>
                        <a:latin typeface="KoPubWorld돋움체_Pro Light" panose="00000300000000000000" pitchFamily="50" charset="-127"/>
                        <a:ea typeface="KoPubWorld돋움체_Pro Light" panose="00000300000000000000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49292" marR="49292" marT="49292" marB="492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200">
                          <a:effectLst/>
                        </a:rPr>
                        <a:t>불가 </a:t>
                      </a:r>
                      <a:r>
                        <a:rPr lang="en-US" altLang="ko-KR" sz="1200">
                          <a:effectLst/>
                        </a:rPr>
                        <a:t>(</a:t>
                      </a:r>
                      <a:r>
                        <a:rPr lang="ko-KR" altLang="en-US" sz="1200">
                          <a:effectLst/>
                        </a:rPr>
                        <a:t>파일 락</a:t>
                      </a:r>
                      <a:r>
                        <a:rPr lang="en-US" altLang="ko-KR" sz="1200">
                          <a:effectLst/>
                        </a:rPr>
                        <a:t>)</a:t>
                      </a:r>
                      <a:endParaRPr lang="en-US" altLang="ko-KR" sz="1200">
                        <a:effectLst/>
                        <a:latin typeface="KoPubWorld돋움체_Pro Light" panose="00000300000000000000" pitchFamily="50" charset="-127"/>
                        <a:ea typeface="KoPubWorld돋움체_Pro Light" panose="00000300000000000000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49292" marR="49292" marT="49292" marB="492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200">
                          <a:effectLst/>
                        </a:rPr>
                        <a:t>가능 </a:t>
                      </a:r>
                      <a:r>
                        <a:rPr lang="en-US" altLang="ko-KR" sz="1200">
                          <a:effectLst/>
                        </a:rPr>
                        <a:t>(</a:t>
                      </a:r>
                      <a:r>
                        <a:rPr lang="ko-KR" altLang="en-US" sz="1200">
                          <a:effectLst/>
                        </a:rPr>
                        <a:t>트랜잭션 처리</a:t>
                      </a:r>
                      <a:r>
                        <a:rPr lang="en-US" altLang="ko-KR" sz="1200">
                          <a:effectLst/>
                        </a:rPr>
                        <a:t>)</a:t>
                      </a:r>
                      <a:endParaRPr lang="en-US" altLang="ko-KR" sz="1200">
                        <a:effectLst/>
                        <a:latin typeface="KoPubWorld돋움체_Pro Light" panose="00000300000000000000" pitchFamily="50" charset="-127"/>
                        <a:ea typeface="KoPubWorld돋움체_Pro Light" panose="00000300000000000000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49292" marR="49292" marT="49292" marB="49292"/>
                </a:tc>
                <a:extLst>
                  <a:ext uri="{0D108BD9-81ED-4DB2-BD59-A6C34878D82A}">
                    <a16:rowId xmlns:a16="http://schemas.microsoft.com/office/drawing/2014/main" val="1181515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200">
                          <a:effectLst/>
                        </a:rPr>
                        <a:t>속도</a:t>
                      </a:r>
                      <a:endParaRPr lang="ko-KR" altLang="en-US" sz="1200">
                        <a:effectLst/>
                        <a:latin typeface="KoPubWorld돋움체_Pro Light" panose="00000300000000000000" pitchFamily="50" charset="-127"/>
                        <a:ea typeface="KoPubWorld돋움체_Pro Light" panose="00000300000000000000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49292" marR="49292" marT="49292" marB="492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200">
                          <a:effectLst/>
                        </a:rPr>
                        <a:t>단순 읽기는 빠름</a:t>
                      </a:r>
                      <a:endParaRPr lang="ko-KR" altLang="en-US" sz="1200">
                        <a:effectLst/>
                        <a:latin typeface="KoPubWorld돋움체_Pro Light" panose="00000300000000000000" pitchFamily="50" charset="-127"/>
                        <a:ea typeface="KoPubWorld돋움체_Pro Light" panose="00000300000000000000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49292" marR="49292" marT="49292" marB="492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200">
                          <a:effectLst/>
                        </a:rPr>
                        <a:t>복잡한 쿼리</a:t>
                      </a:r>
                      <a:r>
                        <a:rPr lang="en-US" altLang="ko-KR" sz="1200">
                          <a:effectLst/>
                        </a:rPr>
                        <a:t>/</a:t>
                      </a:r>
                      <a:r>
                        <a:rPr lang="ko-KR" altLang="en-US" sz="1200">
                          <a:effectLst/>
                        </a:rPr>
                        <a:t>대용량에 유리</a:t>
                      </a:r>
                      <a:endParaRPr lang="ko-KR" altLang="en-US" sz="1200">
                        <a:effectLst/>
                        <a:latin typeface="KoPubWorld돋움체_Pro Light" panose="00000300000000000000" pitchFamily="50" charset="-127"/>
                        <a:ea typeface="KoPubWorld돋움체_Pro Light" panose="00000300000000000000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49292" marR="49292" marT="49292" marB="49292"/>
                </a:tc>
                <a:extLst>
                  <a:ext uri="{0D108BD9-81ED-4DB2-BD59-A6C34878D82A}">
                    <a16:rowId xmlns:a16="http://schemas.microsoft.com/office/drawing/2014/main" val="672845578"/>
                  </a:ext>
                </a:extLst>
              </a:tr>
              <a:tr h="335185"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200">
                          <a:effectLst/>
                        </a:rPr>
                        <a:t>형태</a:t>
                      </a:r>
                      <a:endParaRPr lang="ko-KR" altLang="en-US" sz="1200">
                        <a:effectLst/>
                        <a:latin typeface="KoPubWorld돋움체_Pro Light" panose="00000300000000000000" pitchFamily="50" charset="-127"/>
                        <a:ea typeface="KoPubWorld돋움체_Pro Light" panose="00000300000000000000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49292" marR="49292" marT="49292" marB="492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200">
                          <a:effectLst/>
                        </a:rPr>
                        <a:t>파일 기반 </a:t>
                      </a:r>
                      <a:r>
                        <a:rPr lang="en-US" altLang="ko-KR" sz="1200">
                          <a:effectLst/>
                        </a:rPr>
                        <a:t>(.db </a:t>
                      </a:r>
                      <a:r>
                        <a:rPr lang="ko-KR" altLang="en-US" sz="1200">
                          <a:effectLst/>
                        </a:rPr>
                        <a:t>단일 파일</a:t>
                      </a:r>
                      <a:r>
                        <a:rPr lang="en-US" altLang="ko-KR" sz="1200">
                          <a:effectLst/>
                        </a:rPr>
                        <a:t>)</a:t>
                      </a:r>
                      <a:endParaRPr lang="en-US" altLang="ko-KR" sz="1200">
                        <a:effectLst/>
                        <a:latin typeface="KoPubWorld돋움체_Pro Light" panose="00000300000000000000" pitchFamily="50" charset="-127"/>
                        <a:ea typeface="KoPubWorld돋움체_Pro Light" panose="00000300000000000000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49292" marR="49292" marT="49292" marB="492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200">
                          <a:effectLst/>
                        </a:rPr>
                        <a:t>서버 프로세스</a:t>
                      </a:r>
                      <a:endParaRPr lang="ko-KR" altLang="en-US" sz="1200">
                        <a:effectLst/>
                        <a:latin typeface="KoPubWorld돋움체_Pro Light" panose="00000300000000000000" pitchFamily="50" charset="-127"/>
                        <a:ea typeface="KoPubWorld돋움체_Pro Light" panose="00000300000000000000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49292" marR="49292" marT="49292" marB="49292"/>
                </a:tc>
                <a:extLst>
                  <a:ext uri="{0D108BD9-81ED-4DB2-BD59-A6C34878D82A}">
                    <a16:rowId xmlns:a16="http://schemas.microsoft.com/office/drawing/2014/main" val="1732691304"/>
                  </a:ext>
                </a:extLst>
              </a:tr>
              <a:tr h="335185"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200">
                          <a:effectLst/>
                        </a:rPr>
                        <a:t>설치</a:t>
                      </a:r>
                      <a:endParaRPr lang="ko-KR" altLang="en-US" sz="1200">
                        <a:effectLst/>
                        <a:latin typeface="KoPubWorld돋움체_Pro Light" panose="00000300000000000000" pitchFamily="50" charset="-127"/>
                        <a:ea typeface="KoPubWorld돋움체_Pro Light" panose="00000300000000000000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49292" marR="49292" marT="49292" marB="492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200">
                          <a:effectLst/>
                        </a:rPr>
                        <a:t>불필요 </a:t>
                      </a:r>
                      <a:r>
                        <a:rPr lang="en-US" altLang="ko-KR" sz="1200">
                          <a:effectLst/>
                        </a:rPr>
                        <a:t>(</a:t>
                      </a:r>
                      <a:r>
                        <a:rPr lang="ko-KR" altLang="en-US" sz="1200">
                          <a:effectLst/>
                        </a:rPr>
                        <a:t>라이브러리만</a:t>
                      </a:r>
                      <a:r>
                        <a:rPr lang="en-US" altLang="ko-KR" sz="1200">
                          <a:effectLst/>
                        </a:rPr>
                        <a:t>)</a:t>
                      </a:r>
                      <a:endParaRPr lang="en-US" altLang="ko-KR" sz="1200">
                        <a:effectLst/>
                        <a:latin typeface="KoPubWorld돋움체_Pro Light" panose="00000300000000000000" pitchFamily="50" charset="-127"/>
                        <a:ea typeface="KoPubWorld돋움체_Pro Light" panose="00000300000000000000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49292" marR="49292" marT="49292" marB="492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200">
                          <a:effectLst/>
                        </a:rPr>
                        <a:t>별도 서버 설치 필요</a:t>
                      </a:r>
                      <a:endParaRPr lang="ko-KR" altLang="en-US" sz="1200">
                        <a:effectLst/>
                        <a:latin typeface="KoPubWorld돋움체_Pro Light" panose="00000300000000000000" pitchFamily="50" charset="-127"/>
                        <a:ea typeface="KoPubWorld돋움체_Pro Light" panose="00000300000000000000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49292" marR="49292" marT="49292" marB="49292"/>
                </a:tc>
                <a:extLst>
                  <a:ext uri="{0D108BD9-81ED-4DB2-BD59-A6C34878D82A}">
                    <a16:rowId xmlns:a16="http://schemas.microsoft.com/office/drawing/2014/main" val="1615034949"/>
                  </a:ext>
                </a:extLst>
              </a:tr>
              <a:tr h="335185"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200">
                          <a:effectLst/>
                        </a:rPr>
                        <a:t>접속</a:t>
                      </a:r>
                      <a:endParaRPr lang="ko-KR" altLang="en-US" sz="1200">
                        <a:effectLst/>
                        <a:latin typeface="KoPubWorld돋움체_Pro Light" panose="00000300000000000000" pitchFamily="50" charset="-127"/>
                        <a:ea typeface="KoPubWorld돋움체_Pro Light" panose="00000300000000000000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49292" marR="49292" marT="49292" marB="492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200">
                          <a:effectLst/>
                        </a:rPr>
                        <a:t>파일 경로로 직접 접근</a:t>
                      </a:r>
                      <a:endParaRPr lang="ko-KR" altLang="en-US" sz="1200">
                        <a:effectLst/>
                        <a:latin typeface="KoPubWorld돋움체_Pro Light" panose="00000300000000000000" pitchFamily="50" charset="-127"/>
                        <a:ea typeface="KoPubWorld돋움체_Pro Light" panose="00000300000000000000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49292" marR="49292" marT="49292" marB="492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effectLst/>
                        </a:rPr>
                        <a:t>host/port/user/password </a:t>
                      </a:r>
                      <a:r>
                        <a:rPr lang="ko-KR" altLang="en-US" sz="1200">
                          <a:effectLst/>
                        </a:rPr>
                        <a:t>필요</a:t>
                      </a:r>
                      <a:endParaRPr lang="ko-KR" altLang="en-US" sz="1200">
                        <a:effectLst/>
                        <a:latin typeface="KoPubWorld돋움체_Pro Light" panose="00000300000000000000" pitchFamily="50" charset="-127"/>
                        <a:ea typeface="KoPubWorld돋움체_Pro Light" panose="00000300000000000000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49292" marR="49292" marT="49292" marB="49292"/>
                </a:tc>
                <a:extLst>
                  <a:ext uri="{0D108BD9-81ED-4DB2-BD59-A6C34878D82A}">
                    <a16:rowId xmlns:a16="http://schemas.microsoft.com/office/drawing/2014/main" val="1101726053"/>
                  </a:ext>
                </a:extLst>
              </a:tr>
              <a:tr h="268613"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200">
                          <a:effectLst/>
                        </a:rPr>
                        <a:t>동시 접속</a:t>
                      </a:r>
                      <a:endParaRPr lang="ko-KR" altLang="en-US" sz="1200">
                        <a:effectLst/>
                        <a:latin typeface="KoPubWorld돋움체_Pro Light" panose="00000300000000000000" pitchFamily="50" charset="-127"/>
                        <a:ea typeface="KoPubWorld돋움체_Pro Light" panose="00000300000000000000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49292" marR="49292" marT="49292" marB="492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200">
                          <a:effectLst/>
                        </a:rPr>
                        <a:t>단일 프로세스에 적합</a:t>
                      </a:r>
                      <a:endParaRPr lang="ko-KR" altLang="en-US" sz="1200">
                        <a:effectLst/>
                        <a:latin typeface="KoPubWorld돋움체_Pro Light" panose="00000300000000000000" pitchFamily="50" charset="-127"/>
                        <a:ea typeface="KoPubWorld돋움체_Pro Light" panose="00000300000000000000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49292" marR="49292" marT="49292" marB="492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200">
                          <a:effectLst/>
                        </a:rPr>
                        <a:t>다중 클라이언트 동시 접속</a:t>
                      </a:r>
                      <a:endParaRPr lang="ko-KR" altLang="en-US" sz="1200">
                        <a:effectLst/>
                        <a:latin typeface="KoPubWorld돋움체_Pro Light" panose="00000300000000000000" pitchFamily="50" charset="-127"/>
                        <a:ea typeface="KoPubWorld돋움체_Pro Light" panose="00000300000000000000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49292" marR="49292" marT="49292" marB="49292"/>
                </a:tc>
                <a:extLst>
                  <a:ext uri="{0D108BD9-81ED-4DB2-BD59-A6C34878D82A}">
                    <a16:rowId xmlns:a16="http://schemas.microsoft.com/office/drawing/2014/main" val="4048874679"/>
                  </a:ext>
                </a:extLst>
              </a:tr>
            </a:tbl>
          </a:graphicData>
        </a:graphic>
      </p:graphicFrame>
      <p:sp>
        <p:nvSpPr>
          <p:cNvPr id="9" name="Rectangle 4">
            <a:extLst>
              <a:ext uri="{FF2B5EF4-FFF2-40B4-BE49-F238E27FC236}">
                <a16:creationId xmlns:a16="http://schemas.microsoft.com/office/drawing/2014/main" id="{B3944434-C5A1-41A6-B6CD-E0D7EFE8B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76999"/>
            <a:ext cx="65" cy="553998"/>
          </a:xfrm>
          <a:prstGeom prst="rect">
            <a:avLst/>
          </a:prstGeom>
          <a:solidFill>
            <a:srgbClr val="FDFD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6B3BE7-9244-4418-9115-645484D181BA}"/>
              </a:ext>
            </a:extLst>
          </p:cNvPr>
          <p:cNvSpPr txBox="1"/>
          <p:nvPr/>
        </p:nvSpPr>
        <p:spPr>
          <a:xfrm>
            <a:off x="1102551" y="4295303"/>
            <a:ext cx="62969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ko-KR" sz="1200">
                <a:solidFill>
                  <a:srgbClr val="0A0A0A"/>
                </a:solidFill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여러 Python 프로세스(server_to_db, predict_machine, fall_detection)가 동시에 DB에 접근</a:t>
            </a:r>
          </a:p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ko-KR" sz="1200">
                <a:solidFill>
                  <a:srgbClr val="0A0A0A"/>
                </a:solidFill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C++ 모니터링 프로그램도 동시 접근</a:t>
            </a:r>
          </a:p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ko-KR" sz="1200">
                <a:solidFill>
                  <a:srgbClr val="0A0A0A"/>
                </a:solidFill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SQLite는 동시 쓰기 시 파일 락 충돌 발생 → MySQL 필</a:t>
            </a:r>
            <a:r>
              <a:rPr lang="ko-KR" altLang="en-US" sz="1200">
                <a:solidFill>
                  <a:srgbClr val="0A0A0A"/>
                </a:solidFill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요</a:t>
            </a:r>
            <a:endParaRPr lang="ko-KR" altLang="ko-KR" sz="1200">
              <a:solidFill>
                <a:srgbClr val="0A0A0A"/>
              </a:solidFill>
              <a:latin typeface="KoPubWorld돋움체_Pro Light" panose="00000300000000000000" pitchFamily="50" charset="-127"/>
              <a:ea typeface="KoPubWorld돋움체_Pro Light" panose="00000300000000000000" pitchFamily="50" charset="-127"/>
              <a:cs typeface="KoPubWorld돋움체_Pro Light" panose="00000300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E9C1AA-6E4E-4AC3-BACA-785621F54730}"/>
              </a:ext>
            </a:extLst>
          </p:cNvPr>
          <p:cNvSpPr txBox="1"/>
          <p:nvPr/>
        </p:nvSpPr>
        <p:spPr>
          <a:xfrm>
            <a:off x="813114" y="495367"/>
            <a:ext cx="1415772" cy="30777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b="1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MySQL</a:t>
            </a:r>
            <a:r>
              <a:rPr lang="ko-KR" altLang="en-US" sz="1400" b="1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400" b="1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DB </a:t>
            </a:r>
            <a:r>
              <a:rPr lang="ko-KR" altLang="en-US" sz="1400" b="1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특성</a:t>
            </a:r>
          </a:p>
        </p:txBody>
      </p:sp>
    </p:spTree>
    <p:extLst>
      <p:ext uri="{BB962C8B-B14F-4D97-AF65-F5344CB8AC3E}">
        <p14:creationId xmlns:p14="http://schemas.microsoft.com/office/powerpoint/2010/main" val="26581848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한쪽 모서리 3">
            <a:extLst>
              <a:ext uri="{FF2B5EF4-FFF2-40B4-BE49-F238E27FC236}">
                <a16:creationId xmlns:a16="http://schemas.microsoft.com/office/drawing/2014/main" id="{413A353E-2244-4BD0-BBE2-90B2F0A27AFF}"/>
              </a:ext>
            </a:extLst>
          </p:cNvPr>
          <p:cNvSpPr/>
          <p:nvPr/>
        </p:nvSpPr>
        <p:spPr>
          <a:xfrm>
            <a:off x="1635304" y="4678685"/>
            <a:ext cx="3066731" cy="1139384"/>
          </a:xfrm>
          <a:prstGeom prst="round1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FA066E1-204B-42C0-BA6C-F470BEB5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Page </a:t>
            </a:r>
            <a:fld id="{F03C90E3-98FA-4A46-95E3-0DCDD3916FEC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sp>
        <p:nvSpPr>
          <p:cNvPr id="40" name="슬라이드 번호 개체 틀 9">
            <a:extLst>
              <a:ext uri="{FF2B5EF4-FFF2-40B4-BE49-F238E27FC236}">
                <a16:creationId xmlns:a16="http://schemas.microsoft.com/office/drawing/2014/main" id="{4E762CBC-F01B-4495-8D2E-234576288CF3}"/>
              </a:ext>
            </a:extLst>
          </p:cNvPr>
          <p:cNvSpPr txBox="1">
            <a:spLocks/>
          </p:cNvSpPr>
          <p:nvPr/>
        </p:nvSpPr>
        <p:spPr>
          <a:xfrm>
            <a:off x="8335472" y="6560598"/>
            <a:ext cx="810910" cy="2316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675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PAGE</a:t>
            </a:r>
            <a:fld id="{F2C57867-4DD3-42C3-B33F-35CD9A0E77A0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sp>
        <p:nvSpPr>
          <p:cNvPr id="17" name="순서도: 자기 디스크 16">
            <a:extLst>
              <a:ext uri="{FF2B5EF4-FFF2-40B4-BE49-F238E27FC236}">
                <a16:creationId xmlns:a16="http://schemas.microsoft.com/office/drawing/2014/main" id="{1070801C-FC64-42F3-BF82-EAE7D3B858DB}"/>
              </a:ext>
            </a:extLst>
          </p:cNvPr>
          <p:cNvSpPr/>
          <p:nvPr/>
        </p:nvSpPr>
        <p:spPr>
          <a:xfrm>
            <a:off x="3863867" y="3416901"/>
            <a:ext cx="1647645" cy="672224"/>
          </a:xfrm>
          <a:prstGeom prst="flowChartMagneticDisk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4B6D18-7CBB-4F52-B953-453E4FDD598A}"/>
              </a:ext>
            </a:extLst>
          </p:cNvPr>
          <p:cNvSpPr txBox="1"/>
          <p:nvPr/>
        </p:nvSpPr>
        <p:spPr>
          <a:xfrm>
            <a:off x="4030440" y="3637542"/>
            <a:ext cx="13431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"sensor_data.db"</a:t>
            </a:r>
            <a:endParaRPr lang="ko-KR" altLang="en-US" sz="1200">
              <a:solidFill>
                <a:schemeClr val="tx1">
                  <a:lumMod val="65000"/>
                  <a:lumOff val="35000"/>
                </a:schemeClr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E7B3BE-3424-4872-849A-355FFB3C0EEF}"/>
              </a:ext>
            </a:extLst>
          </p:cNvPr>
          <p:cNvSpPr txBox="1"/>
          <p:nvPr/>
        </p:nvSpPr>
        <p:spPr>
          <a:xfrm>
            <a:off x="3863867" y="1683259"/>
            <a:ext cx="1507720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b="1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put_data_to_db()</a:t>
            </a:r>
          </a:p>
          <a:p>
            <a:pPr algn="ctr"/>
            <a:r>
              <a:rPr lang="en-US" altLang="ko-KR" sz="1000" b="1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put_data_2_db.py</a:t>
            </a:r>
            <a:endParaRPr lang="ko-KR" altLang="en-US" sz="1000" b="1"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150DC55E-6715-4511-A050-60583996C2C5}"/>
              </a:ext>
            </a:extLst>
          </p:cNvPr>
          <p:cNvSpPr/>
          <p:nvPr/>
        </p:nvSpPr>
        <p:spPr>
          <a:xfrm flipH="1">
            <a:off x="4602691" y="2237140"/>
            <a:ext cx="99343" cy="1365946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F6CE6F-BCB1-403C-B37A-781299B49F80}"/>
              </a:ext>
            </a:extLst>
          </p:cNvPr>
          <p:cNvSpPr txBox="1"/>
          <p:nvPr/>
        </p:nvSpPr>
        <p:spPr>
          <a:xfrm>
            <a:off x="4687689" y="2484670"/>
            <a:ext cx="16690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온도값 리스트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예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64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개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</a:t>
            </a:r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D4B76121-12B9-48E2-9966-4E3310E20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0247" y="4673719"/>
            <a:ext cx="284244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table :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200" b="1">
                <a:solidFill>
                  <a:schemeClr val="tx1">
                    <a:lumMod val="75000"/>
                    <a:lumOff val="25000"/>
                  </a:schemeClr>
                </a:solidFill>
              </a:rPr>
              <a:t>thermal_queue </a:t>
            </a:r>
            <a:endParaRPr kumimoji="0" lang="en-US" altLang="ko-KR" sz="1200" i="0" u="none" strike="noStrike" cap="none" normalizeH="0" baseline="0">
              <a:ln>
                <a:noFill/>
              </a:ln>
              <a:effectLst/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i="0" u="none" strike="noStrike" cap="none" normalizeH="0" baseline="0">
                <a:ln>
                  <a:noFill/>
                </a:ln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순환 큐</a:t>
            </a:r>
            <a:r>
              <a:rPr kumimoji="0" lang="en-US" altLang="ko-KR" sz="1200" i="0" u="none" strike="noStrike" cap="none" normalizeH="0" baseline="0">
                <a:ln>
                  <a:noFill/>
                </a:ln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kumimoji="0" lang="ko-KR" altLang="en-US" sz="1200" i="0" u="none" strike="noStrike" cap="none" normalizeH="0" baseline="0">
                <a:ln>
                  <a:noFill/>
                </a:ln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방식</a:t>
            </a:r>
            <a:r>
              <a:rPr kumimoji="0" lang="ko-KR" altLang="ko-KR" sz="1200" i="0" u="none" strike="noStrike" cap="none" normalizeH="0" baseline="0">
                <a:ln>
                  <a:noFill/>
                </a:ln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(Ring Buffer)</a:t>
            </a:r>
            <a:endParaRPr kumimoji="0" lang="en-US" altLang="ko-KR" sz="1200" i="0" u="none" strike="noStrike" cap="none" normalizeH="0" baseline="0">
              <a:ln>
                <a:noFill/>
              </a:ln>
              <a:effectLst/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200" i="0" u="none" strike="noStrike" cap="none" normalizeH="0" baseline="0">
                <a:ln>
                  <a:noFill/>
                </a:ln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새로운 레코드가 들어올 때</a:t>
            </a:r>
            <a:br>
              <a:rPr kumimoji="0" lang="ko-KR" altLang="ko-KR" sz="1200" i="0" u="none" strike="noStrike" cap="none" normalizeH="0" baseline="0">
                <a:ln>
                  <a:noFill/>
                </a:ln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</a:br>
            <a:r>
              <a:rPr kumimoji="0" lang="ko-KR" altLang="ko-KR" sz="1200" i="0" strike="noStrike" cap="none" normalizeH="0" baseline="0">
                <a:ln>
                  <a:noFill/>
                </a:ln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→ 가장 오래된 레코드(맨 위) 를 삭제하고</a:t>
            </a:r>
            <a:br>
              <a:rPr kumimoji="0" lang="ko-KR" altLang="ko-KR" sz="1200" i="0" strike="noStrike" cap="none" normalizeH="0" baseline="0">
                <a:ln>
                  <a:noFill/>
                </a:ln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</a:br>
            <a:r>
              <a:rPr kumimoji="0" lang="ko-KR" altLang="ko-KR" sz="1200" i="0" strike="noStrike" cap="none" normalizeH="0" baseline="0">
                <a:ln>
                  <a:noFill/>
                </a:ln>
                <a:effectLst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→ 새로운 레코드(맨 아래) 를 추가하는 방식</a:t>
            </a:r>
            <a:endParaRPr kumimoji="0" lang="ko-KR" altLang="ko-KR" sz="1800" b="0" i="0" u="none" strike="noStrike" cap="none" normalizeH="0" baseline="0">
              <a:ln>
                <a:noFill/>
              </a:ln>
              <a:effectLst/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82B2DF-935A-46D2-89E0-AD51295D1852}"/>
              </a:ext>
            </a:extLst>
          </p:cNvPr>
          <p:cNvSpPr txBox="1"/>
          <p:nvPr/>
        </p:nvSpPr>
        <p:spPr>
          <a:xfrm>
            <a:off x="1927300" y="2733490"/>
            <a:ext cx="5549469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python</a:t>
            </a:r>
            <a:r>
              <a:rPr lang="ko-KR" altLang="en-US" sz="12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2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put_data_2_db.py 19 24 17 16 16 16 15 15 16 15 16 … 16 16 16 16 16</a:t>
            </a:r>
            <a:endParaRPr lang="ko-KR" altLang="en-US" sz="1200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B4637FA-81B3-4FEE-AA5E-2385FD113753}"/>
              </a:ext>
            </a:extLst>
          </p:cNvPr>
          <p:cNvSpPr/>
          <p:nvPr/>
        </p:nvSpPr>
        <p:spPr>
          <a:xfrm>
            <a:off x="2137370" y="509051"/>
            <a:ext cx="5100638" cy="393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30000"/>
              </a:lnSpc>
            </a:pPr>
            <a:r>
              <a:rPr lang="en-US" altLang="ko-KR" sz="1600" b="1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"</a:t>
            </a:r>
            <a:r>
              <a:rPr lang="en-US" altLang="ko-KR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thermal_queue </a:t>
            </a:r>
            <a:r>
              <a:rPr lang="en-US" altLang="ko-KR" sz="1600" b="1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" </a:t>
            </a:r>
            <a:r>
              <a:rPr lang="ko-KR" alt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테이블</a:t>
            </a:r>
            <a:r>
              <a:rPr lang="ko-KR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에 온도값 리스트</a:t>
            </a:r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(</a:t>
            </a:r>
            <a:r>
              <a:rPr lang="ko-KR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예</a:t>
            </a:r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:64</a:t>
            </a:r>
            <a:r>
              <a:rPr lang="ko-KR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개</a:t>
            </a:r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)</a:t>
            </a:r>
            <a:r>
              <a:rPr lang="ko-KR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 넣기</a:t>
            </a:r>
            <a:endParaRPr lang="en-US" altLang="ko-KR" sz="1600">
              <a:solidFill>
                <a:schemeClr val="tx1">
                  <a:lumMod val="75000"/>
                  <a:lumOff val="25000"/>
                </a:schemeClr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807A29-C227-434C-AFFE-7F2BDDCEED0D}"/>
              </a:ext>
            </a:extLst>
          </p:cNvPr>
          <p:cNvSpPr txBox="1"/>
          <p:nvPr/>
        </p:nvSpPr>
        <p:spPr>
          <a:xfrm>
            <a:off x="3848792" y="1134298"/>
            <a:ext cx="1588458" cy="3077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_Pro Bold" panose="00000800000000000000" pitchFamily="50" charset="-127"/>
              </a:rPr>
              <a:t>server_to_db.py</a:t>
            </a:r>
          </a:p>
        </p:txBody>
      </p:sp>
      <p:sp>
        <p:nvSpPr>
          <p:cNvPr id="26" name="화살표: 위로 구부러짐 25">
            <a:extLst>
              <a:ext uri="{FF2B5EF4-FFF2-40B4-BE49-F238E27FC236}">
                <a16:creationId xmlns:a16="http://schemas.microsoft.com/office/drawing/2014/main" id="{81970907-A966-48B0-9737-BB229367E327}"/>
              </a:ext>
            </a:extLst>
          </p:cNvPr>
          <p:cNvSpPr/>
          <p:nvPr/>
        </p:nvSpPr>
        <p:spPr>
          <a:xfrm>
            <a:off x="4540191" y="1447402"/>
            <a:ext cx="205660" cy="205144"/>
          </a:xfrm>
          <a:prstGeom prst="curvedUp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E92C826A-D0D9-47F3-B0D8-57E40541B684}"/>
              </a:ext>
            </a:extLst>
          </p:cNvPr>
          <p:cNvSpPr/>
          <p:nvPr/>
        </p:nvSpPr>
        <p:spPr>
          <a:xfrm>
            <a:off x="1421581" y="4503470"/>
            <a:ext cx="338666" cy="34049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27" name="사각형: 둥근 한쪽 모서리 26">
            <a:extLst>
              <a:ext uri="{FF2B5EF4-FFF2-40B4-BE49-F238E27FC236}">
                <a16:creationId xmlns:a16="http://schemas.microsoft.com/office/drawing/2014/main" id="{98075A6B-5876-4C3E-BC64-863905BB3E48}"/>
              </a:ext>
            </a:extLst>
          </p:cNvPr>
          <p:cNvSpPr/>
          <p:nvPr/>
        </p:nvSpPr>
        <p:spPr>
          <a:xfrm>
            <a:off x="5020655" y="4678685"/>
            <a:ext cx="3066731" cy="1139384"/>
          </a:xfrm>
          <a:prstGeom prst="round1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Rectangle 1">
            <a:extLst>
              <a:ext uri="{FF2B5EF4-FFF2-40B4-BE49-F238E27FC236}">
                <a16:creationId xmlns:a16="http://schemas.microsoft.com/office/drawing/2014/main" id="{9DFBC472-18AB-4D39-8A26-470EAD1C1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5598" y="4950718"/>
            <a:ext cx="267566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table :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200" b="1"/>
              <a:t>current_value , 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개 레코드 유지</a:t>
            </a:r>
            <a:r>
              <a:rPr lang="en-US" altLang="ko-KR" sz="1200" b="1"/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median_hot_list 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갱신</a:t>
            </a:r>
            <a:endParaRPr kumimoji="0" lang="en-US" altLang="ko-KR" sz="1200" i="0" u="none" strike="noStrike" cap="none" normalizeH="0" baseline="0">
              <a:ln>
                <a:noFill/>
              </a:ln>
              <a:effectLst/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6F496785-BF8C-433F-8892-DF2329396289}"/>
              </a:ext>
            </a:extLst>
          </p:cNvPr>
          <p:cNvSpPr/>
          <p:nvPr/>
        </p:nvSpPr>
        <p:spPr>
          <a:xfrm>
            <a:off x="4806932" y="4503470"/>
            <a:ext cx="338666" cy="34049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579C4C14-AE64-430D-A629-2F6702B4D427}"/>
              </a:ext>
            </a:extLst>
          </p:cNvPr>
          <p:cNvSpPr/>
          <p:nvPr/>
        </p:nvSpPr>
        <p:spPr>
          <a:xfrm>
            <a:off x="4629390" y="5085097"/>
            <a:ext cx="338666" cy="387061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9ED678-9CE1-451B-9ADF-1BDBE56312A4}"/>
              </a:ext>
            </a:extLst>
          </p:cNvPr>
          <p:cNvSpPr txBox="1"/>
          <p:nvPr/>
        </p:nvSpPr>
        <p:spPr>
          <a:xfrm>
            <a:off x="5573273" y="3522180"/>
            <a:ext cx="20617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호출시 </a:t>
            </a:r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FIFO 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큐에</a:t>
            </a:r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추가되고</a:t>
            </a:r>
            <a:endParaRPr lang="en-US" altLang="ko-KR" sz="120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median_results 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자동 갱신됨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25A27F6-625B-4577-9881-BC5437D79827}"/>
              </a:ext>
            </a:extLst>
          </p:cNvPr>
          <p:cNvSpPr/>
          <p:nvPr/>
        </p:nvSpPr>
        <p:spPr>
          <a:xfrm>
            <a:off x="4031523" y="3781348"/>
            <a:ext cx="137409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thermal_queue 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5839455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FA066E1-204B-42C0-BA6C-F470BEB5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Page </a:t>
            </a:r>
            <a:fld id="{F03C90E3-98FA-4A46-95E3-0DCDD3916FEC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sp>
        <p:nvSpPr>
          <p:cNvPr id="40" name="슬라이드 번호 개체 틀 9">
            <a:extLst>
              <a:ext uri="{FF2B5EF4-FFF2-40B4-BE49-F238E27FC236}">
                <a16:creationId xmlns:a16="http://schemas.microsoft.com/office/drawing/2014/main" id="{4E762CBC-F01B-4495-8D2E-234576288CF3}"/>
              </a:ext>
            </a:extLst>
          </p:cNvPr>
          <p:cNvSpPr txBox="1">
            <a:spLocks/>
          </p:cNvSpPr>
          <p:nvPr/>
        </p:nvSpPr>
        <p:spPr>
          <a:xfrm>
            <a:off x="8335472" y="6560598"/>
            <a:ext cx="810910" cy="2316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675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PAGE</a:t>
            </a:r>
            <a:fld id="{F2C57867-4DD3-42C3-B33F-35CD9A0E77A0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184C44C2-ED4D-4D18-A6D8-887B26D1DA43}"/>
              </a:ext>
            </a:extLst>
          </p:cNvPr>
          <p:cNvSpPr/>
          <p:nvPr/>
        </p:nvSpPr>
        <p:spPr>
          <a:xfrm>
            <a:off x="1003829" y="619339"/>
            <a:ext cx="1996976" cy="393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30000"/>
              </a:lnSpc>
            </a:pPr>
            <a:r>
              <a:rPr lang="ko-KR" altLang="en-US" sz="1600">
                <a:solidFill>
                  <a:srgbClr val="0070C0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원격 명령 전달</a:t>
            </a:r>
            <a:endParaRPr lang="en-US" altLang="ko-KR" sz="1600">
              <a:solidFill>
                <a:srgbClr val="0070C0"/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5ECDED41-734E-4FC4-8104-4B0986BD34ED}"/>
              </a:ext>
            </a:extLst>
          </p:cNvPr>
          <p:cNvCxnSpPr>
            <a:cxnSpLocks/>
          </p:cNvCxnSpPr>
          <p:nvPr/>
        </p:nvCxnSpPr>
        <p:spPr>
          <a:xfrm>
            <a:off x="4145329" y="3846228"/>
            <a:ext cx="9594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1">
            <a:extLst>
              <a:ext uri="{FF2B5EF4-FFF2-40B4-BE49-F238E27FC236}">
                <a16:creationId xmlns:a16="http://schemas.microsoft.com/office/drawing/2014/main" id="{4BD71F1F-D25F-418B-9F53-6A2C698F3E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5491" y="2525013"/>
            <a:ext cx="1568010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cmd #1 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격자초기화</a:t>
            </a: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338B9597-F031-4232-8514-12CA4C1E79C1}"/>
              </a:ext>
            </a:extLst>
          </p:cNvPr>
          <p:cNvCxnSpPr>
            <a:cxnSpLocks/>
          </p:cNvCxnSpPr>
          <p:nvPr/>
        </p:nvCxnSpPr>
        <p:spPr>
          <a:xfrm>
            <a:off x="4126061" y="2773430"/>
            <a:ext cx="9594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B55BF657-6196-477B-B672-3168F5FC289E}"/>
              </a:ext>
            </a:extLst>
          </p:cNvPr>
          <p:cNvGrpSpPr/>
          <p:nvPr/>
        </p:nvGrpSpPr>
        <p:grpSpPr>
          <a:xfrm>
            <a:off x="1172952" y="1752721"/>
            <a:ext cx="2523068" cy="3341833"/>
            <a:chOff x="990599" y="1625600"/>
            <a:chExt cx="2523068" cy="3341833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799639B-C0F2-472D-AFD7-DA477FFDD30D}"/>
                </a:ext>
              </a:extLst>
            </p:cNvPr>
            <p:cNvSpPr txBox="1"/>
            <p:nvPr/>
          </p:nvSpPr>
          <p:spPr>
            <a:xfrm>
              <a:off x="990600" y="2074333"/>
              <a:ext cx="2523067" cy="28931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400" b="1"/>
                <a:t>thermal_queue </a:t>
              </a:r>
              <a:endParaRPr lang="ko-KR" altLang="en-US" sz="1400" b="1"/>
            </a:p>
            <a:p>
              <a:r>
                <a:rPr lang="ko-KR" altLang="en-US" sz="1400"/>
                <a:t>   └ </a:t>
              </a:r>
              <a:r>
                <a:rPr lang="en-US" altLang="ko-KR" sz="1400"/>
                <a:t>hot_list (JSON)</a:t>
              </a:r>
            </a:p>
            <a:p>
              <a:pPr lvl="1"/>
              <a:r>
                <a:rPr lang="en-US" altLang="ko-KR" sz="1400" b="1"/>
                <a:t>.</a:t>
              </a:r>
            </a:p>
            <a:p>
              <a:pPr lvl="1"/>
              <a:r>
                <a:rPr lang="en-US" altLang="ko-KR" sz="1400" b="1"/>
                <a:t>.</a:t>
              </a:r>
            </a:p>
            <a:p>
              <a:pPr lvl="1"/>
              <a:r>
                <a:rPr lang="en-US" altLang="ko-KR" sz="1400" b="1"/>
                <a:t>.    </a:t>
              </a:r>
            </a:p>
            <a:p>
              <a:pPr lvl="1"/>
              <a:r>
                <a:rPr lang="en-US" altLang="ko-KR" sz="1400" b="1"/>
                <a:t>                          </a:t>
              </a:r>
            </a:p>
            <a:p>
              <a:r>
                <a:rPr lang="en-US" altLang="ko-KR" sz="1400" b="1"/>
                <a:t>current_value (id=1)    </a:t>
              </a:r>
            </a:p>
            <a:p>
              <a:r>
                <a:rPr lang="en-US" altLang="ko-KR" sz="1400"/>
                <a:t>   ├ median_hot_list </a:t>
              </a:r>
            </a:p>
            <a:p>
              <a:pPr lvl="1"/>
              <a:r>
                <a:rPr lang="en-US" altLang="ko-KR" sz="1400" b="1"/>
                <a:t>.</a:t>
              </a:r>
            </a:p>
            <a:p>
              <a:pPr lvl="1"/>
              <a:r>
                <a:rPr lang="en-US" altLang="ko-KR" sz="1400" b="1"/>
                <a:t>.</a:t>
              </a:r>
            </a:p>
            <a:p>
              <a:pPr lvl="1"/>
              <a:r>
                <a:rPr lang="en-US" altLang="ko-KR" sz="1400" b="1"/>
                <a:t>.    </a:t>
              </a:r>
            </a:p>
            <a:p>
              <a:endParaRPr lang="en-US" altLang="ko-KR" sz="1400"/>
            </a:p>
            <a:p>
              <a:r>
                <a:rPr lang="en-US" altLang="ko-KR" sz="1400"/>
                <a:t>   └  main_command </a:t>
              </a:r>
              <a:endParaRPr lang="ko-KR" altLang="en-US" sz="140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AD9CB23-9C6D-4088-B0C6-9D0774273B60}"/>
                </a:ext>
              </a:extLst>
            </p:cNvPr>
            <p:cNvSpPr txBox="1"/>
            <p:nvPr/>
          </p:nvSpPr>
          <p:spPr>
            <a:xfrm>
              <a:off x="990599" y="1625600"/>
              <a:ext cx="2523068" cy="3385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/>
                <a:t>sensor_data</a:t>
              </a:r>
              <a:endParaRPr lang="ko-KR" altLang="en-US" sz="1600"/>
            </a:p>
          </p:txBody>
        </p:sp>
      </p:grpSp>
      <p:sp>
        <p:nvSpPr>
          <p:cNvPr id="33" name="Rectangle 1">
            <a:extLst>
              <a:ext uri="{FF2B5EF4-FFF2-40B4-BE49-F238E27FC236}">
                <a16:creationId xmlns:a16="http://schemas.microsoft.com/office/drawing/2014/main" id="{690BD69C-2A0A-4514-83F7-DD35FFB7F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2343" y="3615395"/>
            <a:ext cx="1568010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cmd #2 : 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장비영역초기화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A349C75F-15C2-4D17-B6B4-73A7D99C0852}"/>
              </a:ext>
            </a:extLst>
          </p:cNvPr>
          <p:cNvCxnSpPr>
            <a:cxnSpLocks/>
          </p:cNvCxnSpPr>
          <p:nvPr/>
        </p:nvCxnSpPr>
        <p:spPr>
          <a:xfrm flipV="1">
            <a:off x="4138564" y="2782221"/>
            <a:ext cx="0" cy="10681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29025013-30E4-49BF-B675-5C069AD60B60}"/>
              </a:ext>
            </a:extLst>
          </p:cNvPr>
          <p:cNvCxnSpPr>
            <a:cxnSpLocks/>
          </p:cNvCxnSpPr>
          <p:nvPr/>
        </p:nvCxnSpPr>
        <p:spPr>
          <a:xfrm>
            <a:off x="3392936" y="3069496"/>
            <a:ext cx="754420" cy="84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54BBF5E-1958-41FF-85A5-BF4E1B03AB62}"/>
              </a:ext>
            </a:extLst>
          </p:cNvPr>
          <p:cNvSpPr/>
          <p:nvPr/>
        </p:nvSpPr>
        <p:spPr>
          <a:xfrm>
            <a:off x="4126061" y="2510701"/>
            <a:ext cx="86645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/>
              <a:t>"ADJST-</a:t>
            </a:r>
            <a:r>
              <a:rPr lang="en-US" altLang="ko-KR" sz="1200"/>
              <a:t>I</a:t>
            </a:r>
            <a:r>
              <a:rPr lang="ko-KR" altLang="en-US" sz="1200"/>
              <a:t>G"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0A2F977-59D2-4E67-8C01-7E55DF72E247}"/>
              </a:ext>
            </a:extLst>
          </p:cNvPr>
          <p:cNvSpPr/>
          <p:nvPr/>
        </p:nvSpPr>
        <p:spPr>
          <a:xfrm>
            <a:off x="4162913" y="3604699"/>
            <a:ext cx="95943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/>
              <a:t>"ADJST-MG"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57B6FB-5459-4265-80D1-C31C6046FC13}"/>
              </a:ext>
            </a:extLst>
          </p:cNvPr>
          <p:cNvSpPr txBox="1"/>
          <p:nvPr/>
        </p:nvSpPr>
        <p:spPr>
          <a:xfrm>
            <a:off x="4147356" y="2713747"/>
            <a:ext cx="8694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>
                <a:solidFill>
                  <a:schemeClr val="accent5">
                    <a:lumMod val="75000"/>
                  </a:schemeClr>
                </a:solidFill>
              </a:rPr>
              <a:t>Image Grid</a:t>
            </a:r>
            <a:endParaRPr lang="ko-KR" altLang="en-US" sz="120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6919CB7-F966-46E4-A4AA-65B080E501CC}"/>
              </a:ext>
            </a:extLst>
          </p:cNvPr>
          <p:cNvSpPr txBox="1"/>
          <p:nvPr/>
        </p:nvSpPr>
        <p:spPr>
          <a:xfrm>
            <a:off x="4147356" y="3807745"/>
            <a:ext cx="10294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>
                <a:solidFill>
                  <a:schemeClr val="accent5">
                    <a:lumMod val="75000"/>
                  </a:schemeClr>
                </a:solidFill>
              </a:rPr>
              <a:t>Machine Grid</a:t>
            </a:r>
            <a:endParaRPr lang="ko-KR" altLang="en-US" sz="120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D72F96F-EAC5-45A0-B446-1C0593AFA8E7}"/>
              </a:ext>
            </a:extLst>
          </p:cNvPr>
          <p:cNvSpPr txBox="1"/>
          <p:nvPr/>
        </p:nvSpPr>
        <p:spPr>
          <a:xfrm>
            <a:off x="6653501" y="2459055"/>
            <a:ext cx="16401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chemeClr val="accent5">
                    <a:lumMod val="75000"/>
                  </a:schemeClr>
                </a:solidFill>
              </a:rPr>
              <a:t>열화상그리드맵의</a:t>
            </a:r>
            <a:endParaRPr lang="en-US" altLang="ko-KR" sz="120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ko-KR" altLang="en-US" sz="1200">
                <a:solidFill>
                  <a:schemeClr val="accent5">
                    <a:lumMod val="75000"/>
                  </a:schemeClr>
                </a:solidFill>
              </a:rPr>
              <a:t>구성이 변경되는 경우</a:t>
            </a:r>
            <a:endParaRPr lang="en-US" altLang="ko-KR" sz="120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ko-KR" altLang="en-US" sz="1200">
                <a:solidFill>
                  <a:schemeClr val="accent5">
                    <a:lumMod val="75000"/>
                  </a:schemeClr>
                </a:solidFill>
              </a:rPr>
              <a:t>초기화함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4866CC35-43AD-47EA-B332-3F4FF47ECBAF}"/>
              </a:ext>
            </a:extLst>
          </p:cNvPr>
          <p:cNvCxnSpPr>
            <a:cxnSpLocks/>
          </p:cNvCxnSpPr>
          <p:nvPr/>
        </p:nvCxnSpPr>
        <p:spPr>
          <a:xfrm>
            <a:off x="2779411" y="4918812"/>
            <a:ext cx="6135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3EEB5695-4A8B-42B3-A9C5-BDEC327E5879}"/>
              </a:ext>
            </a:extLst>
          </p:cNvPr>
          <p:cNvCxnSpPr>
            <a:cxnSpLocks/>
          </p:cNvCxnSpPr>
          <p:nvPr/>
        </p:nvCxnSpPr>
        <p:spPr>
          <a:xfrm>
            <a:off x="3401728" y="3069496"/>
            <a:ext cx="0" cy="18577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59457455-599F-457E-BBBE-A57EE7377E0B}"/>
              </a:ext>
            </a:extLst>
          </p:cNvPr>
          <p:cNvSpPr txBox="1"/>
          <p:nvPr/>
        </p:nvSpPr>
        <p:spPr>
          <a:xfrm>
            <a:off x="6653953" y="3628955"/>
            <a:ext cx="2308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chemeClr val="accent5">
                    <a:lumMod val="75000"/>
                  </a:schemeClr>
                </a:solidFill>
              </a:rPr>
              <a:t>장비영역 위치를 표시하는</a:t>
            </a:r>
            <a:endParaRPr lang="en-US" altLang="ko-KR" sz="120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altLang="ko-KR" sz="1200">
                <a:solidFill>
                  <a:schemeClr val="accent5">
                    <a:lumMod val="75000"/>
                  </a:schemeClr>
                </a:solidFill>
              </a:rPr>
              <a:t>machine_mask</a:t>
            </a:r>
            <a:r>
              <a:rPr lang="ko-KR" altLang="en-US" sz="1200">
                <a:solidFill>
                  <a:schemeClr val="accent5">
                    <a:lumMod val="75000"/>
                  </a:schemeClr>
                </a:solidFill>
              </a:rPr>
              <a:t> 가 변경되는 경우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B79473B-BAA2-43FC-AADC-DF0088133CBE}"/>
              </a:ext>
            </a:extLst>
          </p:cNvPr>
          <p:cNvSpPr/>
          <p:nvPr/>
        </p:nvSpPr>
        <p:spPr>
          <a:xfrm>
            <a:off x="4074382" y="4482096"/>
            <a:ext cx="3761079" cy="83099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>
                <a:latin typeface="KoPubWorld바탕체_Pro Bold" panose="00000800000000000000" pitchFamily="50" charset="-127"/>
                <a:ea typeface="KoPubWorld바탕체_Pro Bold" panose="00000800000000000000" pitchFamily="50" charset="-127"/>
                <a:cs typeface="KoPubWorld바탕체_Pro Bold" panose="00000800000000000000" pitchFamily="50" charset="-127"/>
              </a:rPr>
              <a:t>※ </a:t>
            </a:r>
            <a:r>
              <a:rPr lang="ko-KR" altLang="en-US" sz="1200"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constants.py 에 정의됨</a:t>
            </a:r>
          </a:p>
          <a:p>
            <a:endParaRPr lang="ko-KR" altLang="en-US" sz="1200">
              <a:latin typeface="KoPubWorld돋움체_Pro Light" panose="00000300000000000000" pitchFamily="50" charset="-127"/>
              <a:ea typeface="KoPubWorld돋움체_Pro Light" panose="00000300000000000000" pitchFamily="50" charset="-127"/>
              <a:cs typeface="KoPubWorld돋움체_Pro Light" panose="00000300000000000000" pitchFamily="50" charset="-127"/>
            </a:endParaRPr>
          </a:p>
          <a:p>
            <a:r>
              <a:rPr lang="ko-KR" altLang="en-US" sz="1200"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ADJUST_MACHINE_GRID = "ADJST-MG"</a:t>
            </a:r>
          </a:p>
          <a:p>
            <a:r>
              <a:rPr lang="ko-KR" altLang="en-US" sz="1200"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NO_ACTION           </a:t>
            </a:r>
            <a:r>
              <a:rPr lang="en-US" altLang="ko-KR" sz="1200"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		</a:t>
            </a:r>
            <a:r>
              <a:rPr lang="ko-KR" altLang="en-US" sz="1200"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= "NOACTION"</a:t>
            </a:r>
          </a:p>
        </p:txBody>
      </p:sp>
    </p:spTree>
    <p:extLst>
      <p:ext uri="{BB962C8B-B14F-4D97-AF65-F5344CB8AC3E}">
        <p14:creationId xmlns:p14="http://schemas.microsoft.com/office/powerpoint/2010/main" val="30965379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D5BB7DD-96D7-4929-9270-A447EFA0B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Page </a:t>
            </a:r>
            <a:fld id="{F03C90E3-98FA-4A46-95E3-0DCDD3916FEC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C728A08-0EFD-44CF-8A36-2FB3FD4B5F22}"/>
              </a:ext>
            </a:extLst>
          </p:cNvPr>
          <p:cNvSpPr/>
          <p:nvPr/>
        </p:nvSpPr>
        <p:spPr>
          <a:xfrm>
            <a:off x="1003829" y="619339"/>
            <a:ext cx="2724716" cy="393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30000"/>
              </a:lnSpc>
            </a:pPr>
            <a:r>
              <a:rPr lang="ko-KR" altLang="en-US" sz="1600">
                <a:solidFill>
                  <a:srgbClr val="0070C0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실행 중 </a:t>
            </a:r>
            <a:r>
              <a:rPr lang="en-US" altLang="ko-KR" sz="1600">
                <a:solidFill>
                  <a:srgbClr val="0070C0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ERR_CCODE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7CB5DF7-E475-43D1-9073-4DC58ABF94D5}"/>
              </a:ext>
            </a:extLst>
          </p:cNvPr>
          <p:cNvSpPr/>
          <p:nvPr/>
        </p:nvSpPr>
        <p:spPr>
          <a:xfrm>
            <a:off x="1075494" y="1264095"/>
            <a:ext cx="5306101" cy="120032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endParaRPr lang="en-US" altLang="ko-KR" sz="1200">
              <a:latin typeface="KoPubWorld바탕체_Pro Bold" panose="00000800000000000000" pitchFamily="50" charset="-127"/>
              <a:ea typeface="KoPubWorld바탕체_Pro Bold" panose="00000800000000000000" pitchFamily="50" charset="-127"/>
              <a:cs typeface="KoPubWorld바탕체_Pro Bold" panose="00000800000000000000" pitchFamily="50" charset="-127"/>
            </a:endParaRPr>
          </a:p>
          <a:p>
            <a:r>
              <a:rPr lang="en-US" altLang="ko-KR" sz="1200">
                <a:latin typeface="KoPubWorld바탕체_Pro Bold" panose="00000800000000000000" pitchFamily="50" charset="-127"/>
                <a:ea typeface="KoPubWorld바탕체_Pro Bold" panose="00000800000000000000" pitchFamily="50" charset="-127"/>
                <a:cs typeface="KoPubWorld바탕체_Pro Bold" panose="00000800000000000000" pitchFamily="50" charset="-127"/>
              </a:rPr>
              <a:t>※ </a:t>
            </a:r>
            <a:r>
              <a:rPr lang="ko-KR" altLang="en-US" sz="1200"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constants.py 에 정의됨</a:t>
            </a:r>
          </a:p>
          <a:p>
            <a:endParaRPr lang="ko-KR" altLang="en-US" sz="1200">
              <a:latin typeface="KoPubWorld돋움체_Pro Light" panose="00000300000000000000" pitchFamily="50" charset="-127"/>
              <a:ea typeface="KoPubWorld돋움체_Pro Light" panose="00000300000000000000" pitchFamily="50" charset="-127"/>
              <a:cs typeface="KoPubWorld돋움체_Pro Light" panose="00000300000000000000" pitchFamily="50" charset="-127"/>
            </a:endParaRPr>
          </a:p>
          <a:p>
            <a:r>
              <a:rPr lang="ko-KR" altLang="en-US" sz="1200"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 NO_ERR                  </a:t>
            </a:r>
            <a:r>
              <a:rPr lang="en-US" altLang="ko-KR" sz="1200"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		</a:t>
            </a:r>
            <a:r>
              <a:rPr lang="ko-KR" altLang="en-US" sz="1200"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= "0000" # 정상 상태</a:t>
            </a:r>
          </a:p>
          <a:p>
            <a:r>
              <a:rPr lang="ko-KR" altLang="en-US" sz="1200"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 CAMERA_POSITION_SHIFT   </a:t>
            </a:r>
            <a:r>
              <a:rPr lang="en-US" altLang="ko-KR" sz="1200"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	</a:t>
            </a:r>
            <a:r>
              <a:rPr lang="ko-KR" altLang="en-US" sz="1200"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= "0021" # 카메라 위치 변경(과도한 이동 등)</a:t>
            </a:r>
            <a:endParaRPr lang="en-US" altLang="ko-KR" sz="1200">
              <a:latin typeface="KoPubWorld돋움체_Pro Light" panose="00000300000000000000" pitchFamily="50" charset="-127"/>
              <a:ea typeface="KoPubWorld돋움체_Pro Light" panose="00000300000000000000" pitchFamily="50" charset="-127"/>
              <a:cs typeface="KoPubWorld돋움체_Pro Light" panose="00000300000000000000" pitchFamily="50" charset="-127"/>
            </a:endParaRPr>
          </a:p>
          <a:p>
            <a:endParaRPr lang="ko-KR" altLang="en-US" sz="1200">
              <a:latin typeface="KoPubWorld돋움체_Pro Light" panose="00000300000000000000" pitchFamily="50" charset="-127"/>
              <a:ea typeface="KoPubWorld돋움체_Pro Light" panose="00000300000000000000" pitchFamily="50" charset="-127"/>
              <a:cs typeface="KoPubWorld돋움체_Pro Light" panose="000003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343088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D5BB7DD-96D7-4929-9270-A447EFA0B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Page </a:t>
            </a:r>
            <a:fld id="{F03C90E3-98FA-4A46-95E3-0DCDD3916FEC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C728A08-0EFD-44CF-8A36-2FB3FD4B5F22}"/>
              </a:ext>
            </a:extLst>
          </p:cNvPr>
          <p:cNvSpPr/>
          <p:nvPr/>
        </p:nvSpPr>
        <p:spPr>
          <a:xfrm>
            <a:off x="1003828" y="619339"/>
            <a:ext cx="3840733" cy="393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30000"/>
              </a:lnSpc>
            </a:pPr>
            <a:r>
              <a:rPr lang="en-US" altLang="ko-KR" sz="1600">
                <a:solidFill>
                  <a:srgbClr val="0070C0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DB </a:t>
            </a:r>
            <a:r>
              <a:rPr lang="ko-KR" altLang="en-US" sz="1600">
                <a:solidFill>
                  <a:srgbClr val="0070C0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테이블 정의를 수정하는 절차</a:t>
            </a:r>
            <a:endParaRPr lang="en-US" altLang="ko-KR" sz="1600">
              <a:solidFill>
                <a:srgbClr val="0070C0"/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7CB5DF7-E475-43D1-9073-4DC58ABF94D5}"/>
              </a:ext>
            </a:extLst>
          </p:cNvPr>
          <p:cNvSpPr/>
          <p:nvPr/>
        </p:nvSpPr>
        <p:spPr>
          <a:xfrm>
            <a:off x="1075494" y="1466318"/>
            <a:ext cx="7101352" cy="120032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endParaRPr lang="en-US" altLang="ko-KR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[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수정필요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] clear_reset_db.py — DB 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및 테이블 초기화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((sensor_data + results_history)</a:t>
            </a:r>
          </a:p>
          <a:p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  ※ python source/clear_reset_db.py kict1(cj_busan_1)</a:t>
            </a:r>
          </a:p>
          <a:p>
            <a:endParaRPr lang="en-US" altLang="ko-KR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[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수정필요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] show_db.py — 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생성된 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DB 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및 테이블 내용 확인</a:t>
            </a:r>
            <a:endParaRPr lang="en-US" altLang="ko-KR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  ※ python source/show_db.py kict1(cj_busan_1)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F6D728-9885-4FD7-B4EE-2DE387A491F3}"/>
              </a:ext>
            </a:extLst>
          </p:cNvPr>
          <p:cNvSpPr/>
          <p:nvPr/>
        </p:nvSpPr>
        <p:spPr>
          <a:xfrm>
            <a:off x="1075493" y="4351059"/>
            <a:ext cx="7101352" cy="64633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endParaRPr lang="en-US" altLang="ko-KR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[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수정필요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] MmCam_db_utils.cpp — SQL SELECT + row 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인덱스 수정</a:t>
            </a:r>
          </a:p>
          <a:p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[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수정필요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] MmCam_monitoring.h — CurrentStatus 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구조체 수정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929888-E92F-4108-B9D8-276AD5A12B63}"/>
              </a:ext>
            </a:extLst>
          </p:cNvPr>
          <p:cNvSpPr txBox="1"/>
          <p:nvPr/>
        </p:nvSpPr>
        <p:spPr>
          <a:xfrm>
            <a:off x="1075493" y="4212559"/>
            <a:ext cx="1236884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관제기 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(VC++)</a:t>
            </a:r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30C981-2259-4750-B5E8-8F45E0AE616F}"/>
              </a:ext>
            </a:extLst>
          </p:cNvPr>
          <p:cNvSpPr txBox="1"/>
          <p:nvPr/>
        </p:nvSpPr>
        <p:spPr>
          <a:xfrm>
            <a:off x="1075493" y="1308608"/>
            <a:ext cx="1338828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소스코드 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(python)</a:t>
            </a:r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966399C-E2E7-49EC-B0E6-842EBE278A0D}"/>
              </a:ext>
            </a:extLst>
          </p:cNvPr>
          <p:cNvSpPr/>
          <p:nvPr/>
        </p:nvSpPr>
        <p:spPr>
          <a:xfrm>
            <a:off x="1075493" y="3094706"/>
            <a:ext cx="7101352" cy="83099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[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수정필요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] server_to_db.py —  </a:t>
            </a:r>
            <a:r>
              <a:rPr lang="en-US" altLang="ko-KR" sz="1200"/>
              <a:t>import </a:t>
            </a:r>
            <a:r>
              <a:rPr lang="ko-KR" altLang="en-US" sz="1200"/>
              <a:t>목록 점검</a:t>
            </a:r>
            <a:endParaRPr lang="en-US" altLang="ko-KR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[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수정필요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] put_data_2_db.py — upsert_median_hot_list() 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수정</a:t>
            </a:r>
          </a:p>
          <a:p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[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수정필요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] db_utils.py — 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해당 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read/update 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함수 수정</a:t>
            </a:r>
          </a:p>
          <a:p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[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수정필요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] predict_machine.py — Append_History_DB() 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호출 인자 수정</a:t>
            </a:r>
          </a:p>
        </p:txBody>
      </p:sp>
      <p:sp>
        <p:nvSpPr>
          <p:cNvPr id="9" name="화살표: 아래쪽 8">
            <a:extLst>
              <a:ext uri="{FF2B5EF4-FFF2-40B4-BE49-F238E27FC236}">
                <a16:creationId xmlns:a16="http://schemas.microsoft.com/office/drawing/2014/main" id="{D856E76F-2D8B-43A9-8994-6AA15BA3D6D6}"/>
              </a:ext>
            </a:extLst>
          </p:cNvPr>
          <p:cNvSpPr/>
          <p:nvPr/>
        </p:nvSpPr>
        <p:spPr>
          <a:xfrm>
            <a:off x="4281854" y="2807301"/>
            <a:ext cx="290146" cy="196496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05476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89C6B6C-5CDB-4FBB-8A09-20AE27D98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Page </a:t>
            </a:r>
            <a:fld id="{F03C90E3-98FA-4A46-95E3-0DCDD3916FEC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8AEAD1-9889-4226-B3CC-5EA7FB03173D}"/>
              </a:ext>
            </a:extLst>
          </p:cNvPr>
          <p:cNvSpPr txBox="1"/>
          <p:nvPr/>
        </p:nvSpPr>
        <p:spPr>
          <a:xfrm>
            <a:off x="2693184" y="2767167"/>
            <a:ext cx="375763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Technical Report </a:t>
            </a:r>
          </a:p>
          <a:p>
            <a:pPr algn="ctr"/>
            <a:r>
              <a:rPr lang="en-US" altLang="ko-KR" sz="28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28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하드웨어</a:t>
            </a:r>
            <a:r>
              <a:rPr lang="en-US" altLang="ko-KR" sz="28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</a:t>
            </a:r>
            <a:endParaRPr lang="ko-KR" altLang="en-US" sz="2800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CD55C43-BD2E-4006-9A57-FBB0AEFE7F4C}"/>
              </a:ext>
            </a:extLst>
          </p:cNvPr>
          <p:cNvSpPr/>
          <p:nvPr/>
        </p:nvSpPr>
        <p:spPr>
          <a:xfrm>
            <a:off x="6925733" y="897466"/>
            <a:ext cx="1481667" cy="255677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Confidential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7824295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FA066E1-204B-42C0-BA6C-F470BEB5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Page </a:t>
            </a:r>
            <a:fld id="{F03C90E3-98FA-4A46-95E3-0DCDD3916FEC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sp>
        <p:nvSpPr>
          <p:cNvPr id="40" name="슬라이드 번호 개체 틀 9">
            <a:extLst>
              <a:ext uri="{FF2B5EF4-FFF2-40B4-BE49-F238E27FC236}">
                <a16:creationId xmlns:a16="http://schemas.microsoft.com/office/drawing/2014/main" id="{4E762CBC-F01B-4495-8D2E-234576288CF3}"/>
              </a:ext>
            </a:extLst>
          </p:cNvPr>
          <p:cNvSpPr txBox="1">
            <a:spLocks/>
          </p:cNvSpPr>
          <p:nvPr/>
        </p:nvSpPr>
        <p:spPr>
          <a:xfrm>
            <a:off x="8335472" y="6560598"/>
            <a:ext cx="810910" cy="2316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675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PAGE</a:t>
            </a:r>
            <a:fld id="{F2C57867-4DD3-42C3-B33F-35CD9A0E77A0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4F44DDE-27F8-4B4D-9EFF-688CE79D5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262" y="1436950"/>
            <a:ext cx="5242824" cy="235237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ADA7055-5590-4802-94DE-F234D04DE6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7939" y="4207616"/>
            <a:ext cx="2316053" cy="1751698"/>
          </a:xfrm>
          <a:prstGeom prst="rect">
            <a:avLst/>
          </a:prstGeom>
        </p:spPr>
      </p:pic>
      <p:sp>
        <p:nvSpPr>
          <p:cNvPr id="17" name="화살표: 아래쪽 16">
            <a:extLst>
              <a:ext uri="{FF2B5EF4-FFF2-40B4-BE49-F238E27FC236}">
                <a16:creationId xmlns:a16="http://schemas.microsoft.com/office/drawing/2014/main" id="{0C360A23-F721-4BFD-9B44-6ADDDE5A4351}"/>
              </a:ext>
            </a:extLst>
          </p:cNvPr>
          <p:cNvSpPr/>
          <p:nvPr/>
        </p:nvSpPr>
        <p:spPr>
          <a:xfrm>
            <a:off x="3107267" y="1833522"/>
            <a:ext cx="76200" cy="465666"/>
          </a:xfrm>
          <a:prstGeom prst="downArrow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CBE5A1-A940-450F-B589-3943C464D3D4}"/>
              </a:ext>
            </a:extLst>
          </p:cNvPr>
          <p:cNvSpPr txBox="1"/>
          <p:nvPr/>
        </p:nvSpPr>
        <p:spPr>
          <a:xfrm>
            <a:off x="2629469" y="1622312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라즈베리파이</a:t>
            </a:r>
          </a:p>
        </p:txBody>
      </p:sp>
      <p:sp>
        <p:nvSpPr>
          <p:cNvPr id="23" name="화살표: 아래쪽 22">
            <a:extLst>
              <a:ext uri="{FF2B5EF4-FFF2-40B4-BE49-F238E27FC236}">
                <a16:creationId xmlns:a16="http://schemas.microsoft.com/office/drawing/2014/main" id="{130B8AB2-CB1D-4B5D-966C-1B1D0F33E020}"/>
              </a:ext>
            </a:extLst>
          </p:cNvPr>
          <p:cNvSpPr/>
          <p:nvPr/>
        </p:nvSpPr>
        <p:spPr>
          <a:xfrm rot="18215955">
            <a:off x="1498600" y="2439633"/>
            <a:ext cx="76200" cy="465666"/>
          </a:xfrm>
          <a:prstGeom prst="downArrow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화살표: 아래쪽 23">
            <a:extLst>
              <a:ext uri="{FF2B5EF4-FFF2-40B4-BE49-F238E27FC236}">
                <a16:creationId xmlns:a16="http://schemas.microsoft.com/office/drawing/2014/main" id="{35206AFD-F845-4106-BD33-ACE985807914}"/>
              </a:ext>
            </a:extLst>
          </p:cNvPr>
          <p:cNvSpPr/>
          <p:nvPr/>
        </p:nvSpPr>
        <p:spPr>
          <a:xfrm rot="18215955">
            <a:off x="1498600" y="1874185"/>
            <a:ext cx="76200" cy="465666"/>
          </a:xfrm>
          <a:prstGeom prst="downArrow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2A6F74-4480-44F3-AA45-224DDE975EE9}"/>
              </a:ext>
            </a:extLst>
          </p:cNvPr>
          <p:cNvSpPr txBox="1"/>
          <p:nvPr/>
        </p:nvSpPr>
        <p:spPr>
          <a:xfrm>
            <a:off x="438155" y="2350764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열화상센서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04301E-9C70-4F2E-8F93-A53D9324CA0A}"/>
              </a:ext>
            </a:extLst>
          </p:cNvPr>
          <p:cNvSpPr txBox="1"/>
          <p:nvPr/>
        </p:nvSpPr>
        <p:spPr>
          <a:xfrm>
            <a:off x="636734" y="1833522"/>
            <a:ext cx="7555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RGB</a:t>
            </a:r>
            <a:r>
              <a:rPr lang="ko-KR" altLang="en-US" sz="1200"/>
              <a:t>센서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7F8587-D294-465B-BCDB-493F0691D246}"/>
              </a:ext>
            </a:extLst>
          </p:cNvPr>
          <p:cNvSpPr txBox="1"/>
          <p:nvPr/>
        </p:nvSpPr>
        <p:spPr>
          <a:xfrm>
            <a:off x="6494051" y="2373386"/>
            <a:ext cx="474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UTP </a:t>
            </a:r>
            <a:endParaRPr lang="ko-KR" altLang="en-US" sz="12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BDFF73-ADF9-4315-AB59-0DE22C3ACFDF}"/>
              </a:ext>
            </a:extLst>
          </p:cNvPr>
          <p:cNvSpPr txBox="1"/>
          <p:nvPr/>
        </p:nvSpPr>
        <p:spPr>
          <a:xfrm>
            <a:off x="5816846" y="2022189"/>
            <a:ext cx="5966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5V</a:t>
            </a:r>
            <a:r>
              <a:rPr lang="ko-KR" altLang="en-US" sz="1200"/>
              <a:t> </a:t>
            </a:r>
            <a:r>
              <a:rPr lang="en-US" altLang="ko-KR" sz="1200"/>
              <a:t>DC </a:t>
            </a:r>
            <a:endParaRPr lang="ko-KR" altLang="en-US" sz="120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867947B2-403C-4320-BEDF-165C954CF0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7459" y="3911077"/>
            <a:ext cx="2724541" cy="2154611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7736B0FF-4D4F-41C4-B96A-4E0277610464}"/>
              </a:ext>
            </a:extLst>
          </p:cNvPr>
          <p:cNvSpPr txBox="1"/>
          <p:nvPr/>
        </p:nvSpPr>
        <p:spPr>
          <a:xfrm>
            <a:off x="2599336" y="5890935"/>
            <a:ext cx="15888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먼지</a:t>
            </a:r>
            <a:r>
              <a:rPr lang="ko-KR" altLang="en-US" sz="1200">
                <a:latin typeface="KoPubWorld바탕체_Pro Bold" panose="00000800000000000000" pitchFamily="50" charset="-127"/>
                <a:ea typeface="KoPubWorld바탕체_Pro Bold" panose="00000800000000000000" pitchFamily="50" charset="-127"/>
                <a:cs typeface="KoPubWorld바탕체_Pro Bold" panose="00000800000000000000" pitchFamily="50" charset="-127"/>
              </a:rPr>
              <a:t>〮</a:t>
            </a:r>
            <a:r>
              <a:rPr lang="ko-KR" altLang="en-US" sz="1200"/>
              <a:t>가스</a:t>
            </a:r>
            <a:r>
              <a:rPr lang="ko-KR" altLang="en-US" sz="1200">
                <a:latin typeface="KoPubWorld바탕체_Pro Bold" panose="00000800000000000000" pitchFamily="50" charset="-127"/>
                <a:ea typeface="KoPubWorld바탕체_Pro Bold" panose="00000800000000000000" pitchFamily="50" charset="-127"/>
                <a:cs typeface="KoPubWorld바탕체_Pro Bold" panose="00000800000000000000" pitchFamily="50" charset="-127"/>
              </a:rPr>
              <a:t> 〮 </a:t>
            </a:r>
            <a:r>
              <a:rPr lang="ko-KR" altLang="en-US" sz="1200"/>
              <a:t>온습센서</a:t>
            </a:r>
          </a:p>
        </p:txBody>
      </p:sp>
      <p:sp>
        <p:nvSpPr>
          <p:cNvPr id="31" name="화살표: 아래쪽 30">
            <a:extLst>
              <a:ext uri="{FF2B5EF4-FFF2-40B4-BE49-F238E27FC236}">
                <a16:creationId xmlns:a16="http://schemas.microsoft.com/office/drawing/2014/main" id="{AA807FF8-EF7B-43E4-A89C-3852498B6F5A}"/>
              </a:ext>
            </a:extLst>
          </p:cNvPr>
          <p:cNvSpPr/>
          <p:nvPr/>
        </p:nvSpPr>
        <p:spPr>
          <a:xfrm rot="10028684">
            <a:off x="3355685" y="5402394"/>
            <a:ext cx="76200" cy="465666"/>
          </a:xfrm>
          <a:prstGeom prst="downArrow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5321FA-97BA-41F8-9E88-5E21A9E6585E}"/>
              </a:ext>
            </a:extLst>
          </p:cNvPr>
          <p:cNvSpPr txBox="1"/>
          <p:nvPr/>
        </p:nvSpPr>
        <p:spPr>
          <a:xfrm>
            <a:off x="3107267" y="3660940"/>
            <a:ext cx="15888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먼지</a:t>
            </a:r>
            <a:r>
              <a:rPr lang="ko-KR" altLang="en-US" sz="1200">
                <a:latin typeface="KoPubWorld바탕체_Pro Bold" panose="00000800000000000000" pitchFamily="50" charset="-127"/>
                <a:ea typeface="KoPubWorld바탕체_Pro Bold" panose="00000800000000000000" pitchFamily="50" charset="-127"/>
                <a:cs typeface="KoPubWorld바탕체_Pro Bold" panose="00000800000000000000" pitchFamily="50" charset="-127"/>
              </a:rPr>
              <a:t>〮</a:t>
            </a:r>
            <a:r>
              <a:rPr lang="ko-KR" altLang="en-US" sz="1200"/>
              <a:t>가스</a:t>
            </a:r>
            <a:r>
              <a:rPr lang="ko-KR" altLang="en-US" sz="1200">
                <a:latin typeface="KoPubWorld바탕체_Pro Bold" panose="00000800000000000000" pitchFamily="50" charset="-127"/>
                <a:ea typeface="KoPubWorld바탕체_Pro Bold" panose="00000800000000000000" pitchFamily="50" charset="-127"/>
                <a:cs typeface="KoPubWorld바탕체_Pro Bold" panose="00000800000000000000" pitchFamily="50" charset="-127"/>
              </a:rPr>
              <a:t> 〮 </a:t>
            </a:r>
            <a:r>
              <a:rPr lang="ko-KR" altLang="en-US" sz="1200"/>
              <a:t>온습센서</a:t>
            </a:r>
          </a:p>
        </p:txBody>
      </p:sp>
      <p:sp>
        <p:nvSpPr>
          <p:cNvPr id="19" name="화살표: 아래쪽 18">
            <a:extLst>
              <a:ext uri="{FF2B5EF4-FFF2-40B4-BE49-F238E27FC236}">
                <a16:creationId xmlns:a16="http://schemas.microsoft.com/office/drawing/2014/main" id="{4854F48D-4994-4DAC-B263-F1B6820D10F8}"/>
              </a:ext>
            </a:extLst>
          </p:cNvPr>
          <p:cNvSpPr/>
          <p:nvPr/>
        </p:nvSpPr>
        <p:spPr>
          <a:xfrm rot="10028684">
            <a:off x="3660952" y="3430553"/>
            <a:ext cx="45719" cy="281951"/>
          </a:xfrm>
          <a:prstGeom prst="downArrow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34015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89C6B6C-5CDB-4FBB-8A09-20AE27D98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Page </a:t>
            </a:r>
            <a:fld id="{F03C90E3-98FA-4A46-95E3-0DCDD3916FEC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8AEAD1-9889-4226-B3CC-5EA7FB03173D}"/>
              </a:ext>
            </a:extLst>
          </p:cNvPr>
          <p:cNvSpPr txBox="1"/>
          <p:nvPr/>
        </p:nvSpPr>
        <p:spPr>
          <a:xfrm>
            <a:off x="2693184" y="2767167"/>
            <a:ext cx="375763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Technical Report </a:t>
            </a:r>
          </a:p>
          <a:p>
            <a:pPr algn="ctr"/>
            <a:r>
              <a:rPr lang="en-US" altLang="ko-KR" sz="28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28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딥러닝</a:t>
            </a:r>
            <a:r>
              <a:rPr lang="en-US" altLang="ko-KR" sz="28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</a:t>
            </a:r>
            <a:endParaRPr lang="ko-KR" altLang="en-US" sz="2800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CD55C43-BD2E-4006-9A57-FBB0AEFE7F4C}"/>
              </a:ext>
            </a:extLst>
          </p:cNvPr>
          <p:cNvSpPr/>
          <p:nvPr/>
        </p:nvSpPr>
        <p:spPr>
          <a:xfrm>
            <a:off x="6925733" y="897466"/>
            <a:ext cx="1481667" cy="255677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Confidential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2709827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FA066E1-204B-42C0-BA6C-F470BEB5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Page </a:t>
            </a:r>
            <a:fld id="{F03C90E3-98FA-4A46-95E3-0DCDD3916FEC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4C7F390-4766-4E5C-A950-C29ADA6B185D}"/>
              </a:ext>
            </a:extLst>
          </p:cNvPr>
          <p:cNvSpPr/>
          <p:nvPr/>
        </p:nvSpPr>
        <p:spPr>
          <a:xfrm>
            <a:off x="753858" y="749125"/>
            <a:ext cx="6769277" cy="53976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30000"/>
              </a:lnSpc>
            </a:pPr>
            <a:r>
              <a:rPr lang="en-US" altLang="ko-KR" sz="1600">
                <a:solidFill>
                  <a:schemeClr val="accent5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openpifpaf </a:t>
            </a:r>
            <a:r>
              <a:rPr lang="ko-KR" altLang="en-US" sz="1600">
                <a:solidFill>
                  <a:schemeClr val="accent5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 설치 방법</a:t>
            </a:r>
            <a:endParaRPr lang="en-US" altLang="ko-KR" sz="1600">
              <a:solidFill>
                <a:schemeClr val="accent5"/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  <a:p>
            <a:pPr fontAlgn="base">
              <a:lnSpc>
                <a:spcPct val="130000"/>
              </a:lnSpc>
            </a:pPr>
            <a:endParaRPr lang="en-US" altLang="ko-KR" sz="1200">
              <a:solidFill>
                <a:schemeClr val="bg1">
                  <a:lumMod val="50000"/>
                </a:schemeClr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  <a:p>
            <a:pPr fontAlgn="base">
              <a:lnSpc>
                <a:spcPct val="130000"/>
              </a:lnSpc>
            </a:pPr>
            <a:r>
              <a:rPr lang="en-US" altLang="ko-KR" sz="14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 https://github.com/cwlroda/falldetection_openpifpaf?tab=readme-ov-file</a:t>
            </a:r>
          </a:p>
          <a:p>
            <a:pPr fontAlgn="base">
              <a:lnSpc>
                <a:spcPct val="130000"/>
              </a:lnSpc>
            </a:pPr>
            <a:endParaRPr lang="en-US" altLang="ko-KR" sz="1400">
              <a:solidFill>
                <a:schemeClr val="bg1">
                  <a:lumMod val="50000"/>
                </a:schemeClr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  <a:p>
            <a:pPr fontAlgn="base">
              <a:lnSpc>
                <a:spcPct val="130000"/>
              </a:lnSpc>
            </a:pPr>
            <a:r>
              <a:rPr lang="en-US" altLang="ko-KR" sz="14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conda create -n joint39 python=3.9 -y</a:t>
            </a:r>
          </a:p>
          <a:p>
            <a:pPr fontAlgn="base">
              <a:lnSpc>
                <a:spcPct val="130000"/>
              </a:lnSpc>
            </a:pPr>
            <a:r>
              <a:rPr lang="en-US" altLang="ko-KR" sz="14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conda activate joint39</a:t>
            </a:r>
          </a:p>
          <a:p>
            <a:pPr fontAlgn="base">
              <a:lnSpc>
                <a:spcPct val="130000"/>
              </a:lnSpc>
            </a:pPr>
            <a:r>
              <a:rPr lang="en-US" altLang="ko-KR" sz="14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git clone https://github.com/cwlroda/falldetection_openpifpaf.git</a:t>
            </a:r>
          </a:p>
          <a:p>
            <a:pPr fontAlgn="base">
              <a:lnSpc>
                <a:spcPct val="130000"/>
              </a:lnSpc>
            </a:pPr>
            <a:r>
              <a:rPr lang="en-US" altLang="ko-KR" sz="14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pip install openpifpaf</a:t>
            </a:r>
          </a:p>
          <a:p>
            <a:pPr fontAlgn="base">
              <a:lnSpc>
                <a:spcPct val="130000"/>
              </a:lnSpc>
            </a:pPr>
            <a:r>
              <a:rPr lang="en-US" altLang="ko-KR" sz="14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cd falldetection_openpifpaf</a:t>
            </a:r>
          </a:p>
          <a:p>
            <a:pPr fontAlgn="base">
              <a:lnSpc>
                <a:spcPct val="130000"/>
              </a:lnSpc>
            </a:pPr>
            <a:r>
              <a:rPr lang="en-US" altLang="ko-KR" sz="14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pip install torch==1.10.2 torchvision==0.11.3 numpy==1.26.4 openpifpaf==0.12.14</a:t>
            </a:r>
          </a:p>
          <a:p>
            <a:pPr fontAlgn="base">
              <a:lnSpc>
                <a:spcPct val="130000"/>
              </a:lnSpc>
            </a:pPr>
            <a:endParaRPr lang="en-US" altLang="ko-KR" sz="1400">
              <a:solidFill>
                <a:schemeClr val="bg1">
                  <a:lumMod val="50000"/>
                </a:schemeClr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  <a:p>
            <a:pPr fontAlgn="base">
              <a:lnSpc>
                <a:spcPct val="130000"/>
              </a:lnSpc>
            </a:pPr>
            <a:r>
              <a:rPr lang="en-US" altLang="ko-KR" sz="14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pip install opencv-python</a:t>
            </a:r>
          </a:p>
          <a:p>
            <a:pPr fontAlgn="base">
              <a:lnSpc>
                <a:spcPct val="130000"/>
              </a:lnSpc>
            </a:pPr>
            <a:r>
              <a:rPr lang="en-US" altLang="ko-KR" sz="14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pip install "numpy&lt;2" --force-reinstall</a:t>
            </a:r>
          </a:p>
          <a:p>
            <a:pPr fontAlgn="base">
              <a:lnSpc>
                <a:spcPct val="130000"/>
              </a:lnSpc>
            </a:pPr>
            <a:r>
              <a:rPr lang="en-US" altLang="ko-KR" sz="14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pip install "scipy&lt;1.10"</a:t>
            </a:r>
          </a:p>
          <a:p>
            <a:pPr fontAlgn="base">
              <a:lnSpc>
                <a:spcPct val="130000"/>
              </a:lnSpc>
            </a:pPr>
            <a:r>
              <a:rPr lang="en-US" altLang="ko-KR" sz="14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pip install matplotlib</a:t>
            </a:r>
          </a:p>
          <a:p>
            <a:pPr fontAlgn="base">
              <a:lnSpc>
                <a:spcPct val="130000"/>
              </a:lnSpc>
            </a:pPr>
            <a:endParaRPr lang="en-US" altLang="ko-KR" sz="1400">
              <a:solidFill>
                <a:schemeClr val="bg1">
                  <a:lumMod val="50000"/>
                </a:schemeClr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  <a:p>
            <a:pPr fontAlgn="base">
              <a:lnSpc>
                <a:spcPct val="130000"/>
              </a:lnSpc>
            </a:pPr>
            <a:r>
              <a:rPr lang="en-US" altLang="ko-KR" sz="14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python -m openpifpaf.predict --checkpoint shufflenetv2k16 --image-output D:/otg_worker/output D:/otg_worker/20250818-144950.jpg</a:t>
            </a:r>
          </a:p>
        </p:txBody>
      </p:sp>
      <p:sp>
        <p:nvSpPr>
          <p:cNvPr id="40" name="슬라이드 번호 개체 틀 9">
            <a:extLst>
              <a:ext uri="{FF2B5EF4-FFF2-40B4-BE49-F238E27FC236}">
                <a16:creationId xmlns:a16="http://schemas.microsoft.com/office/drawing/2014/main" id="{4E762CBC-F01B-4495-8D2E-234576288CF3}"/>
              </a:ext>
            </a:extLst>
          </p:cNvPr>
          <p:cNvSpPr txBox="1">
            <a:spLocks/>
          </p:cNvSpPr>
          <p:nvPr/>
        </p:nvSpPr>
        <p:spPr>
          <a:xfrm>
            <a:off x="8335472" y="6560598"/>
            <a:ext cx="810910" cy="2316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675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PAGE</a:t>
            </a:r>
            <a:fld id="{F2C57867-4DD3-42C3-B33F-35CD9A0E77A0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F990EE8-24D4-463A-861A-21F637075BD2}"/>
              </a:ext>
            </a:extLst>
          </p:cNvPr>
          <p:cNvGrpSpPr/>
          <p:nvPr/>
        </p:nvGrpSpPr>
        <p:grpSpPr>
          <a:xfrm>
            <a:off x="4572000" y="3745381"/>
            <a:ext cx="3818142" cy="1538795"/>
            <a:chOff x="4058892" y="2888740"/>
            <a:chExt cx="5441228" cy="2422037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67E0F168-F7C2-4D9D-9E5D-6D86CC5E57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42502" y="2898065"/>
              <a:ext cx="1585577" cy="2041702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DA29AE0B-2F45-4E6B-9F54-9B6F47C5A2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58892" y="2898065"/>
              <a:ext cx="1585577" cy="2041702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0245C470-E47C-4860-AA74-E0CFDBF53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16027" y="2888740"/>
              <a:ext cx="2084093" cy="2051027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BA49F3-7853-4E88-B1A0-29BD36BBC604}"/>
                </a:ext>
              </a:extLst>
            </p:cNvPr>
            <p:cNvSpPr txBox="1"/>
            <p:nvPr/>
          </p:nvSpPr>
          <p:spPr>
            <a:xfrm>
              <a:off x="8060450" y="4976230"/>
              <a:ext cx="65594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넘어짐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D25714B-3A52-417A-9B48-4D261F5C39DD}"/>
                </a:ext>
              </a:extLst>
            </p:cNvPr>
            <p:cNvSpPr txBox="1"/>
            <p:nvPr/>
          </p:nvSpPr>
          <p:spPr>
            <a:xfrm>
              <a:off x="4500171" y="4990329"/>
              <a:ext cx="8130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입력영상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80733DB-02C9-4E0C-B10A-8CA4F9AA4D62}"/>
                </a:ext>
              </a:extLst>
            </p:cNvPr>
            <p:cNvSpPr txBox="1"/>
            <p:nvPr/>
          </p:nvSpPr>
          <p:spPr>
            <a:xfrm>
              <a:off x="6128768" y="5003000"/>
              <a:ext cx="8130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분석영상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350381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FA066E1-204B-42C0-BA6C-F470BEB5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Page </a:t>
            </a:r>
            <a:fld id="{F03C90E3-98FA-4A46-95E3-0DCDD3916FEC}" type="slidenum">
              <a:rPr lang="ko-KR" altLang="en-US" smtClean="0"/>
              <a:pPr/>
              <a:t>32</a:t>
            </a:fld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4C7F390-4766-4E5C-A950-C29ADA6B185D}"/>
              </a:ext>
            </a:extLst>
          </p:cNvPr>
          <p:cNvSpPr/>
          <p:nvPr/>
        </p:nvSpPr>
        <p:spPr>
          <a:xfrm>
            <a:off x="753858" y="749125"/>
            <a:ext cx="6769277" cy="3759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30000"/>
              </a:lnSpc>
            </a:pPr>
            <a:r>
              <a:rPr lang="ko-KR" altLang="en-US" sz="1600">
                <a:solidFill>
                  <a:srgbClr val="0070C0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열화상 이미지 데이터에서 </a:t>
            </a:r>
            <a:r>
              <a:rPr lang="en-US" altLang="ko-KR" sz="1600">
                <a:solidFill>
                  <a:srgbClr val="0070C0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[</a:t>
            </a:r>
            <a:r>
              <a:rPr lang="ko-KR" altLang="en-US" sz="1600">
                <a:solidFill>
                  <a:srgbClr val="0070C0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학습 샘플</a:t>
            </a:r>
            <a:r>
              <a:rPr lang="en-US" altLang="ko-KR" sz="1600">
                <a:solidFill>
                  <a:srgbClr val="0070C0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]</a:t>
            </a:r>
            <a:r>
              <a:rPr lang="ko-KR" altLang="en-US" sz="1600">
                <a:solidFill>
                  <a:srgbClr val="0070C0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 만드는 방법</a:t>
            </a:r>
            <a:endParaRPr lang="en-US" altLang="ko-KR" sz="1600">
              <a:solidFill>
                <a:srgbClr val="0070C0"/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  <a:p>
            <a:pPr fontAlgn="base">
              <a:lnSpc>
                <a:spcPct val="130000"/>
              </a:lnSpc>
            </a:pPr>
            <a:endParaRPr lang="en-US" altLang="ko-KR" sz="1200">
              <a:solidFill>
                <a:schemeClr val="bg1">
                  <a:lumMod val="50000"/>
                </a:schemeClr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 ⊙ </a:t>
            </a:r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서버에서 파일 다운로드</a:t>
            </a: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       : sangchoo.com/web/kict_samsung/kict1/ir_sample_data</a:t>
            </a: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       : </a:t>
            </a:r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폴더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[step_0] </a:t>
            </a:r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에 저장</a:t>
            </a:r>
          </a:p>
          <a:p>
            <a:pPr fontAlgn="base">
              <a:lnSpc>
                <a:spcPct val="130000"/>
              </a:lnSpc>
            </a:pPr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 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⊙ run_all.bat </a:t>
            </a:r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실행</a:t>
            </a:r>
          </a:p>
          <a:p>
            <a:pPr fontAlgn="base">
              <a:lnSpc>
                <a:spcPct val="130000"/>
              </a:lnSpc>
            </a:pPr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   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 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바탕체_Pro Bold" panose="00000800000000000000" pitchFamily="50" charset="-127"/>
                <a:ea typeface="KoPubWorld바탕체_Pro Bold" panose="00000800000000000000" pitchFamily="50" charset="-127"/>
                <a:cs typeface="KoPubWorld바탕체_Pro Bold" panose="00000800000000000000" pitchFamily="50" charset="-127"/>
              </a:rPr>
              <a:t>① 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gen-samples.py </a:t>
            </a: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        : </a:t>
            </a:r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열화상 해상도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(160x120) </a:t>
            </a:r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필드 리스트를 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64</a:t>
            </a:r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개 필드 리스트 변환</a:t>
            </a: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        : </a:t>
            </a:r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폴더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[step_0] → </a:t>
            </a:r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폴더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[step_1] </a:t>
            </a: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     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바탕체_Pro Bold" panose="00000800000000000000" pitchFamily="50" charset="-127"/>
                <a:ea typeface="KoPubWorld바탕체_Pro Bold" panose="00000800000000000000" pitchFamily="50" charset="-127"/>
                <a:cs typeface="KoPubWorld바탕체_Pro Bold" panose="00000800000000000000" pitchFamily="50" charset="-127"/>
              </a:rPr>
              <a:t>② 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apply_median.py : </a:t>
            </a: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        : </a:t>
            </a:r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열화상 프레임별 노이즈제거 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– </a:t>
            </a:r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미디언 필터링 적용</a:t>
            </a:r>
          </a:p>
          <a:p>
            <a:pPr fontAlgn="base">
              <a:lnSpc>
                <a:spcPct val="130000"/>
              </a:lnSpc>
            </a:pPr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        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: </a:t>
            </a:r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폴더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[step_1] →  </a:t>
            </a:r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폴더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[step_2] </a:t>
            </a: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     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바탕체_Pro Bold" panose="00000800000000000000" pitchFamily="50" charset="-127"/>
                <a:ea typeface="KoPubWorld바탕체_Pro Bold" panose="00000800000000000000" pitchFamily="50" charset="-127"/>
                <a:cs typeface="KoPubWorld바탕체_Pro Bold" panose="00000800000000000000" pitchFamily="50" charset="-127"/>
              </a:rPr>
              <a:t>③ 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apply_mask_extract.py </a:t>
            </a: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        : mach_area_mask.ini </a:t>
            </a:r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의 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1 </a:t>
            </a:r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위치 값만 추출해 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step_3</a:t>
            </a:r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에 저장</a:t>
            </a: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        : </a:t>
            </a:r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폴더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[step_2] → </a:t>
            </a:r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폴더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[step_3]         </a:t>
            </a:r>
          </a:p>
        </p:txBody>
      </p:sp>
      <p:sp>
        <p:nvSpPr>
          <p:cNvPr id="40" name="슬라이드 번호 개체 틀 9">
            <a:extLst>
              <a:ext uri="{FF2B5EF4-FFF2-40B4-BE49-F238E27FC236}">
                <a16:creationId xmlns:a16="http://schemas.microsoft.com/office/drawing/2014/main" id="{4E762CBC-F01B-4495-8D2E-234576288CF3}"/>
              </a:ext>
            </a:extLst>
          </p:cNvPr>
          <p:cNvSpPr txBox="1">
            <a:spLocks/>
          </p:cNvSpPr>
          <p:nvPr/>
        </p:nvSpPr>
        <p:spPr>
          <a:xfrm>
            <a:off x="8335472" y="6560598"/>
            <a:ext cx="810910" cy="2316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675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PAGE</a:t>
            </a:r>
            <a:fld id="{F2C57867-4DD3-42C3-B33F-35CD9A0E77A0}" type="slidenum">
              <a:rPr lang="ko-KR" altLang="en-US" smtClean="0"/>
              <a:pPr/>
              <a:t>32</a:t>
            </a:fld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D59954-1CFD-48EA-AB33-D63512EE9935}"/>
              </a:ext>
            </a:extLst>
          </p:cNvPr>
          <p:cNvSpPr txBox="1"/>
          <p:nvPr/>
        </p:nvSpPr>
        <p:spPr>
          <a:xfrm>
            <a:off x="885321" y="4595645"/>
            <a:ext cx="774282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[step_0] 160x120 </a:t>
            </a:r>
            <a:r>
              <a:rPr lang="ko-KR" altLang="en-US" sz="11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필드</a:t>
            </a:r>
            <a:endParaRPr lang="en-US" altLang="ko-KR" sz="1100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en-US" altLang="ko-KR" sz="11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41,42,42,41,41,42,42,43,44,44,42,42,42,41,41,41,40,41,41,42,41,41,41,41,41,41,42, …,40,40,40,40,42,41,41,41</a:t>
            </a:r>
          </a:p>
          <a:p>
            <a:r>
              <a:rPr lang="en-US" altLang="ko-KR" sz="11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[step_1] 8x8 = 64 </a:t>
            </a:r>
            <a:r>
              <a:rPr lang="ko-KR" altLang="en-US" sz="11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필드</a:t>
            </a:r>
            <a:endParaRPr lang="en-US" altLang="ko-KR" sz="1100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en-US" altLang="ko-KR" sz="11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56,47,62,50,50,55,43,42,51,44,68,64,67,53,43,39,48,47,87,195,104,89,43,41,70,78,…,39,48,59,40,39,41,40,41</a:t>
            </a:r>
          </a:p>
          <a:p>
            <a:r>
              <a:rPr lang="en-US" altLang="ko-KR" sz="11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[step_2] 8x8 = 64 </a:t>
            </a:r>
            <a:r>
              <a:rPr lang="ko-KR" altLang="en-US" sz="11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필드</a:t>
            </a:r>
            <a:endParaRPr lang="en-US" altLang="ko-KR" sz="1100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en-US" altLang="ko-KR" sz="11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53,45,59,48,47,52,40,38,48,42,66,62,64,50,40,36,45,44,86,195,102,87,40,38,68,75,91,…,36,46,56,38,36,38,37,38</a:t>
            </a:r>
          </a:p>
          <a:p>
            <a:r>
              <a:rPr lang="en-US" altLang="ko-KR" sz="11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[step_3] 16 </a:t>
            </a:r>
            <a:r>
              <a:rPr lang="ko-KR" altLang="en-US" sz="11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필드</a:t>
            </a:r>
            <a:endParaRPr lang="en-US" altLang="ko-KR" sz="1100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en-US" altLang="ko-KR" sz="11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64,86,195,102,87,75,91,197,120,120,92,192,187,81,188,191</a:t>
            </a:r>
            <a:endParaRPr lang="ko-KR" altLang="en-US" sz="11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4664A3D0-2DDE-4D36-AE4E-47BCAFBA8E08}"/>
              </a:ext>
            </a:extLst>
          </p:cNvPr>
          <p:cNvGrpSpPr/>
          <p:nvPr/>
        </p:nvGrpSpPr>
        <p:grpSpPr>
          <a:xfrm>
            <a:off x="5393584" y="1741450"/>
            <a:ext cx="3644906" cy="1445563"/>
            <a:chOff x="5173777" y="2673435"/>
            <a:chExt cx="3644906" cy="1445563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F41F6283-9267-4427-AA9B-7E32D9F74BCE}"/>
                </a:ext>
              </a:extLst>
            </p:cNvPr>
            <p:cNvGrpSpPr/>
            <p:nvPr/>
          </p:nvGrpSpPr>
          <p:grpSpPr>
            <a:xfrm>
              <a:off x="5173777" y="2898964"/>
              <a:ext cx="3644906" cy="1220034"/>
              <a:chOff x="5156193" y="2821417"/>
              <a:chExt cx="3644906" cy="1220034"/>
            </a:xfrm>
          </p:grpSpPr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C0E41445-B3B0-4425-8A14-C50F51FFF11B}"/>
                  </a:ext>
                </a:extLst>
              </p:cNvPr>
              <p:cNvSpPr/>
              <p:nvPr/>
            </p:nvSpPr>
            <p:spPr>
              <a:xfrm>
                <a:off x="5156193" y="2821417"/>
                <a:ext cx="3600945" cy="1081065"/>
              </a:xfrm>
              <a:prstGeom prst="rect">
                <a:avLst/>
              </a:prstGeom>
              <a:ln w="19050">
                <a:solidFill>
                  <a:schemeClr val="bg1">
                    <a:lumMod val="8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fontAlgn="base">
                  <a:lnSpc>
                    <a:spcPct val="130000"/>
                  </a:lnSpc>
                </a:pPr>
                <a:r>
                  <a:rPr lang="ko-KR" altLang="en-US" sz="1000">
                    <a:solidFill>
                      <a:schemeClr val="bg1">
                        <a:lumMod val="50000"/>
                      </a:schemeClr>
                    </a:solidFill>
                    <a:latin typeface="KoPubWorld돋움체_Pro Bold" panose="00000800000000000000" pitchFamily="50" charset="-127"/>
                    <a:ea typeface="KoPubWorld돋움체_Pro Bold" panose="00000800000000000000" pitchFamily="50" charset="-127"/>
                    <a:cs typeface="KoPubWorld돋움체_Pro Bold" panose="00000800000000000000" pitchFamily="50" charset="-127"/>
                  </a:rPr>
                  <a:t>폴더</a:t>
                </a:r>
                <a:r>
                  <a:rPr lang="en-US" altLang="ko-KR" sz="1000">
                    <a:solidFill>
                      <a:schemeClr val="bg1">
                        <a:lumMod val="50000"/>
                      </a:schemeClr>
                    </a:solidFill>
                    <a:latin typeface="KoPubWorld돋움체_Pro Bold" panose="00000800000000000000" pitchFamily="50" charset="-127"/>
                    <a:ea typeface="KoPubWorld돋움체_Pro Bold" panose="00000800000000000000" pitchFamily="50" charset="-127"/>
                    <a:cs typeface="KoPubWorld돋움체_Pro Bold" panose="00000800000000000000" pitchFamily="50" charset="-127"/>
                  </a:rPr>
                  <a:t>[step_0] : 160x120 </a:t>
                </a:r>
                <a:r>
                  <a:rPr lang="ko-KR" altLang="en-US" sz="1000">
                    <a:solidFill>
                      <a:schemeClr val="bg1">
                        <a:lumMod val="50000"/>
                      </a:schemeClr>
                    </a:solidFill>
                    <a:latin typeface="KoPubWorld돋움체_Pro Bold" panose="00000800000000000000" pitchFamily="50" charset="-127"/>
                    <a:ea typeface="KoPubWorld돋움체_Pro Bold" panose="00000800000000000000" pitchFamily="50" charset="-127"/>
                    <a:cs typeface="KoPubWorld돋움체_Pro Bold" panose="00000800000000000000" pitchFamily="50" charset="-127"/>
                  </a:rPr>
                  <a:t>픽셀값 파일 </a:t>
                </a:r>
                <a:endParaRPr lang="en-US" altLang="ko-KR" sz="1000">
                  <a:solidFill>
                    <a:schemeClr val="bg1">
                      <a:lumMod val="50000"/>
                    </a:schemeClr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endParaRPr>
              </a:p>
              <a:p>
                <a:pPr fontAlgn="base">
                  <a:lnSpc>
                    <a:spcPct val="130000"/>
                  </a:lnSpc>
                </a:pPr>
                <a:r>
                  <a:rPr lang="ko-KR" altLang="en-US" sz="1000">
                    <a:solidFill>
                      <a:schemeClr val="bg1">
                        <a:lumMod val="50000"/>
                      </a:schemeClr>
                    </a:solidFill>
                    <a:latin typeface="KoPubWorld돋움체_Pro Bold" panose="00000800000000000000" pitchFamily="50" charset="-127"/>
                    <a:ea typeface="KoPubWorld돋움체_Pro Bold" panose="00000800000000000000" pitchFamily="50" charset="-127"/>
                    <a:cs typeface="KoPubWorld돋움체_Pro Bold" panose="00000800000000000000" pitchFamily="50" charset="-127"/>
                  </a:rPr>
                  <a:t>폴더</a:t>
                </a:r>
                <a:r>
                  <a:rPr lang="en-US" altLang="ko-KR" sz="1000">
                    <a:solidFill>
                      <a:schemeClr val="bg1">
                        <a:lumMod val="50000"/>
                      </a:schemeClr>
                    </a:solidFill>
                    <a:latin typeface="KoPubWorld돋움체_Pro Bold" panose="00000800000000000000" pitchFamily="50" charset="-127"/>
                    <a:ea typeface="KoPubWorld돋움체_Pro Bold" panose="00000800000000000000" pitchFamily="50" charset="-127"/>
                    <a:cs typeface="KoPubWorld돋움체_Pro Bold" panose="00000800000000000000" pitchFamily="50" charset="-127"/>
                  </a:rPr>
                  <a:t>[step_1] : 64</a:t>
                </a:r>
                <a:r>
                  <a:rPr lang="ko-KR" altLang="en-US" sz="1000">
                    <a:solidFill>
                      <a:schemeClr val="bg1">
                        <a:lumMod val="50000"/>
                      </a:schemeClr>
                    </a:solidFill>
                    <a:latin typeface="KoPubWorld돋움체_Pro Bold" panose="00000800000000000000" pitchFamily="50" charset="-127"/>
                    <a:ea typeface="KoPubWorld돋움체_Pro Bold" panose="00000800000000000000" pitchFamily="50" charset="-127"/>
                    <a:cs typeface="KoPubWorld돋움체_Pro Bold" panose="00000800000000000000" pitchFamily="50" charset="-127"/>
                  </a:rPr>
                  <a:t>개 대표 값 리스트 변환 </a:t>
                </a:r>
                <a:r>
                  <a:rPr lang="en-US" altLang="ko-KR" sz="1000">
                    <a:solidFill>
                      <a:schemeClr val="bg1">
                        <a:lumMod val="50000"/>
                      </a:schemeClr>
                    </a:solidFill>
                    <a:latin typeface="KoPubWorld돋움체_Pro Bold" panose="00000800000000000000" pitchFamily="50" charset="-127"/>
                    <a:ea typeface="KoPubWorld돋움체_Pro Bold" panose="00000800000000000000" pitchFamily="50" charset="-127"/>
                    <a:cs typeface="KoPubWorld돋움체_Pro Bold" panose="00000800000000000000" pitchFamily="50" charset="-127"/>
                  </a:rPr>
                  <a:t>(</a:t>
                </a:r>
                <a:r>
                  <a:rPr lang="ko-KR" altLang="en-US" sz="1000">
                    <a:solidFill>
                      <a:schemeClr val="bg1">
                        <a:lumMod val="50000"/>
                      </a:schemeClr>
                    </a:solidFill>
                    <a:latin typeface="KoPubWorld돋움체_Pro Bold" panose="00000800000000000000" pitchFamily="50" charset="-127"/>
                    <a:ea typeface="KoPubWorld돋움체_Pro Bold" panose="00000800000000000000" pitchFamily="50" charset="-127"/>
                    <a:cs typeface="KoPubWorld돋움체_Pro Bold" panose="00000800000000000000" pitchFamily="50" charset="-127"/>
                  </a:rPr>
                  <a:t>크기 </a:t>
                </a:r>
                <a:r>
                  <a:rPr lang="en-US" altLang="ko-KR" sz="1000">
                    <a:solidFill>
                      <a:schemeClr val="bg1">
                        <a:lumMod val="50000"/>
                      </a:schemeClr>
                    </a:solidFill>
                    <a:latin typeface="KoPubWorld돋움체_Pro Bold" panose="00000800000000000000" pitchFamily="50" charset="-127"/>
                    <a:ea typeface="KoPubWorld돋움체_Pro Bold" panose="00000800000000000000" pitchFamily="50" charset="-127"/>
                    <a:cs typeface="KoPubWorld돋움체_Pro Bold" panose="00000800000000000000" pitchFamily="50" charset="-127"/>
                  </a:rPr>
                  <a:t>64 </a:t>
                </a:r>
                <a:r>
                  <a:rPr lang="ko-KR" altLang="en-US" sz="1000">
                    <a:solidFill>
                      <a:schemeClr val="bg1">
                        <a:lumMod val="50000"/>
                      </a:schemeClr>
                    </a:solidFill>
                    <a:latin typeface="KoPubWorld돋움체_Pro Bold" panose="00000800000000000000" pitchFamily="50" charset="-127"/>
                    <a:ea typeface="KoPubWorld돋움체_Pro Bold" panose="00000800000000000000" pitchFamily="50" charset="-127"/>
                    <a:cs typeface="KoPubWorld돋움체_Pro Bold" panose="00000800000000000000" pitchFamily="50" charset="-127"/>
                  </a:rPr>
                  <a:t>필드</a:t>
                </a:r>
                <a:r>
                  <a:rPr lang="en-US" altLang="ko-KR" sz="1000">
                    <a:solidFill>
                      <a:schemeClr val="bg1">
                        <a:lumMod val="50000"/>
                      </a:schemeClr>
                    </a:solidFill>
                    <a:latin typeface="KoPubWorld돋움체_Pro Bold" panose="00000800000000000000" pitchFamily="50" charset="-127"/>
                    <a:ea typeface="KoPubWorld돋움체_Pro Bold" panose="00000800000000000000" pitchFamily="50" charset="-127"/>
                    <a:cs typeface="KoPubWorld돋움체_Pro Bold" panose="00000800000000000000" pitchFamily="50" charset="-127"/>
                  </a:rPr>
                  <a:t>)</a:t>
                </a:r>
              </a:p>
              <a:p>
                <a:pPr fontAlgn="base">
                  <a:lnSpc>
                    <a:spcPct val="130000"/>
                  </a:lnSpc>
                </a:pPr>
                <a:r>
                  <a:rPr lang="ko-KR" altLang="en-US" sz="1000">
                    <a:solidFill>
                      <a:schemeClr val="bg1">
                        <a:lumMod val="50000"/>
                      </a:schemeClr>
                    </a:solidFill>
                    <a:latin typeface="KoPubWorld돋움체_Pro Bold" panose="00000800000000000000" pitchFamily="50" charset="-127"/>
                    <a:ea typeface="KoPubWorld돋움체_Pro Bold" panose="00000800000000000000" pitchFamily="50" charset="-127"/>
                    <a:cs typeface="KoPubWorld돋움체_Pro Bold" panose="00000800000000000000" pitchFamily="50" charset="-127"/>
                  </a:rPr>
                  <a:t>폴더</a:t>
                </a:r>
                <a:r>
                  <a:rPr lang="en-US" altLang="ko-KR" sz="1000">
                    <a:solidFill>
                      <a:schemeClr val="bg1">
                        <a:lumMod val="50000"/>
                      </a:schemeClr>
                    </a:solidFill>
                    <a:latin typeface="KoPubWorld돋움체_Pro Bold" panose="00000800000000000000" pitchFamily="50" charset="-127"/>
                    <a:ea typeface="KoPubWorld돋움체_Pro Bold" panose="00000800000000000000" pitchFamily="50" charset="-127"/>
                    <a:cs typeface="KoPubWorld돋움체_Pro Bold" panose="00000800000000000000" pitchFamily="50" charset="-127"/>
                  </a:rPr>
                  <a:t>[step_2] : </a:t>
                </a:r>
                <a:r>
                  <a:rPr lang="ko-KR" altLang="en-US" sz="1000">
                    <a:solidFill>
                      <a:schemeClr val="bg1">
                        <a:lumMod val="50000"/>
                      </a:schemeClr>
                    </a:solidFill>
                    <a:latin typeface="KoPubWorld돋움체_Pro Bold" panose="00000800000000000000" pitchFamily="50" charset="-127"/>
                    <a:ea typeface="KoPubWorld돋움체_Pro Bold" panose="00000800000000000000" pitchFamily="50" charset="-127"/>
                    <a:cs typeface="KoPubWorld돋움체_Pro Bold" panose="00000800000000000000" pitchFamily="50" charset="-127"/>
                  </a:rPr>
                  <a:t>노이즈 필터링</a:t>
                </a:r>
                <a:r>
                  <a:rPr lang="en-US" altLang="ko-KR" sz="1000">
                    <a:solidFill>
                      <a:schemeClr val="bg1">
                        <a:lumMod val="50000"/>
                      </a:schemeClr>
                    </a:solidFill>
                    <a:latin typeface="KoPubWorld돋움체_Pro Bold" panose="00000800000000000000" pitchFamily="50" charset="-127"/>
                    <a:ea typeface="KoPubWorld돋움체_Pro Bold" panose="00000800000000000000" pitchFamily="50" charset="-127"/>
                    <a:cs typeface="KoPubWorld돋움체_Pro Bold" panose="00000800000000000000" pitchFamily="50" charset="-127"/>
                  </a:rPr>
                  <a:t>(Median)</a:t>
                </a:r>
                <a:r>
                  <a:rPr lang="ko-KR" altLang="en-US" sz="1000">
                    <a:solidFill>
                      <a:schemeClr val="bg1">
                        <a:lumMod val="50000"/>
                      </a:schemeClr>
                    </a:solidFill>
                    <a:latin typeface="KoPubWorld돋움체_Pro Bold" panose="00000800000000000000" pitchFamily="50" charset="-127"/>
                    <a:ea typeface="KoPubWorld돋움체_Pro Bold" panose="00000800000000000000" pitchFamily="50" charset="-127"/>
                    <a:cs typeface="KoPubWorld돋움체_Pro Bold" panose="00000800000000000000" pitchFamily="50" charset="-127"/>
                  </a:rPr>
                  <a:t> 변환 </a:t>
                </a:r>
                <a:r>
                  <a:rPr lang="en-US" altLang="ko-KR" sz="1000">
                    <a:solidFill>
                      <a:schemeClr val="bg1">
                        <a:lumMod val="50000"/>
                      </a:schemeClr>
                    </a:solidFill>
                    <a:latin typeface="KoPubWorld돋움체_Pro Bold" panose="00000800000000000000" pitchFamily="50" charset="-127"/>
                    <a:ea typeface="KoPubWorld돋움체_Pro Bold" panose="00000800000000000000" pitchFamily="50" charset="-127"/>
                    <a:cs typeface="KoPubWorld돋움체_Pro Bold" panose="00000800000000000000" pitchFamily="50" charset="-127"/>
                  </a:rPr>
                  <a:t>(</a:t>
                </a:r>
                <a:r>
                  <a:rPr lang="ko-KR" altLang="en-US" sz="1000">
                    <a:solidFill>
                      <a:schemeClr val="bg1">
                        <a:lumMod val="50000"/>
                      </a:schemeClr>
                    </a:solidFill>
                    <a:latin typeface="KoPubWorld돋움체_Pro Bold" panose="00000800000000000000" pitchFamily="50" charset="-127"/>
                    <a:ea typeface="KoPubWorld돋움체_Pro Bold" panose="00000800000000000000" pitchFamily="50" charset="-127"/>
                    <a:cs typeface="KoPubWorld돋움체_Pro Bold" panose="00000800000000000000" pitchFamily="50" charset="-127"/>
                  </a:rPr>
                  <a:t>크기 </a:t>
                </a:r>
                <a:r>
                  <a:rPr lang="en-US" altLang="ko-KR" sz="1000">
                    <a:solidFill>
                      <a:schemeClr val="bg1">
                        <a:lumMod val="50000"/>
                      </a:schemeClr>
                    </a:solidFill>
                    <a:latin typeface="KoPubWorld돋움체_Pro Bold" panose="00000800000000000000" pitchFamily="50" charset="-127"/>
                    <a:ea typeface="KoPubWorld돋움체_Pro Bold" panose="00000800000000000000" pitchFamily="50" charset="-127"/>
                    <a:cs typeface="KoPubWorld돋움체_Pro Bold" panose="00000800000000000000" pitchFamily="50" charset="-127"/>
                  </a:rPr>
                  <a:t>64 </a:t>
                </a:r>
                <a:r>
                  <a:rPr lang="ko-KR" altLang="en-US" sz="1000">
                    <a:solidFill>
                      <a:schemeClr val="bg1">
                        <a:lumMod val="50000"/>
                      </a:schemeClr>
                    </a:solidFill>
                    <a:latin typeface="KoPubWorld돋움체_Pro Bold" panose="00000800000000000000" pitchFamily="50" charset="-127"/>
                    <a:ea typeface="KoPubWorld돋움체_Pro Bold" panose="00000800000000000000" pitchFamily="50" charset="-127"/>
                    <a:cs typeface="KoPubWorld돋움체_Pro Bold" panose="00000800000000000000" pitchFamily="50" charset="-127"/>
                  </a:rPr>
                  <a:t>필드</a:t>
                </a:r>
                <a:r>
                  <a:rPr lang="en-US" altLang="ko-KR" sz="1000">
                    <a:solidFill>
                      <a:schemeClr val="bg1">
                        <a:lumMod val="50000"/>
                      </a:schemeClr>
                    </a:solidFill>
                    <a:latin typeface="KoPubWorld돋움체_Pro Bold" panose="00000800000000000000" pitchFamily="50" charset="-127"/>
                    <a:ea typeface="KoPubWorld돋움체_Pro Bold" panose="00000800000000000000" pitchFamily="50" charset="-127"/>
                    <a:cs typeface="KoPubWorld돋움체_Pro Bold" panose="00000800000000000000" pitchFamily="50" charset="-127"/>
                  </a:rPr>
                  <a:t>)</a:t>
                </a:r>
                <a:endParaRPr lang="ko-KR" altLang="en-US" sz="1000">
                  <a:solidFill>
                    <a:schemeClr val="bg1">
                      <a:lumMod val="50000"/>
                    </a:schemeClr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endParaRPr>
              </a:p>
              <a:p>
                <a:pPr fontAlgn="base">
                  <a:lnSpc>
                    <a:spcPct val="130000"/>
                  </a:lnSpc>
                </a:pPr>
                <a:r>
                  <a:rPr lang="ko-KR" altLang="en-US" sz="1000">
                    <a:solidFill>
                      <a:schemeClr val="bg1">
                        <a:lumMod val="50000"/>
                      </a:schemeClr>
                    </a:solidFill>
                    <a:latin typeface="KoPubWorld돋움체_Pro Bold" panose="00000800000000000000" pitchFamily="50" charset="-127"/>
                    <a:ea typeface="KoPubWorld돋움체_Pro Bold" panose="00000800000000000000" pitchFamily="50" charset="-127"/>
                    <a:cs typeface="KoPubWorld돋움체_Pro Bold" panose="00000800000000000000" pitchFamily="50" charset="-127"/>
                  </a:rPr>
                  <a:t>폴더</a:t>
                </a:r>
                <a:r>
                  <a:rPr lang="en-US" altLang="ko-KR" sz="1000">
                    <a:solidFill>
                      <a:schemeClr val="bg1">
                        <a:lumMod val="50000"/>
                      </a:schemeClr>
                    </a:solidFill>
                    <a:latin typeface="KoPubWorld돋움체_Pro Bold" panose="00000800000000000000" pitchFamily="50" charset="-127"/>
                    <a:ea typeface="KoPubWorld돋움체_Pro Bold" panose="00000800000000000000" pitchFamily="50" charset="-127"/>
                    <a:cs typeface="KoPubWorld돋움체_Pro Bold" panose="00000800000000000000" pitchFamily="50" charset="-127"/>
                  </a:rPr>
                  <a:t>[step_3] : </a:t>
                </a:r>
                <a:r>
                  <a:rPr lang="ko-KR" altLang="en-US" sz="1000">
                    <a:solidFill>
                      <a:schemeClr val="bg1">
                        <a:lumMod val="50000"/>
                      </a:schemeClr>
                    </a:solidFill>
                    <a:latin typeface="KoPubWorld돋움체_Pro Bold" panose="00000800000000000000" pitchFamily="50" charset="-127"/>
                    <a:ea typeface="KoPubWorld돋움체_Pro Bold" panose="00000800000000000000" pitchFamily="50" charset="-127"/>
                    <a:cs typeface="KoPubWorld돋움체_Pro Bold" panose="00000800000000000000" pitchFamily="50" charset="-127"/>
                  </a:rPr>
                  <a:t>기계영역 학습용 샘플데이터 변환 </a:t>
                </a:r>
                <a:r>
                  <a:rPr lang="en-US" altLang="ko-KR" sz="1000">
                    <a:solidFill>
                      <a:schemeClr val="bg1">
                        <a:lumMod val="50000"/>
                      </a:schemeClr>
                    </a:solidFill>
                    <a:latin typeface="KoPubWorld돋움체_Pro Bold" panose="00000800000000000000" pitchFamily="50" charset="-127"/>
                    <a:ea typeface="KoPubWorld돋움체_Pro Bold" panose="00000800000000000000" pitchFamily="50" charset="-127"/>
                    <a:cs typeface="KoPubWorld돋움체_Pro Bold" panose="00000800000000000000" pitchFamily="50" charset="-127"/>
                  </a:rPr>
                  <a:t>(</a:t>
                </a:r>
                <a:r>
                  <a:rPr lang="ko-KR" altLang="en-US" sz="1000">
                    <a:solidFill>
                      <a:schemeClr val="bg1">
                        <a:lumMod val="50000"/>
                      </a:schemeClr>
                    </a:solidFill>
                    <a:latin typeface="KoPubWorld돋움체_Pro Bold" panose="00000800000000000000" pitchFamily="50" charset="-127"/>
                    <a:ea typeface="KoPubWorld돋움체_Pro Bold" panose="00000800000000000000" pitchFamily="50" charset="-127"/>
                    <a:cs typeface="KoPubWorld돋움체_Pro Bold" panose="00000800000000000000" pitchFamily="50" charset="-127"/>
                  </a:rPr>
                  <a:t>크기 </a:t>
                </a:r>
                <a:r>
                  <a:rPr lang="en-US" altLang="ko-KR" sz="1000">
                    <a:solidFill>
                      <a:schemeClr val="bg1">
                        <a:lumMod val="50000"/>
                      </a:schemeClr>
                    </a:solidFill>
                    <a:latin typeface="KoPubWorld돋움체_Pro Bold" panose="00000800000000000000" pitchFamily="50" charset="-127"/>
                    <a:ea typeface="KoPubWorld돋움체_Pro Bold" panose="00000800000000000000" pitchFamily="50" charset="-127"/>
                    <a:cs typeface="KoPubWorld돋움체_Pro Bold" panose="00000800000000000000" pitchFamily="50" charset="-127"/>
                  </a:rPr>
                  <a:t>16 </a:t>
                </a:r>
                <a:r>
                  <a:rPr lang="ko-KR" altLang="en-US" sz="1000">
                    <a:solidFill>
                      <a:schemeClr val="bg1">
                        <a:lumMod val="50000"/>
                      </a:schemeClr>
                    </a:solidFill>
                    <a:latin typeface="KoPubWorld돋움체_Pro Bold" panose="00000800000000000000" pitchFamily="50" charset="-127"/>
                    <a:ea typeface="KoPubWorld돋움체_Pro Bold" panose="00000800000000000000" pitchFamily="50" charset="-127"/>
                    <a:cs typeface="KoPubWorld돋움체_Pro Bold" panose="00000800000000000000" pitchFamily="50" charset="-127"/>
                  </a:rPr>
                  <a:t>필드</a:t>
                </a:r>
                <a:r>
                  <a:rPr lang="en-US" altLang="ko-KR" sz="1000">
                    <a:solidFill>
                      <a:schemeClr val="bg1">
                        <a:lumMod val="50000"/>
                      </a:schemeClr>
                    </a:solidFill>
                    <a:latin typeface="KoPubWorld돋움체_Pro Bold" panose="00000800000000000000" pitchFamily="50" charset="-127"/>
                    <a:ea typeface="KoPubWorld돋움체_Pro Bold" panose="00000800000000000000" pitchFamily="50" charset="-127"/>
                    <a:cs typeface="KoPubWorld돋움체_Pro Bold" panose="00000800000000000000" pitchFamily="50" charset="-127"/>
                  </a:rPr>
                  <a:t>)</a:t>
                </a:r>
                <a:endParaRPr lang="ko-KR" altLang="en-US" sz="1000">
                  <a:solidFill>
                    <a:schemeClr val="bg1">
                      <a:lumMod val="50000"/>
                    </a:schemeClr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endParaRPr>
              </a:p>
              <a:p>
                <a:pPr fontAlgn="base">
                  <a:lnSpc>
                    <a:spcPct val="130000"/>
                  </a:lnSpc>
                </a:pPr>
                <a:r>
                  <a:rPr lang="ko-KR" altLang="en-US" sz="1000">
                    <a:solidFill>
                      <a:schemeClr val="bg1">
                        <a:lumMod val="50000"/>
                      </a:schemeClr>
                    </a:solidFill>
                    <a:latin typeface="KoPubWorld돋움체_Pro Bold" panose="00000800000000000000" pitchFamily="50" charset="-127"/>
                    <a:ea typeface="KoPubWorld돋움체_Pro Bold" panose="00000800000000000000" pitchFamily="50" charset="-127"/>
                    <a:cs typeface="KoPubWorld돋움체_Pro Bold" panose="00000800000000000000" pitchFamily="50" charset="-127"/>
                  </a:rPr>
                  <a:t>폴더</a:t>
                </a:r>
                <a:r>
                  <a:rPr lang="en-US" altLang="ko-KR" sz="1000">
                    <a:solidFill>
                      <a:schemeClr val="bg1">
                        <a:lumMod val="50000"/>
                      </a:schemeClr>
                    </a:solidFill>
                    <a:latin typeface="KoPubWorld돋움체_Pro Bold" panose="00000800000000000000" pitchFamily="50" charset="-127"/>
                    <a:ea typeface="KoPubWorld돋움체_Pro Bold" panose="00000800000000000000" pitchFamily="50" charset="-127"/>
                    <a:cs typeface="KoPubWorld돋움체_Pro Bold" panose="00000800000000000000" pitchFamily="50" charset="-127"/>
                  </a:rPr>
                  <a:t>[saved_models] : </a:t>
                </a:r>
                <a:r>
                  <a:rPr lang="ko-KR" altLang="en-US" sz="1000">
                    <a:solidFill>
                      <a:schemeClr val="bg1">
                        <a:lumMod val="50000"/>
                      </a:schemeClr>
                    </a:solidFill>
                    <a:latin typeface="KoPubWorld돋움체_Pro Bold" panose="00000800000000000000" pitchFamily="50" charset="-127"/>
                    <a:ea typeface="KoPubWorld돋움체_Pro Bold" panose="00000800000000000000" pitchFamily="50" charset="-127"/>
                    <a:cs typeface="KoPubWorld돋움체_Pro Bold" panose="00000800000000000000" pitchFamily="50" charset="-127"/>
                  </a:rPr>
                  <a:t>최종 </a:t>
                </a:r>
                <a:r>
                  <a:rPr lang="en-US" altLang="ko-KR" sz="1000">
                    <a:solidFill>
                      <a:schemeClr val="bg1">
                        <a:lumMod val="50000"/>
                      </a:schemeClr>
                    </a:solidFill>
                    <a:latin typeface="KoPubWorld돋움체_Pro Bold" panose="00000800000000000000" pitchFamily="50" charset="-127"/>
                    <a:ea typeface="KoPubWorld돋움체_Pro Bold" panose="00000800000000000000" pitchFamily="50" charset="-127"/>
                    <a:cs typeface="KoPubWorld돋움체_Pro Bold" panose="00000800000000000000" pitchFamily="50" charset="-127"/>
                  </a:rPr>
                  <a:t>autoencoder </a:t>
                </a:r>
                <a:r>
                  <a:rPr lang="ko-KR" altLang="en-US" sz="1000">
                    <a:solidFill>
                      <a:schemeClr val="bg1">
                        <a:lumMod val="50000"/>
                      </a:schemeClr>
                    </a:solidFill>
                    <a:latin typeface="KoPubWorld돋움체_Pro Bold" panose="00000800000000000000" pitchFamily="50" charset="-127"/>
                    <a:ea typeface="KoPubWorld돋움체_Pro Bold" panose="00000800000000000000" pitchFamily="50" charset="-127"/>
                    <a:cs typeface="KoPubWorld돋움체_Pro Bold" panose="00000800000000000000" pitchFamily="50" charset="-127"/>
                  </a:rPr>
                  <a:t>분석 모델</a:t>
                </a:r>
                <a:endParaRPr lang="en-US" altLang="ko-KR" sz="1000">
                  <a:solidFill>
                    <a:schemeClr val="bg1">
                      <a:lumMod val="50000"/>
                    </a:schemeClr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endParaRPr>
              </a:p>
            </p:txBody>
          </p:sp>
          <p:sp>
            <p:nvSpPr>
              <p:cNvPr id="3" name="화살표: 아래쪽 2">
                <a:extLst>
                  <a:ext uri="{FF2B5EF4-FFF2-40B4-BE49-F238E27FC236}">
                    <a16:creationId xmlns:a16="http://schemas.microsoft.com/office/drawing/2014/main" id="{39485582-A141-4DB4-AB21-725FB8E5AB22}"/>
                  </a:ext>
                </a:extLst>
              </p:cNvPr>
              <p:cNvSpPr/>
              <p:nvPr/>
            </p:nvSpPr>
            <p:spPr>
              <a:xfrm>
                <a:off x="8721969" y="2821417"/>
                <a:ext cx="79130" cy="1220034"/>
              </a:xfrm>
              <a:prstGeom prst="downArrow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9188A42-DB20-4292-8D66-824AED9AABB7}"/>
                </a:ext>
              </a:extLst>
            </p:cNvPr>
            <p:cNvSpPr txBox="1"/>
            <p:nvPr/>
          </p:nvSpPr>
          <p:spPr>
            <a:xfrm>
              <a:off x="5173777" y="2673435"/>
              <a:ext cx="104227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순서대로 실행함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144536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FA066E1-204B-42C0-BA6C-F470BEB5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Page </a:t>
            </a:r>
            <a:fld id="{F03C90E3-98FA-4A46-95E3-0DCDD3916FEC}" type="slidenum">
              <a:rPr lang="ko-KR" altLang="en-US" smtClean="0"/>
              <a:pPr/>
              <a:t>33</a:t>
            </a:fld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4C7F390-4766-4E5C-A950-C29ADA6B185D}"/>
              </a:ext>
            </a:extLst>
          </p:cNvPr>
          <p:cNvSpPr/>
          <p:nvPr/>
        </p:nvSpPr>
        <p:spPr>
          <a:xfrm>
            <a:off x="1074537" y="709301"/>
            <a:ext cx="6769277" cy="20790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30000"/>
              </a:lnSpc>
            </a:pPr>
            <a:r>
              <a:rPr lang="en-US" altLang="ko-KR" sz="1600">
                <a:solidFill>
                  <a:srgbClr val="0070C0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AutoEncoder </a:t>
            </a:r>
            <a:r>
              <a:rPr lang="ko-KR" altLang="en-US" sz="1600">
                <a:solidFill>
                  <a:srgbClr val="0070C0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딥러닝 분석하기</a:t>
            </a:r>
            <a:endParaRPr lang="en-US" altLang="ko-KR" sz="1600">
              <a:solidFill>
                <a:srgbClr val="0070C0"/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  <a:p>
            <a:pPr fontAlgn="base">
              <a:lnSpc>
                <a:spcPct val="130000"/>
              </a:lnSpc>
            </a:pPr>
            <a:endParaRPr lang="en-US" altLang="ko-KR" sz="1200">
              <a:solidFill>
                <a:schemeClr val="bg1">
                  <a:lumMod val="50000"/>
                </a:schemeClr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  <a:p>
            <a:pPr fontAlgn="base">
              <a:lnSpc>
                <a:spcPct val="130000"/>
              </a:lnSpc>
            </a:pPr>
            <a:endParaRPr lang="en-US" altLang="ko-KR" sz="1200">
              <a:solidFill>
                <a:schemeClr val="bg1">
                  <a:lumMod val="50000"/>
                </a:schemeClr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  <a:p>
            <a:pPr fontAlgn="base">
              <a:lnSpc>
                <a:spcPct val="130000"/>
              </a:lnSpc>
            </a:pPr>
            <a:endParaRPr lang="en-US" altLang="ko-KR" sz="1200">
              <a:solidFill>
                <a:schemeClr val="bg1">
                  <a:lumMod val="50000"/>
                </a:schemeClr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⊙ run_all.bat </a:t>
            </a:r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실행</a:t>
            </a: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        : autoencoder-6.py</a:t>
            </a: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        : autoencoder </a:t>
            </a:r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딥러닝 분석 프로그램</a:t>
            </a:r>
            <a:endParaRPr lang="en-US" altLang="ko-KR" sz="1200">
              <a:solidFill>
                <a:schemeClr val="bg1">
                  <a:lumMod val="50000"/>
                </a:schemeClr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        </a:t>
            </a:r>
          </a:p>
        </p:txBody>
      </p:sp>
      <p:sp>
        <p:nvSpPr>
          <p:cNvPr id="40" name="슬라이드 번호 개체 틀 9">
            <a:extLst>
              <a:ext uri="{FF2B5EF4-FFF2-40B4-BE49-F238E27FC236}">
                <a16:creationId xmlns:a16="http://schemas.microsoft.com/office/drawing/2014/main" id="{4E762CBC-F01B-4495-8D2E-234576288CF3}"/>
              </a:ext>
            </a:extLst>
          </p:cNvPr>
          <p:cNvSpPr txBox="1">
            <a:spLocks/>
          </p:cNvSpPr>
          <p:nvPr/>
        </p:nvSpPr>
        <p:spPr>
          <a:xfrm>
            <a:off x="8335472" y="6560598"/>
            <a:ext cx="810910" cy="2316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675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PAGE</a:t>
            </a:r>
            <a:fld id="{F2C57867-4DD3-42C3-B33F-35CD9A0E77A0}" type="slidenum">
              <a:rPr lang="ko-KR" altLang="en-US" smtClean="0"/>
              <a:pPr/>
              <a:t>33</a:t>
            </a:fld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8D98DA6-B30E-4D1A-A420-D10A99A35C4F}"/>
              </a:ext>
            </a:extLst>
          </p:cNvPr>
          <p:cNvSpPr/>
          <p:nvPr/>
        </p:nvSpPr>
        <p:spPr>
          <a:xfrm>
            <a:off x="2618221" y="2738010"/>
            <a:ext cx="1447938" cy="31854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fontAlgn="base">
              <a:lnSpc>
                <a:spcPct val="130000"/>
              </a:lnSpc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autoencoder-6.py 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80241EB-1DEC-4848-821E-44C300302881}"/>
              </a:ext>
            </a:extLst>
          </p:cNvPr>
          <p:cNvSpPr/>
          <p:nvPr/>
        </p:nvSpPr>
        <p:spPr>
          <a:xfrm>
            <a:off x="1657254" y="2791080"/>
            <a:ext cx="790216" cy="276999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[step_3] </a:t>
            </a:r>
            <a:endParaRPr lang="ko-KR" altLang="en-US" sz="120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C29CE76-74EA-4225-9103-5FBFA13D06D6}"/>
              </a:ext>
            </a:extLst>
          </p:cNvPr>
          <p:cNvSpPr/>
          <p:nvPr/>
        </p:nvSpPr>
        <p:spPr>
          <a:xfrm>
            <a:off x="4318398" y="3056559"/>
            <a:ext cx="1856598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autoencoder_final.pth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scaler.pkl</a:t>
            </a:r>
            <a:endParaRPr lang="ko-KR" altLang="en-US" sz="120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143C621-835F-4322-AEF1-2FF7D4B3C840}"/>
              </a:ext>
            </a:extLst>
          </p:cNvPr>
          <p:cNvSpPr/>
          <p:nvPr/>
        </p:nvSpPr>
        <p:spPr>
          <a:xfrm>
            <a:off x="4068046" y="2796494"/>
            <a:ext cx="367408" cy="276999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⇒ </a:t>
            </a:r>
            <a:endParaRPr lang="ko-KR" altLang="en-US" sz="120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91A388D-EF21-4294-AAF6-721BAF2D6E5C}"/>
              </a:ext>
            </a:extLst>
          </p:cNvPr>
          <p:cNvSpPr/>
          <p:nvPr/>
        </p:nvSpPr>
        <p:spPr>
          <a:xfrm>
            <a:off x="2277994" y="2798691"/>
            <a:ext cx="367408" cy="276999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⇒ </a:t>
            </a:r>
            <a:endParaRPr lang="ko-KR" altLang="en-US" sz="120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66A513D-7A8D-4664-B039-A33302BDB608}"/>
              </a:ext>
            </a:extLst>
          </p:cNvPr>
          <p:cNvSpPr/>
          <p:nvPr/>
        </p:nvSpPr>
        <p:spPr>
          <a:xfrm>
            <a:off x="4300273" y="2791080"/>
            <a:ext cx="127156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[saved_models]</a:t>
            </a:r>
            <a:endParaRPr lang="ko-KR" altLang="en-US" sz="12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BAB474-F1F3-4C5A-83E8-747EA36A5D3D}"/>
              </a:ext>
            </a:extLst>
          </p:cNvPr>
          <p:cNvSpPr txBox="1"/>
          <p:nvPr/>
        </p:nvSpPr>
        <p:spPr>
          <a:xfrm>
            <a:off x="1301453" y="4577556"/>
            <a:ext cx="147637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설비 가동 벡터 추출 </a:t>
            </a:r>
            <a:endParaRPr lang="en-US" altLang="ko-KR" sz="1200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1" name="화살표: 아래쪽 20">
            <a:extLst>
              <a:ext uri="{FF2B5EF4-FFF2-40B4-BE49-F238E27FC236}">
                <a16:creationId xmlns:a16="http://schemas.microsoft.com/office/drawing/2014/main" id="{DA79391A-FD18-413F-A06F-8BAE1ACD9725}"/>
              </a:ext>
            </a:extLst>
          </p:cNvPr>
          <p:cNvSpPr/>
          <p:nvPr/>
        </p:nvSpPr>
        <p:spPr>
          <a:xfrm rot="16200000">
            <a:off x="2644641" y="4574153"/>
            <a:ext cx="389467" cy="228600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9167721B-F822-4340-A2C4-4FEDF3F4E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675" y="4018085"/>
            <a:ext cx="2618165" cy="1470571"/>
          </a:xfrm>
          <a:prstGeom prst="rect">
            <a:avLst/>
          </a:prstGeom>
        </p:spPr>
      </p:pic>
      <p:sp>
        <p:nvSpPr>
          <p:cNvPr id="23" name="화살표: 아래쪽 22">
            <a:extLst>
              <a:ext uri="{FF2B5EF4-FFF2-40B4-BE49-F238E27FC236}">
                <a16:creationId xmlns:a16="http://schemas.microsoft.com/office/drawing/2014/main" id="{1534980F-0B85-46CF-9107-974C90768025}"/>
              </a:ext>
            </a:extLst>
          </p:cNvPr>
          <p:cNvSpPr/>
          <p:nvPr/>
        </p:nvSpPr>
        <p:spPr>
          <a:xfrm rot="16200000">
            <a:off x="5605708" y="4529417"/>
            <a:ext cx="389467" cy="228600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95BBBA-F5B2-4A4C-9D7C-82E363BC2782}"/>
              </a:ext>
            </a:extLst>
          </p:cNvPr>
          <p:cNvSpPr txBox="1"/>
          <p:nvPr/>
        </p:nvSpPr>
        <p:spPr>
          <a:xfrm>
            <a:off x="3451842" y="5473327"/>
            <a:ext cx="1621829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오토인코더 </a:t>
            </a:r>
            <a:endParaRPr lang="en-US" altLang="ko-KR" sz="1400" b="1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D843AE32-81EE-4369-8A38-27999559B1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043" y="3899325"/>
            <a:ext cx="2182226" cy="1731003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182CB1C-DF04-4C0F-BF20-824881772929}"/>
              </a:ext>
            </a:extLst>
          </p:cNvPr>
          <p:cNvSpPr/>
          <p:nvPr/>
        </p:nvSpPr>
        <p:spPr>
          <a:xfrm>
            <a:off x="2579054" y="2738010"/>
            <a:ext cx="1476374" cy="389468"/>
          </a:xfrm>
          <a:prstGeom prst="round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0991B01-72C0-43A1-9499-1BD506152C93}"/>
              </a:ext>
            </a:extLst>
          </p:cNvPr>
          <p:cNvSpPr/>
          <p:nvPr/>
        </p:nvSpPr>
        <p:spPr>
          <a:xfrm>
            <a:off x="2461698" y="1369344"/>
            <a:ext cx="50207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solidFill>
                  <a:schemeClr val="bg1">
                    <a:lumMod val="50000"/>
                  </a:schemeClr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[step_0] → [step_1] → [step_2] → [step_3] → [autoencoder] 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344525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194620</TotalTime>
  <Words>3547</Words>
  <Application>Microsoft Office PowerPoint</Application>
  <PresentationFormat>화면 슬라이드 쇼(4:3)</PresentationFormat>
  <Paragraphs>626</Paragraphs>
  <Slides>33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45" baseType="lpstr">
      <vt:lpstr>Anthropic Sans</vt:lpstr>
      <vt:lpstr>KoPubWorld돋움체 Bold</vt:lpstr>
      <vt:lpstr>KoPubWorld돋움체 Medium</vt:lpstr>
      <vt:lpstr>KoPubWorld돋움체_Pro Bold</vt:lpstr>
      <vt:lpstr>KoPubWorld돋움체_Pro Light</vt:lpstr>
      <vt:lpstr>KoPubWorld바탕체_Pro Bold</vt:lpstr>
      <vt:lpstr>KoPub돋움체 Medium</vt:lpstr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Foryoucom</dc:creator>
  <cp:lastModifiedBy>sangchu</cp:lastModifiedBy>
  <cp:revision>838</cp:revision>
  <cp:lastPrinted>2024-06-18T23:36:47Z</cp:lastPrinted>
  <dcterms:created xsi:type="dcterms:W3CDTF">2024-05-16T04:28:35Z</dcterms:created>
  <dcterms:modified xsi:type="dcterms:W3CDTF">2026-08-06T23:11:33Z</dcterms:modified>
</cp:coreProperties>
</file>